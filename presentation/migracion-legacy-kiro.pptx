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646c7b18-8636-70a0-d70b-b5f0aa23b876}">
          <p14:sldIdLst>
            <p14:sldId id="256"/>
            <p14:sldId id="257"/>
          </p14:sldIdLst>
        </p14:section>
        <p14:section name="Problema" id="{ec6cea7f-702d-55b3-26c9-b43e65149759}">
          <p14:sldIdLst>
            <p14:sldId id="258"/>
            <p14:sldId id="259"/>
            <p14:sldId id="260"/>
          </p14:sldIdLst>
        </p14:section>
        <p14:section name="Antes de la IA" id="{8cb9c1d0-c90e-5853-c390-bd273854f9f6}">
          <p14:sldIdLst>
            <p14:sldId id="261"/>
            <p14:sldId id="262"/>
          </p14:sldIdLst>
        </p14:section>
        <p14:section name="Solución" id="{8e6107c1-e907-3a3d-42e2-f782ed42defd}">
          <p14:sldIdLst>
            <p14:sldId id="263"/>
            <p14:sldId id="264"/>
            <p14:sldId id="265"/>
            <p14:sldId id="266"/>
            <p14:sldId id="267"/>
          </p14:sldIdLst>
        </p14:section>
        <p14:section name="Taller y cierre" id="{ea24708e-a2d9-9e08-c5d8-bcd8f0dd45f6}">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Costo de mantenibilidad</c:v>
                </c:pt>
              </c:strCache>
            </c:strRef>
          </c:tx>
          <c:spPr>
            <a:solidFill>
              <a:srgbClr val="DA0081"/>
            </a:solidFill>
            <a:ln w="50800" cap="flat">
              <a:solidFill>
                <a:srgbClr val="DA008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A0081"/>
              </a:solidFill>
              <a:ln w="9525" cap="flat">
                <a:solidFill>
                  <a:srgbClr val="DA0081"/>
                </a:solidFill>
                <a:prstDash val="solid"/>
                <a:round/>
              </a:ln>
              <a:effectLst/>
            </c:spPr>
          </c:marker>
          <c:cat>
            <c:multiLvlStrRef>
              <c:f>Sheet1!$A$2:$A$7</c:f>
              <c:multiLvlStrCache>
                <c:ptCount val="6"/>
                <c:lvl>
                  <c:pt idx="0">
                    <c:v>t1</c:v>
                  </c:pt>
                  <c:pt idx="1">
                    <c:v>t2</c:v>
                  </c:pt>
                  <c:pt idx="2">
                    <c:v>t3</c:v>
                  </c:pt>
                  <c:pt idx="3">
                    <c:v>t4</c:v>
                  </c:pt>
                  <c:pt idx="4">
                    <c:v>t5</c:v>
                  </c:pt>
                  <c:pt idx="5">
                    <c:v>t6</c:v>
                  </c:pt>
                </c:lvl>
              </c:multiLvlStrCache>
            </c:multiLvlStrRef>
          </c:cat>
          <c:val>
            <c:numRef>
              <c:f>Sheet1!$B$2:$B$7</c:f>
              <c:numCache>
                <c:formatCode>General</c:formatCode>
                <c:ptCount val="6"/>
                <c:pt idx="0">
                  <c:v>1.2</c:v>
                </c:pt>
                <c:pt idx="1">
                  <c:v>1.5</c:v>
                </c:pt>
                <c:pt idx="2">
                  <c:v>2.2</c:v>
                </c:pt>
                <c:pt idx="3">
                  <c:v>3.4</c:v>
                </c:pt>
                <c:pt idx="4">
                  <c:v>5.1</c:v>
                </c:pt>
                <c:pt idx="5">
                  <c:v>7.6</c:v>
                </c:pt>
              </c:numCache>
            </c:numRef>
          </c:val>
          <c:smooth val="1"/>
        </c:ser>
        <c:ser>
          <c:idx val="1"/>
          <c:order val="1"/>
          <c:tx>
            <c:strRef>
              <c:f>Sheet1!$C$1</c:f>
              <c:strCache>
                <c:ptCount val="1"/>
                <c:pt idx="0">
                  <c:v>Time to market</c:v>
                </c:pt>
              </c:strCache>
            </c:strRef>
          </c:tx>
          <c:spPr>
            <a:solidFill>
              <a:srgbClr val="200020"/>
            </a:solidFill>
            <a:ln w="50800" cap="flat">
              <a:solidFill>
                <a:srgbClr val="20002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00020"/>
              </a:solidFill>
              <a:ln w="9525" cap="flat">
                <a:solidFill>
                  <a:srgbClr val="200020"/>
                </a:solidFill>
                <a:prstDash val="solid"/>
                <a:round/>
              </a:ln>
              <a:effectLst/>
            </c:spPr>
          </c:marker>
          <c:cat>
            <c:multiLvlStrRef>
              <c:f>Sheet1!$A$2:$A$7</c:f>
              <c:multiLvlStrCache>
                <c:ptCount val="6"/>
                <c:lvl>
                  <c:pt idx="0">
                    <c:v>t1</c:v>
                  </c:pt>
                  <c:pt idx="1">
                    <c:v>t2</c:v>
                  </c:pt>
                  <c:pt idx="2">
                    <c:v>t3</c:v>
                  </c:pt>
                  <c:pt idx="3">
                    <c:v>t4</c:v>
                  </c:pt>
                  <c:pt idx="4">
                    <c:v>t5</c:v>
                  </c:pt>
                  <c:pt idx="5">
                    <c:v>t6</c:v>
                  </c:pt>
                </c:lvl>
              </c:multiLvlStrCache>
            </c:multiLvlStrRef>
          </c:cat>
          <c:val>
            <c:numRef>
              <c:f>Sheet1!$C$2:$C$7</c:f>
              <c:numCache>
                <c:formatCode>General</c:formatCode>
                <c:ptCount val="6"/>
                <c:pt idx="0">
                  <c:v>7.6</c:v>
                </c:pt>
                <c:pt idx="1">
                  <c:v>7.3</c:v>
                </c:pt>
                <c:pt idx="2">
                  <c:v>6.4</c:v>
                </c:pt>
                <c:pt idx="3">
                  <c:v>5</c:v>
                </c:pt>
                <c:pt idx="4">
                  <c:v>3.6</c:v>
                </c:pt>
                <c:pt idx="5">
                  <c:v>2.4</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200020"/>
              </a:solidFill>
              <a:latin typeface="Manrope"/>
              <a:cs typeface="Manrope"/>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Osmond Pomare y Cristhian Castillo, Lead Platform Engineers en Nequi. Taller de migración de servicios legacy usando agentes Kiro de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contexto, motivación, la pregunta central, cómo migrábamos antes, la solución con Kiro, el taller práctico y el trabajo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Nequi nació de una idea y evolucionó a un Neobanco; la mantenibilidad del código legacy es inevitable. Al experimentar no se priorizaron prácticas de mantenibilidad a largo plazo: hay tecnologías sin soporte y versionado extraño, por ejemplo un proyecto con varias versiones de la misma funcionalidad separadas por ramas.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costos de mantenibilidad aumentan: es difícil encontrar developers con experiencia en tecnologías legacy y, al perder soporte, cerrar vulnerabilidades obliga a reemplazar dependencias. El time to market disminuye porque cada cambio exige validar que el resto no se impacte. Con más developers sobre los mismos componentes aumentan los conflictos, y los frameworks nuevos de resiliencia, escalabilidad y elasticidad no soportan el stack 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pregunta central: ¿qué hacemos con el legado y cómo lo migramos?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Hace un par de años, sin IA, ya migrábamos bajo demanda según prioridad y necesidad del negocio: primero servicios críticos por disponibilidad o temas regulatorios, o por evolución negociando con producto una fase de migración, producción y estabilización antes de acelerar. Técnicamente: revisar un framework como Spring, hacer pruebas de concepto y decidir; actualización del stack incluyendo QA, pruebas de integración y DevOps. Desde el developer: divide y vencerás.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Proceso del developer: revisar y entender el código legado, crear el proyecto destino y migrar primero los objetos de datos, luego integraciones con terceros (bases de datos y APIs), la lógica de negocio y cuidar la mensajería. Después, ambientes de prueba y producción con canary deployment: 10% del tráfico por el servicio migrado y 90% por el camino antiguo.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Generación de valor: los developers ejecutan J.A.R.V.I.S, que aprovisiona GitHub y Azure Pipelines. Desde GitHub se crean los repositorios de IaC (Terraform), microservicio (Spring Boot), pruebas (Karate) y performance (k6). El recuadro de Generación de Valor muestra al AI Agent ToolKit: 1) entender el legado (WAS Repo, Java EE), 2) migrar funcionalidades al MS Repository y 3) generar documentación (OpenAPI / AsyncAPI). Los developers escriben IaC, QC/Developers escriben pruebas y el despliegue va a ECS en la cuenta de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vez de delegar un prompt como 'migra el componente X', describimos el proceso que un developer implementaba, para que con Skills, Prompts y MCPs se automatice siguiendo una secuencia de pasos cuidadosamente diseñados y en el orden correcto. Buscamos un resultado con alta probabilidad de éxito, no una apuesta.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Kiro es una herramienta agéntica que permite realizar esta configuración de forma rápida, sencilla y, sobre todo, clara para el developer. Recibe el código legacy, el proceso descrito en Skills y Prompts, y los MCPs, y ejecuta la secuencia de pasos en orden. Nota: el orden de los pasos es ilustrativo, ajustar al flujo real del repositorio.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Componentes del ToolKit: los developers usan en local herramientas agénticas (Kiro, Claude, AWS Transform), con modelos de distintos proveedores (OpenAI, DeepSeek, Anthropic Claude, Amazon Bedrock). El AI Agent ToolKit se compone de Prompts, Skills, Steerings y MCPs. 1) Los Prompts describen el proceso, 2) los Skills invocan el paso a paso, 3) el flujo recorre el Migration Process: obtener contexto del proyecto, validar el proyecto destino, migrar DTOs, entidades de BD, lógica de negocio, generar entry-points, configuración transversal (logs, health checks), pruebas unitarias y documentación; 4) los Steerings se usan como guía. Los MCPs conectan con Azure DevOps y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Claves: automatizar un proceso y no apostar. La generación de proyectos se puede automatizar sin IA, garantizando un resultado exacto. Los módulos y piezas de código ya estandarizados (replicados 20 veces en muchos proyectos) se le indican a la IA en lugar de dejar que lo haga diferente. La generación de contexto es clave: lo que un equipo adquiere con el tiempo se genera con agentes y Skills, con estructura preestablecida y en función de la migración.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Taller: 1) Instalen Kiro. 2) Activen la licencia. 3) Descarguen el repositorio. 4) Ejecuten los pasos indicados. 5) Evidencien el resultado en sus 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Trabajo futuro: 1) cómo centralizar el agente para que lo usen distintos equipos; 2) cómo almacenar el contexto que hoy se acumula en la máquina de cada developer; 3) Kiro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y espacio de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Q_LIGHT">
    <p:bg>
      <p:bgPr>
        <a:solidFill>
          <a:srgbClr val="ECE7F5"/>
        </a:solidFill>
      </p:bgPr>
    </p:bg>
    <p:spTree>
      <p:nvGrpSpPr>
        <p:cNvPr id="1" name=""/>
        <p:cNvGrpSpPr/>
        <p:nvPr/>
      </p:nvGrpSpPr>
      <p:grpSpPr>
        <a:xfrm>
          <a:off x="0" y="0"/>
          <a:ext cx="0" cy="0"/>
          <a:chOff x="0" y="0"/>
          <a:chExt cx="0" cy="0"/>
        </a:xfrm>
      </p:grpSpPr>
      <p:pic>
        <p:nvPicPr>
          <p:cNvPr id="2" name="Image 0" descr="/root/.claude/skills/synced/76daff7b-2852-4bf5-abbb-0d9c93f45fa5_597a03ac-e39d-4fd3-bda0-a661187d730b/nequi-brand/assets/logo.png">    </p:cNvPr>
          <p:cNvPicPr>
            <a:picLocks noChangeAspect="1"/>
          </p:cNvPicPr>
          <p:nvPr/>
        </p:nvPicPr>
        <p:blipFill>
          <a:blip r:embed="rId1"/>
          <a:stretch>
            <a:fillRect/>
          </a:stretch>
        </p:blipFill>
        <p:spPr>
          <a:xfrm>
            <a:off x="10512578" y="533400"/>
            <a:ext cx="917422" cy="323850"/>
          </a:xfrm>
          <a:prstGeom prst="rect">
            <a:avLst/>
          </a:prstGeom>
        </p:spPr>
      </p:pic>
      <p:sp>
        <p:nvSpPr>
          <p:cNvPr id="3" name="Text 0"/>
          <p:cNvSpPr/>
          <p:nvPr/>
        </p:nvSpPr>
        <p:spPr>
          <a:xfrm>
            <a:off x="762000" y="6477000"/>
            <a:ext cx="4762500" cy="190500"/>
          </a:xfrm>
          <a:prstGeom prst="rect">
            <a:avLst/>
          </a:prstGeom>
          <a:noFill/>
          <a:ln/>
        </p:spPr>
        <p:txBody>
          <a:bodyPr wrap="square" lIns="0" tIns="0" rIns="0" bIns="0" rtlCol="0" anchor="ctr"/>
          <a:lstStyle/>
          <a:p>
            <a:pPr indent="0" marL="0">
              <a:buNone/>
            </a:pPr>
            <a:r>
              <a:rPr lang="en-US" sz="1000" dirty="0">
                <a:solidFill>
                  <a:srgbClr val="5A4A6A"/>
                </a:solidFill>
                <a:latin typeface="Manrope" pitchFamily="34" charset="0"/>
                <a:ea typeface="Manrope" pitchFamily="34" charset="-122"/>
                <a:cs typeface="Manrope" pitchFamily="34" charset="-120"/>
              </a:rPr>
              <a:t>Migración legacy con Kiro · Nequi</a:t>
            </a:r>
            <a:endParaRPr lang="en-US" sz="1000" dirty="0"/>
          </a:p>
        </p:txBody>
      </p:sp>
      <p:sp>
        <p:nvSpPr>
          <p:cNvPr id="4" name="Text 1"/>
          <p:cNvSpPr/>
          <p:nvPr/>
        </p:nvSpPr>
        <p:spPr>
          <a:xfrm>
            <a:off x="10096500" y="6477000"/>
            <a:ext cx="1333500" cy="190500"/>
          </a:xfrm>
          <a:prstGeom prst="rect">
            <a:avLst/>
          </a:prstGeom>
          <a:noFill/>
          <a:ln/>
        </p:spPr>
        <p:txBody>
          <a:bodyPr wrap="square" lIns="0" tIns="0" rIns="0" bIns="0" rtlCol="0" anchor="ctr"/>
          <a:lstStyle/>
          <a:p>
            <a:pPr algn="r" indent="0" marL="0">
              <a:buNone/>
            </a:pPr>
            <a:r>
              <a:rPr lang="en-US" sz="1000" dirty="0">
                <a:solidFill>
                  <a:srgbClr val="DA0081"/>
                </a:solidFill>
                <a:latin typeface="Manrope" pitchFamily="34" charset="0"/>
                <a:ea typeface="Manrope" pitchFamily="34" charset="-122"/>
                <a:cs typeface="Manrope" pitchFamily="34" charset="-120"/>
              </a:rPr>
              <a:t>#ATuRitmo</a:t>
            </a:r>
            <a:endParaRPr lang="en-US" sz="1000" dirty="0"/>
          </a:p>
        </p:txBody>
      </p:sp>
      <p:sp>
        <p:nvSpPr>
          <p:cNvPr id="25" name="Slide Number Placeholder 0"/>
          <p:cNvSpPr>
            <a:spLocks noGrp="1"/>
          </p:cNvSpPr>
          <p:nvPr>
            <p:ph type="sldNum" sz="quarter" idx="4294967295"/>
          </p:nvPr>
        </p:nvSpPr>
        <p:spPr>
          <a:xfrm>
            <a:off x="9525000" y="6477000"/>
            <a:ext cx="47625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5A4A6A"/>
                </a:solidFill>
                <a:latin typeface="Manrope"/>
                <a:ea typeface="Manrope"/>
                <a:cs typeface="Manrope"/>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Q_DARK">
    <p:bg>
      <p:bgPr>
        <a:solidFill>
          <a:srgbClr val="200020"/>
        </a:solidFill>
      </p:bgPr>
    </p:bg>
    <p:spTree>
      <p:nvGrpSpPr>
        <p:cNvPr id="1" name=""/>
        <p:cNvGrpSpPr/>
        <p:nvPr/>
      </p:nvGrpSpPr>
      <p:grpSpPr>
        <a:xfrm>
          <a:off x="0" y="0"/>
          <a:ext cx="0" cy="0"/>
          <a:chOff x="0" y="0"/>
          <a:chExt cx="0" cy="0"/>
        </a:xfrm>
      </p:grpSpPr>
      <p:pic>
        <p:nvPicPr>
          <p:cNvPr id="2" name="Image 0" descr="/root/.claude/skills/synced/76daff7b-2852-4bf5-abbb-0d9c93f45fa5_597a03ac-e39d-4fd3-bda0-a661187d730b/nequi-brand/assets/logo-guanabana.png">    </p:cNvPr>
          <p:cNvPicPr>
            <a:picLocks noChangeAspect="1"/>
          </p:cNvPicPr>
          <p:nvPr/>
        </p:nvPicPr>
        <p:blipFill>
          <a:blip r:embed="rId1"/>
          <a:stretch>
            <a:fillRect/>
          </a:stretch>
        </p:blipFill>
        <p:spPr>
          <a:xfrm>
            <a:off x="10512578" y="533400"/>
            <a:ext cx="917422" cy="323850"/>
          </a:xfrm>
          <a:prstGeom prst="rect">
            <a:avLst/>
          </a:prstGeom>
        </p:spPr>
      </p:pic>
      <p:sp>
        <p:nvSpPr>
          <p:cNvPr id="3" name="Text 0"/>
          <p:cNvSpPr/>
          <p:nvPr/>
        </p:nvSpPr>
        <p:spPr>
          <a:xfrm>
            <a:off x="762000" y="6477000"/>
            <a:ext cx="4762500" cy="190500"/>
          </a:xfrm>
          <a:prstGeom prst="rect">
            <a:avLst/>
          </a:prstGeom>
          <a:noFill/>
          <a:ln/>
        </p:spPr>
        <p:txBody>
          <a:bodyPr wrap="square" lIns="0" tIns="0" rIns="0" bIns="0" rtlCol="0" anchor="ctr"/>
          <a:lstStyle/>
          <a:p>
            <a:pPr indent="0" marL="0">
              <a:buNone/>
            </a:pPr>
            <a:r>
              <a:rPr lang="en-US" sz="1000" dirty="0">
                <a:solidFill>
                  <a:srgbClr val="9A889A"/>
                </a:solidFill>
                <a:latin typeface="Manrope" pitchFamily="34" charset="0"/>
                <a:ea typeface="Manrope" pitchFamily="34" charset="-122"/>
                <a:cs typeface="Manrope" pitchFamily="34" charset="-120"/>
              </a:rPr>
              <a:t>Migración legacy con Kiro · Nequi</a:t>
            </a:r>
            <a:endParaRPr lang="en-US" sz="1000" dirty="0"/>
          </a:p>
        </p:txBody>
      </p:sp>
      <p:sp>
        <p:nvSpPr>
          <p:cNvPr id="4" name="Text 1"/>
          <p:cNvSpPr/>
          <p:nvPr/>
        </p:nvSpPr>
        <p:spPr>
          <a:xfrm>
            <a:off x="10096500" y="6477000"/>
            <a:ext cx="1333500" cy="190500"/>
          </a:xfrm>
          <a:prstGeom prst="rect">
            <a:avLst/>
          </a:prstGeom>
          <a:noFill/>
          <a:ln/>
        </p:spPr>
        <p:txBody>
          <a:bodyPr wrap="square" lIns="0" tIns="0" rIns="0" bIns="0" rtlCol="0" anchor="ctr"/>
          <a:lstStyle/>
          <a:p>
            <a:pPr algn="r" indent="0" marL="0">
              <a:buNone/>
            </a:pPr>
            <a:r>
              <a:rPr lang="en-US" sz="1000" dirty="0">
                <a:solidFill>
                  <a:srgbClr val="DA0081"/>
                </a:solidFill>
                <a:latin typeface="Manrope" pitchFamily="34" charset="0"/>
                <a:ea typeface="Manrope" pitchFamily="34" charset="-122"/>
                <a:cs typeface="Manrope" pitchFamily="34" charset="-120"/>
              </a:rPr>
              <a:t>#ATuRitmo</a:t>
            </a:r>
            <a:endParaRPr lang="en-US" sz="1000" dirty="0"/>
          </a:p>
        </p:txBody>
      </p:sp>
      <p:sp>
        <p:nvSpPr>
          <p:cNvPr id="25" name="Slide Number Placeholder 0"/>
          <p:cNvSpPr>
            <a:spLocks noGrp="1"/>
          </p:cNvSpPr>
          <p:nvPr>
            <p:ph type="sldNum" sz="quarter" idx="4294967295"/>
          </p:nvPr>
        </p:nvSpPr>
        <p:spPr>
          <a:xfrm>
            <a:off x="9525000" y="6477000"/>
            <a:ext cx="47625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9A889A"/>
                </a:solidFill>
                <a:latin typeface="Manrope"/>
                <a:ea typeface="Manrope"/>
                <a:cs typeface="Manrope"/>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Q_PINK">
    <p:bg>
      <p:bgPr>
        <a:solidFill>
          <a:srgbClr val="DA0081"/>
        </a:solidFill>
      </p:bgPr>
    </p:bg>
    <p:spTree>
      <p:nvGrpSpPr>
        <p:cNvPr id="1" name=""/>
        <p:cNvGrpSpPr/>
        <p:nvPr/>
      </p:nvGrpSpPr>
      <p:grpSpPr>
        <a:xfrm>
          <a:off x="0" y="0"/>
          <a:ext cx="0" cy="0"/>
          <a:chOff x="0" y="0"/>
          <a:chExt cx="0" cy="0"/>
        </a:xfrm>
      </p:grpSpPr>
      <p:pic>
        <p:nvPicPr>
          <p:cNvPr id="2" name="Image 0" descr="/root/.claude/skills/synced/76daff7b-2852-4bf5-abbb-0d9c93f45fa5_597a03ac-e39d-4fd3-bda0-a661187d730b/nequi-brand/assets/logo-guanabana.png">    </p:cNvPr>
          <p:cNvPicPr>
            <a:picLocks noChangeAspect="1"/>
          </p:cNvPicPr>
          <p:nvPr/>
        </p:nvPicPr>
        <p:blipFill>
          <a:blip r:embed="rId1"/>
          <a:stretch>
            <a:fillRect/>
          </a:stretch>
        </p:blipFill>
        <p:spPr>
          <a:xfrm>
            <a:off x="10512578" y="533400"/>
            <a:ext cx="917422" cy="323850"/>
          </a:xfrm>
          <a:prstGeom prst="rect">
            <a:avLst/>
          </a:prstGeom>
        </p:spPr>
      </p:pic>
      <p:sp>
        <p:nvSpPr>
          <p:cNvPr id="3" name="Text 0"/>
          <p:cNvSpPr/>
          <p:nvPr/>
        </p:nvSpPr>
        <p:spPr>
          <a:xfrm>
            <a:off x="762000" y="6477000"/>
            <a:ext cx="4762500" cy="190500"/>
          </a:xfrm>
          <a:prstGeom prst="rect">
            <a:avLst/>
          </a:prstGeom>
          <a:noFill/>
          <a:ln/>
        </p:spPr>
        <p:txBody>
          <a:bodyPr wrap="square" lIns="0" tIns="0" rIns="0" bIns="0" rtlCol="0" anchor="ctr"/>
          <a:lstStyle/>
          <a:p>
            <a:pPr indent="0" marL="0">
              <a:buNone/>
            </a:pPr>
            <a:r>
              <a:rPr lang="en-US" sz="1000" dirty="0">
                <a:solidFill>
                  <a:srgbClr val="FFFFFF"/>
                </a:solidFill>
                <a:latin typeface="Manrope" pitchFamily="34" charset="0"/>
                <a:ea typeface="Manrope" pitchFamily="34" charset="-122"/>
                <a:cs typeface="Manrope" pitchFamily="34" charset="-120"/>
              </a:rPr>
              <a:t>Migración legacy con Kiro · Nequi</a:t>
            </a:r>
            <a:endParaRPr lang="en-US" sz="1000" dirty="0"/>
          </a:p>
        </p:txBody>
      </p:sp>
      <p:sp>
        <p:nvSpPr>
          <p:cNvPr id="4" name="Text 1"/>
          <p:cNvSpPr/>
          <p:nvPr/>
        </p:nvSpPr>
        <p:spPr>
          <a:xfrm>
            <a:off x="10096500" y="6477000"/>
            <a:ext cx="1333500" cy="190500"/>
          </a:xfrm>
          <a:prstGeom prst="rect">
            <a:avLst/>
          </a:prstGeom>
          <a:noFill/>
          <a:ln/>
        </p:spPr>
        <p:txBody>
          <a:bodyPr wrap="square" lIns="0" tIns="0" rIns="0" bIns="0" rtlCol="0" anchor="ctr"/>
          <a:lstStyle/>
          <a:p>
            <a:pPr algn="r" indent="0" marL="0">
              <a:buNone/>
            </a:pPr>
            <a:r>
              <a:rPr lang="en-US" sz="1000" dirty="0">
                <a:solidFill>
                  <a:srgbClr val="200020"/>
                </a:solidFill>
                <a:latin typeface="Manrope" pitchFamily="34" charset="0"/>
                <a:ea typeface="Manrope" pitchFamily="34" charset="-122"/>
                <a:cs typeface="Manrope" pitchFamily="34" charset="-120"/>
              </a:rPr>
              <a:t>#ATuRitmo</a:t>
            </a:r>
            <a:endParaRPr lang="en-US" sz="1000" dirty="0"/>
          </a:p>
        </p:txBody>
      </p:sp>
      <p:sp>
        <p:nvSpPr>
          <p:cNvPr id="25" name="Slide Number Placeholder 0"/>
          <p:cNvSpPr>
            <a:spLocks noGrp="1"/>
          </p:cNvSpPr>
          <p:nvPr>
            <p:ph type="sldNum" sz="quarter" idx="4294967295"/>
          </p:nvPr>
        </p:nvSpPr>
        <p:spPr>
          <a:xfrm>
            <a:off x="9525000" y="6477000"/>
            <a:ext cx="47625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Manrope"/>
                <a:ea typeface="Manrope"/>
                <a:cs typeface="Manrope"/>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NQ_COVER">
    <p:bg>
      <p:bgPr>
        <a:solidFill>
          <a:srgbClr val="20002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525000" y="6477000"/>
            <a:ext cx="47625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5A4A6A"/>
                </a:solidFill>
                <a:latin typeface="Manrope"/>
                <a:ea typeface="Manrope"/>
                <a:cs typeface="Manrope"/>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5.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hyperlink" Target="https://www.linkedin.com/in/osmond-lisandro-pomare-hern%C3%A1ndez-723a65165?fromQR=1" TargetMode="External"/><Relationship Id="rId5" Type="http://schemas.openxmlformats.org/officeDocument/2006/relationships/hyperlink" Target="https://www.linkedin.com/in/cristhian-eduardo-castillo-erazo-092088134?fromQR=1" TargetMode="External"/><Relationship Id="rId1" Type="http://schemas.openxmlformats.org/officeDocument/2006/relationships/image" Target="../media/image-15-1.png"/><Relationship Id="rId2" Type="http://schemas.openxmlformats.org/officeDocument/2006/relationships/image" Target="../media/image-15-2.png"/><Relationship Id="rId4" Type="http://schemas.openxmlformats.org/officeDocument/2006/relationships/image" Target="../media/image-15-3.png"/><Relationship Id="rId6" Type="http://schemas.openxmlformats.org/officeDocument/2006/relationships/slideLayout" Target="../slideLayouts/slideLayout5.xml"/><Relationship Id="rId7"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rot="840000">
            <a:off x="8001000" y="-571500"/>
            <a:ext cx="5334000" cy="5334000"/>
          </a:xfrm>
          <a:prstGeom prst="roundRect">
            <a:avLst>
              <a:gd name="adj" fmla="val 8571"/>
            </a:avLst>
          </a:prstGeom>
          <a:solidFill>
            <a:srgbClr val="DA0081"/>
          </a:solidFill>
          <a:ln/>
        </p:spPr>
      </p:sp>
      <p:sp>
        <p:nvSpPr>
          <p:cNvPr id="3" name="Shape 1"/>
          <p:cNvSpPr/>
          <p:nvPr/>
        </p:nvSpPr>
        <p:spPr>
          <a:xfrm rot="-480000">
            <a:off x="7143750" y="2857500"/>
            <a:ext cx="3619500" cy="3619500"/>
          </a:xfrm>
          <a:prstGeom prst="roundRect">
            <a:avLst>
              <a:gd name="adj" fmla="val 12632"/>
            </a:avLst>
          </a:prstGeom>
          <a:solidFill>
            <a:srgbClr val="3A0A3A"/>
          </a:solidFill>
          <a:ln/>
        </p:spPr>
      </p:sp>
      <p:sp>
        <p:nvSpPr>
          <p:cNvPr id="4" name="Shape 2"/>
          <p:cNvSpPr/>
          <p:nvPr/>
        </p:nvSpPr>
        <p:spPr>
          <a:xfrm>
            <a:off x="5943600" y="1143000"/>
            <a:ext cx="152400" cy="152400"/>
          </a:xfrm>
          <a:prstGeom prst="roundRect">
            <a:avLst>
              <a:gd name="adj" fmla="val 18750"/>
            </a:avLst>
          </a:prstGeom>
          <a:solidFill>
            <a:srgbClr val="DA0081"/>
          </a:solidFill>
          <a:ln/>
        </p:spPr>
      </p:sp>
      <p:sp>
        <p:nvSpPr>
          <p:cNvPr id="5" name="Shape 3"/>
          <p:cNvSpPr/>
          <p:nvPr/>
        </p:nvSpPr>
        <p:spPr>
          <a:xfrm>
            <a:off x="10896600" y="5848350"/>
            <a:ext cx="152400" cy="152400"/>
          </a:xfrm>
          <a:prstGeom prst="roundRect">
            <a:avLst>
              <a:gd name="adj" fmla="val 18750"/>
            </a:avLst>
          </a:prstGeom>
          <a:solidFill>
            <a:srgbClr val="ECE7F5"/>
          </a:solidFill>
          <a:ln/>
        </p:spPr>
      </p:sp>
      <p:pic>
        <p:nvPicPr>
          <p:cNvPr id="6" name="Image 0" descr="/home/claude/pptx/kiro.png">    </p:cNvPr>
          <p:cNvPicPr>
            <a:picLocks noChangeAspect="1"/>
          </p:cNvPicPr>
          <p:nvPr/>
        </p:nvPicPr>
        <p:blipFill>
          <a:blip r:embed="rId1"/>
          <a:stretch>
            <a:fillRect/>
          </a:stretch>
        </p:blipFill>
        <p:spPr>
          <a:xfrm>
            <a:off x="8477250" y="1619250"/>
            <a:ext cx="2000250" cy="2000250"/>
          </a:xfrm>
          <a:prstGeom prst="rect">
            <a:avLst/>
          </a:prstGeom>
        </p:spPr>
      </p:pic>
      <p:pic>
        <p:nvPicPr>
          <p:cNvPr id="7" name="Image 1" descr="/root/.claude/skills/synced/76daff7b-2852-4bf5-abbb-0d9c93f45fa5_597a03ac-e39d-4fd3-bda0-a661187d730b/nequi-brand/assets/logo-guanabana.png">    </p:cNvPr>
          <p:cNvPicPr>
            <a:picLocks noChangeAspect="1"/>
          </p:cNvPicPr>
          <p:nvPr/>
        </p:nvPicPr>
        <p:blipFill>
          <a:blip r:embed="rId2"/>
          <a:stretch>
            <a:fillRect/>
          </a:stretch>
        </p:blipFill>
        <p:spPr>
          <a:xfrm>
            <a:off x="762000" y="533400"/>
            <a:ext cx="917422" cy="323850"/>
          </a:xfrm>
          <a:prstGeom prst="rect">
            <a:avLst/>
          </a:prstGeom>
        </p:spPr>
      </p:pic>
      <p:sp>
        <p:nvSpPr>
          <p:cNvPr id="8" name="Shape 4"/>
          <p:cNvSpPr/>
          <p:nvPr/>
        </p:nvSpPr>
        <p:spPr>
          <a:xfrm>
            <a:off x="762000" y="1952625"/>
            <a:ext cx="95250" cy="95250"/>
          </a:xfrm>
          <a:prstGeom prst="roundRect">
            <a:avLst>
              <a:gd name="adj" fmla="val 20000"/>
            </a:avLst>
          </a:prstGeom>
          <a:solidFill>
            <a:srgbClr val="DA0081"/>
          </a:solidFill>
          <a:ln/>
        </p:spPr>
      </p:sp>
      <p:sp>
        <p:nvSpPr>
          <p:cNvPr id="9" name="Text 5"/>
          <p:cNvSpPr txBox="1"/>
          <p:nvPr/>
        </p:nvSpPr>
        <p:spPr>
          <a:xfrm>
            <a:off x="952500" y="1905000"/>
            <a:ext cx="5715000" cy="190500"/>
          </a:xfrm>
          <a:prstGeom prst="rect">
            <a:avLst/>
          </a:prstGeom>
          <a:noFill/>
          <a:ln/>
        </p:spPr>
        <p:txBody>
          <a:bodyPr wrap="square" lIns="0" tIns="0" rIns="0" bIns="0" rtlCol="0" anchor="ctr"/>
          <a:lstStyle/>
          <a:p>
            <a:pPr algn="l" indent="0" marL="0">
              <a:lnSpc>
                <a:spcPct val="100000"/>
              </a:lnSpc>
              <a:buNone/>
            </a:pPr>
            <a:r>
              <a:rPr lang="en-US" sz="1130" b="1" spc="200" kern="0" dirty="0">
                <a:solidFill>
                  <a:srgbClr val="DA0081"/>
                </a:solidFill>
                <a:latin typeface="Manrope" pitchFamily="34" charset="0"/>
                <a:ea typeface="Manrope" pitchFamily="34" charset="-122"/>
                <a:cs typeface="Manrope" pitchFamily="34" charset="-120"/>
              </a:rPr>
              <a:t>PLATFORM ENGINEERING · TALLER</a:t>
            </a:r>
            <a:endParaRPr lang="en-US" sz="1130" dirty="0"/>
          </a:p>
        </p:txBody>
      </p:sp>
      <p:sp>
        <p:nvSpPr>
          <p:cNvPr id="10" name="Text 6"/>
          <p:cNvSpPr txBox="1"/>
          <p:nvPr/>
        </p:nvSpPr>
        <p:spPr>
          <a:xfrm>
            <a:off x="762000" y="2247900"/>
            <a:ext cx="6286500" cy="2190750"/>
          </a:xfrm>
          <a:prstGeom prst="rect">
            <a:avLst/>
          </a:prstGeom>
          <a:noFill/>
          <a:ln/>
        </p:spPr>
        <p:txBody>
          <a:bodyPr wrap="square" lIns="0" tIns="0" rIns="0" bIns="0" rtlCol="0" anchor="t"/>
          <a:lstStyle/>
          <a:p>
            <a:pPr algn="l" indent="0" marL="0">
              <a:lnSpc>
                <a:spcPct val="92000"/>
              </a:lnSpc>
              <a:buNone/>
            </a:pPr>
            <a:r>
              <a:rPr lang="en-US" sz="4800" b="1" dirty="0">
                <a:solidFill>
                  <a:srgbClr val="ECE7F5"/>
                </a:solidFill>
                <a:latin typeface="Manrope" pitchFamily="34" charset="0"/>
                <a:ea typeface="Manrope" pitchFamily="34" charset="-122"/>
                <a:cs typeface="Manrope" pitchFamily="34" charset="-120"/>
              </a:rPr>
              <a:t>Migración de servicios </a:t>
            </a:r>
            <a:pPr algn="l" indent="0" marL="0">
              <a:lnSpc>
                <a:spcPct val="92000"/>
              </a:lnSpc>
              <a:buNone/>
            </a:pPr>
            <a:r>
              <a:rPr lang="en-US" sz="4800" b="1" dirty="0">
                <a:solidFill>
                  <a:srgbClr val="DA0081"/>
                </a:solidFill>
                <a:latin typeface="Manrope" pitchFamily="34" charset="0"/>
                <a:ea typeface="Manrope" pitchFamily="34" charset="-122"/>
                <a:cs typeface="Manrope" pitchFamily="34" charset="-120"/>
              </a:rPr>
              <a:t>legacy</a:t>
            </a:r>
            <a:pPr algn="l" indent="0" marL="0">
              <a:lnSpc>
                <a:spcPct val="92000"/>
              </a:lnSpc>
              <a:buNone/>
            </a:pPr>
            <a:r>
              <a:rPr lang="en-US" sz="4800" b="1" dirty="0">
                <a:solidFill>
                  <a:srgbClr val="ECE7F5"/>
                </a:solidFill>
                <a:latin typeface="Manrope" pitchFamily="34" charset="0"/>
                <a:ea typeface="Manrope" pitchFamily="34" charset="-122"/>
                <a:cs typeface="Manrope" pitchFamily="34" charset="-120"/>
              </a:rPr>
              <a:t> con agentes Kiro de AWS</a:t>
            </a:r>
            <a:endParaRPr lang="en-US" sz="4800" dirty="0"/>
          </a:p>
        </p:txBody>
      </p:sp>
      <p:sp>
        <p:nvSpPr>
          <p:cNvPr id="11" name="Text 7"/>
          <p:cNvSpPr txBox="1"/>
          <p:nvPr/>
        </p:nvSpPr>
        <p:spPr>
          <a:xfrm>
            <a:off x="762000" y="4552950"/>
            <a:ext cx="6286500" cy="285750"/>
          </a:xfrm>
          <a:prstGeom prst="rect">
            <a:avLst/>
          </a:prstGeom>
          <a:noFill/>
          <a:ln/>
        </p:spPr>
        <p:txBody>
          <a:bodyPr wrap="square" lIns="0" tIns="0" rIns="0" bIns="0" rtlCol="0" anchor="t"/>
          <a:lstStyle/>
          <a:p>
            <a:pPr algn="l" indent="0" marL="0">
              <a:lnSpc>
                <a:spcPct val="100000"/>
              </a:lnSpc>
              <a:buNone/>
            </a:pPr>
            <a:r>
              <a:rPr lang="en-US" sz="1500" dirty="0">
                <a:solidFill>
                  <a:srgbClr val="C8BDD8"/>
                </a:solidFill>
                <a:latin typeface="Manrope" pitchFamily="34" charset="0"/>
                <a:ea typeface="Manrope" pitchFamily="34" charset="-122"/>
                <a:cs typeface="Manrope" pitchFamily="34" charset="-120"/>
              </a:rPr>
              <a:t>Automatizar un proceso, no apostar a un prompt.</a:t>
            </a:r>
            <a:endParaRPr lang="en-US" sz="1500" dirty="0"/>
          </a:p>
        </p:txBody>
      </p:sp>
      <p:sp>
        <p:nvSpPr>
          <p:cNvPr id="12" name="Text 8"/>
          <p:cNvSpPr txBox="1"/>
          <p:nvPr/>
        </p:nvSpPr>
        <p:spPr>
          <a:xfrm>
            <a:off x="762000" y="5772150"/>
            <a:ext cx="2286000" cy="247650"/>
          </a:xfrm>
          <a:prstGeom prst="rect">
            <a:avLst/>
          </a:prstGeom>
          <a:noFill/>
          <a:ln/>
        </p:spPr>
        <p:txBody>
          <a:bodyPr wrap="square" lIns="0" tIns="0" rIns="0" bIns="0" rtlCol="0" anchor="t"/>
          <a:lstStyle/>
          <a:p>
            <a:pPr algn="l" indent="0" marL="0">
              <a:lnSpc>
                <a:spcPct val="100000"/>
              </a:lnSpc>
              <a:buNone/>
            </a:pPr>
            <a:r>
              <a:rPr lang="en-US" sz="1500" b="1" dirty="0">
                <a:solidFill>
                  <a:srgbClr val="ECE7F5"/>
                </a:solidFill>
                <a:latin typeface="Manrope" pitchFamily="34" charset="0"/>
                <a:ea typeface="Manrope" pitchFamily="34" charset="-122"/>
                <a:cs typeface="Manrope" pitchFamily="34" charset="-120"/>
              </a:rPr>
              <a:t>Osmond Pomare</a:t>
            </a:r>
            <a:endParaRPr lang="en-US" sz="1500" dirty="0"/>
          </a:p>
        </p:txBody>
      </p:sp>
      <p:sp>
        <p:nvSpPr>
          <p:cNvPr id="13" name="Text 9"/>
          <p:cNvSpPr txBox="1"/>
          <p:nvPr/>
        </p:nvSpPr>
        <p:spPr>
          <a:xfrm>
            <a:off x="762000" y="6019800"/>
            <a:ext cx="2286000" cy="190500"/>
          </a:xfrm>
          <a:prstGeom prst="rect">
            <a:avLst/>
          </a:prstGeom>
          <a:noFill/>
          <a:ln/>
        </p:spPr>
        <p:txBody>
          <a:bodyPr wrap="square" lIns="0" tIns="0" rIns="0" bIns="0" rtlCol="0" anchor="t"/>
          <a:lstStyle/>
          <a:p>
            <a:pPr algn="l" indent="0" marL="0">
              <a:lnSpc>
                <a:spcPct val="100000"/>
              </a:lnSpc>
              <a:buNone/>
            </a:pPr>
            <a:r>
              <a:rPr lang="en-US" sz="1050" dirty="0">
                <a:solidFill>
                  <a:srgbClr val="C8BDD8"/>
                </a:solidFill>
                <a:latin typeface="Manrope" pitchFamily="34" charset="0"/>
                <a:ea typeface="Manrope" pitchFamily="34" charset="-122"/>
                <a:cs typeface="Manrope" pitchFamily="34" charset="-120"/>
              </a:rPr>
              <a:t>Lead Platform Engineer</a:t>
            </a:r>
            <a:endParaRPr lang="en-US" sz="1050" dirty="0"/>
          </a:p>
        </p:txBody>
      </p:sp>
      <p:sp>
        <p:nvSpPr>
          <p:cNvPr id="14" name="Text 10"/>
          <p:cNvSpPr txBox="1"/>
          <p:nvPr/>
        </p:nvSpPr>
        <p:spPr>
          <a:xfrm>
            <a:off x="3238500" y="5772150"/>
            <a:ext cx="2476500" cy="247650"/>
          </a:xfrm>
          <a:prstGeom prst="rect">
            <a:avLst/>
          </a:prstGeom>
          <a:noFill/>
          <a:ln/>
        </p:spPr>
        <p:txBody>
          <a:bodyPr wrap="square" lIns="0" tIns="0" rIns="0" bIns="0" rtlCol="0" anchor="t"/>
          <a:lstStyle/>
          <a:p>
            <a:pPr algn="l" indent="0" marL="0">
              <a:lnSpc>
                <a:spcPct val="100000"/>
              </a:lnSpc>
              <a:buNone/>
            </a:pPr>
            <a:r>
              <a:rPr lang="en-US" sz="1500" b="1" dirty="0">
                <a:solidFill>
                  <a:srgbClr val="ECE7F5"/>
                </a:solidFill>
                <a:latin typeface="Manrope" pitchFamily="34" charset="0"/>
                <a:ea typeface="Manrope" pitchFamily="34" charset="-122"/>
                <a:cs typeface="Manrope" pitchFamily="34" charset="-120"/>
              </a:rPr>
              <a:t>Cristhian Castillo</a:t>
            </a:r>
            <a:endParaRPr lang="en-US" sz="1500" dirty="0"/>
          </a:p>
        </p:txBody>
      </p:sp>
      <p:sp>
        <p:nvSpPr>
          <p:cNvPr id="15" name="Text 11"/>
          <p:cNvSpPr txBox="1"/>
          <p:nvPr/>
        </p:nvSpPr>
        <p:spPr>
          <a:xfrm>
            <a:off x="3238500" y="6019800"/>
            <a:ext cx="2476500" cy="190500"/>
          </a:xfrm>
          <a:prstGeom prst="rect">
            <a:avLst/>
          </a:prstGeom>
          <a:noFill/>
          <a:ln/>
        </p:spPr>
        <p:txBody>
          <a:bodyPr wrap="square" lIns="0" tIns="0" rIns="0" bIns="0" rtlCol="0" anchor="t"/>
          <a:lstStyle/>
          <a:p>
            <a:pPr algn="l" indent="0" marL="0">
              <a:lnSpc>
                <a:spcPct val="100000"/>
              </a:lnSpc>
              <a:buNone/>
            </a:pPr>
            <a:r>
              <a:rPr lang="en-US" sz="1050" dirty="0">
                <a:solidFill>
                  <a:srgbClr val="C8BDD8"/>
                </a:solidFill>
                <a:latin typeface="Manrope" pitchFamily="34" charset="0"/>
                <a:ea typeface="Manrope" pitchFamily="34" charset="-122"/>
                <a:cs typeface="Manrope" pitchFamily="34" charset="-120"/>
              </a:rPr>
              <a:t>Lead Platform Engineer</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62000" y="657225"/>
            <a:ext cx="95250" cy="95250"/>
          </a:xfrm>
          <a:prstGeom prst="roundRect">
            <a:avLst>
              <a:gd name="adj" fmla="val 20000"/>
            </a:avLst>
          </a:prstGeom>
          <a:solidFill>
            <a:srgbClr val="DA0081"/>
          </a:solidFill>
          <a:ln/>
        </p:spPr>
      </p:sp>
      <p:sp>
        <p:nvSpPr>
          <p:cNvPr id="3" name="Text 1"/>
          <p:cNvSpPr txBox="1"/>
          <p:nvPr/>
        </p:nvSpPr>
        <p:spPr>
          <a:xfrm>
            <a:off x="952500" y="609600"/>
            <a:ext cx="7620000" cy="190500"/>
          </a:xfrm>
          <a:prstGeom prst="rect">
            <a:avLst/>
          </a:prstGeom>
          <a:noFill/>
          <a:ln/>
        </p:spPr>
        <p:txBody>
          <a:bodyPr wrap="square" lIns="0" tIns="0" rIns="0" bIns="0" rtlCol="0" anchor="ctr"/>
          <a:lstStyle/>
          <a:p>
            <a:pPr algn="l" indent="0" marL="0">
              <a:lnSpc>
                <a:spcPct val="100000"/>
              </a:lnSpc>
              <a:buNone/>
            </a:pPr>
            <a:r>
              <a:rPr lang="en-US" sz="1130" b="1" spc="200" kern="0" dirty="0">
                <a:solidFill>
                  <a:srgbClr val="DA0081"/>
                </a:solidFill>
                <a:latin typeface="Manrope" pitchFamily="34" charset="0"/>
                <a:ea typeface="Manrope" pitchFamily="34" charset="-122"/>
                <a:cs typeface="Manrope" pitchFamily="34" charset="-120"/>
              </a:rPr>
              <a:t>AGENDA</a:t>
            </a:r>
            <a:endParaRPr lang="en-US" sz="1130" dirty="0"/>
          </a:p>
        </p:txBody>
      </p:sp>
      <p:sp>
        <p:nvSpPr>
          <p:cNvPr id="4" name="Text 2"/>
          <p:cNvSpPr txBox="1"/>
          <p:nvPr/>
        </p:nvSpPr>
        <p:spPr>
          <a:xfrm>
            <a:off x="762000" y="876300"/>
            <a:ext cx="9525000" cy="1047750"/>
          </a:xfrm>
          <a:prstGeom prst="rect">
            <a:avLst/>
          </a:prstGeom>
          <a:noFill/>
          <a:ln/>
        </p:spPr>
        <p:txBody>
          <a:bodyPr wrap="square" lIns="0" tIns="0" rIns="0" bIns="0" rtlCol="0" anchor="t"/>
          <a:lstStyle/>
          <a:p>
            <a:pPr algn="l" indent="0" marL="0">
              <a:lnSpc>
                <a:spcPct val="95000"/>
              </a:lnSpc>
              <a:buNone/>
            </a:pPr>
            <a:r>
              <a:rPr lang="en-US" sz="3150" b="1" dirty="0">
                <a:solidFill>
                  <a:srgbClr val="200020"/>
                </a:solidFill>
                <a:latin typeface="Manrope" pitchFamily="34" charset="0"/>
                <a:ea typeface="Manrope" pitchFamily="34" charset="-122"/>
                <a:cs typeface="Manrope" pitchFamily="34" charset="-120"/>
              </a:rPr>
              <a:t>El recorrido de hoy</a:t>
            </a:r>
            <a:endParaRPr lang="en-US" sz="3150" dirty="0"/>
          </a:p>
        </p:txBody>
      </p:sp>
      <p:sp>
        <p:nvSpPr>
          <p:cNvPr id="5" name="Shape 3"/>
          <p:cNvSpPr/>
          <p:nvPr/>
        </p:nvSpPr>
        <p:spPr>
          <a:xfrm>
            <a:off x="1428750" y="2762250"/>
            <a:ext cx="9334500" cy="95"/>
          </a:xfrm>
          <a:prstGeom prst="line">
            <a:avLst/>
          </a:prstGeom>
          <a:noFill/>
          <a:ln w="38100">
            <a:solidFill>
              <a:srgbClr val="F1BFDA"/>
            </a:solidFill>
            <a:prstDash val="solid"/>
          </a:ln>
        </p:spPr>
      </p:sp>
      <p:sp>
        <p:nvSpPr>
          <p:cNvPr id="6" name="Shape 4"/>
          <p:cNvSpPr/>
          <p:nvPr/>
        </p:nvSpPr>
        <p:spPr>
          <a:xfrm>
            <a:off x="1046389" y="2333625"/>
            <a:ext cx="857250" cy="857250"/>
          </a:xfrm>
          <a:prstGeom prst="roundRect">
            <a:avLst>
              <a:gd name="adj" fmla="val 24444"/>
            </a:avLst>
          </a:prstGeom>
          <a:solidFill>
            <a:srgbClr val="DA0081"/>
          </a:solidFill>
          <a:ln/>
        </p:spPr>
      </p:sp>
      <p:pic>
        <p:nvPicPr>
          <p:cNvPr id="7" name="Image 0" descr="preencoded.png">    </p:cNvPr>
          <p:cNvPicPr>
            <a:picLocks noChangeAspect="1"/>
          </p:cNvPicPr>
          <p:nvPr/>
        </p:nvPicPr>
        <p:blipFill>
          <a:blip r:embed="rId1"/>
          <a:stretch>
            <a:fillRect/>
          </a:stretch>
        </p:blipFill>
        <p:spPr>
          <a:xfrm>
            <a:off x="1294992" y="2582228"/>
            <a:ext cx="360045" cy="360045"/>
          </a:xfrm>
          <a:prstGeom prst="rect">
            <a:avLst/>
          </a:prstGeom>
        </p:spPr>
      </p:pic>
      <p:sp>
        <p:nvSpPr>
          <p:cNvPr id="8" name="Text 5"/>
          <p:cNvSpPr txBox="1"/>
          <p:nvPr/>
        </p:nvSpPr>
        <p:spPr>
          <a:xfrm>
            <a:off x="762000" y="3390900"/>
            <a:ext cx="1426029" cy="247650"/>
          </a:xfrm>
          <a:prstGeom prst="rect">
            <a:avLst/>
          </a:prstGeom>
          <a:noFill/>
          <a:ln/>
        </p:spPr>
        <p:txBody>
          <a:bodyPr wrap="square" lIns="0" tIns="0" rIns="0" bIns="0" rtlCol="0" anchor="t"/>
          <a:lstStyle/>
          <a:p>
            <a:pPr algn="ctr" indent="0" marL="0">
              <a:lnSpc>
                <a:spcPct val="100000"/>
              </a:lnSpc>
              <a:buNone/>
            </a:pPr>
            <a:r>
              <a:rPr lang="en-US" sz="1500" b="1" dirty="0">
                <a:solidFill>
                  <a:srgbClr val="DA0081"/>
                </a:solidFill>
                <a:latin typeface="Manrope" pitchFamily="34" charset="0"/>
                <a:ea typeface="Manrope" pitchFamily="34" charset="-122"/>
                <a:cs typeface="Manrope" pitchFamily="34" charset="-120"/>
              </a:rPr>
              <a:t>01</a:t>
            </a:r>
            <a:endParaRPr lang="en-US" sz="1500" dirty="0"/>
          </a:p>
        </p:txBody>
      </p:sp>
      <p:sp>
        <p:nvSpPr>
          <p:cNvPr id="9" name="Text 6"/>
          <p:cNvSpPr txBox="1"/>
          <p:nvPr/>
        </p:nvSpPr>
        <p:spPr>
          <a:xfrm>
            <a:off x="762000" y="3676650"/>
            <a:ext cx="1426029" cy="476250"/>
          </a:xfrm>
          <a:prstGeom prst="rect">
            <a:avLst/>
          </a:prstGeom>
          <a:noFill/>
          <a:ln/>
        </p:spPr>
        <p:txBody>
          <a:bodyPr wrap="square" lIns="0" tIns="0" rIns="0" bIns="0" rtlCol="0" anchor="t"/>
          <a:lstStyle/>
          <a:p>
            <a:pPr algn="ctr" indent="0" marL="0">
              <a:lnSpc>
                <a:spcPct val="100000"/>
              </a:lnSpc>
              <a:buNone/>
            </a:pPr>
            <a:r>
              <a:rPr lang="en-US" sz="1350" b="1" dirty="0">
                <a:solidFill>
                  <a:srgbClr val="200020"/>
                </a:solidFill>
                <a:latin typeface="Manrope" pitchFamily="34" charset="0"/>
                <a:ea typeface="Manrope" pitchFamily="34" charset="-122"/>
                <a:cs typeface="Manrope" pitchFamily="34" charset="-120"/>
              </a:rPr>
              <a:t>Contexto</a:t>
            </a:r>
            <a:endParaRPr lang="en-US" sz="1350" dirty="0"/>
          </a:p>
        </p:txBody>
      </p:sp>
      <p:sp>
        <p:nvSpPr>
          <p:cNvPr id="10" name="Shape 7"/>
          <p:cNvSpPr/>
          <p:nvPr/>
        </p:nvSpPr>
        <p:spPr>
          <a:xfrm>
            <a:off x="2586718" y="2333625"/>
            <a:ext cx="857250" cy="857250"/>
          </a:xfrm>
          <a:prstGeom prst="roundRect">
            <a:avLst>
              <a:gd name="adj" fmla="val 24444"/>
            </a:avLst>
          </a:prstGeom>
          <a:solidFill>
            <a:srgbClr val="DA0081"/>
          </a:solidFill>
          <a:ln/>
        </p:spPr>
      </p:sp>
      <p:pic>
        <p:nvPicPr>
          <p:cNvPr id="11" name="Image 1" descr="preencoded.png">    </p:cNvPr>
          <p:cNvPicPr>
            <a:picLocks noChangeAspect="1"/>
          </p:cNvPicPr>
          <p:nvPr/>
        </p:nvPicPr>
        <p:blipFill>
          <a:blip r:embed="rId2"/>
          <a:stretch>
            <a:fillRect/>
          </a:stretch>
        </p:blipFill>
        <p:spPr>
          <a:xfrm>
            <a:off x="2835320" y="2582228"/>
            <a:ext cx="360045" cy="360045"/>
          </a:xfrm>
          <a:prstGeom prst="rect">
            <a:avLst/>
          </a:prstGeom>
        </p:spPr>
      </p:pic>
      <p:sp>
        <p:nvSpPr>
          <p:cNvPr id="12" name="Text 8"/>
          <p:cNvSpPr txBox="1"/>
          <p:nvPr/>
        </p:nvSpPr>
        <p:spPr>
          <a:xfrm>
            <a:off x="2302329" y="3390900"/>
            <a:ext cx="1426029" cy="247650"/>
          </a:xfrm>
          <a:prstGeom prst="rect">
            <a:avLst/>
          </a:prstGeom>
          <a:noFill/>
          <a:ln/>
        </p:spPr>
        <p:txBody>
          <a:bodyPr wrap="square" lIns="0" tIns="0" rIns="0" bIns="0" rtlCol="0" anchor="t"/>
          <a:lstStyle/>
          <a:p>
            <a:pPr algn="ctr" indent="0" marL="0">
              <a:lnSpc>
                <a:spcPct val="100000"/>
              </a:lnSpc>
              <a:buNone/>
            </a:pPr>
            <a:r>
              <a:rPr lang="en-US" sz="1500" b="1" dirty="0">
                <a:solidFill>
                  <a:srgbClr val="DA0081"/>
                </a:solidFill>
                <a:latin typeface="Manrope" pitchFamily="34" charset="0"/>
                <a:ea typeface="Manrope" pitchFamily="34" charset="-122"/>
                <a:cs typeface="Manrope" pitchFamily="34" charset="-120"/>
              </a:rPr>
              <a:t>02</a:t>
            </a:r>
            <a:endParaRPr lang="en-US" sz="1500" dirty="0"/>
          </a:p>
        </p:txBody>
      </p:sp>
      <p:sp>
        <p:nvSpPr>
          <p:cNvPr id="13" name="Text 9"/>
          <p:cNvSpPr txBox="1"/>
          <p:nvPr/>
        </p:nvSpPr>
        <p:spPr>
          <a:xfrm>
            <a:off x="2302329" y="3676650"/>
            <a:ext cx="1426029" cy="476250"/>
          </a:xfrm>
          <a:prstGeom prst="rect">
            <a:avLst/>
          </a:prstGeom>
          <a:noFill/>
          <a:ln/>
        </p:spPr>
        <p:txBody>
          <a:bodyPr wrap="square" lIns="0" tIns="0" rIns="0" bIns="0" rtlCol="0" anchor="t"/>
          <a:lstStyle/>
          <a:p>
            <a:pPr algn="ctr" indent="0" marL="0">
              <a:lnSpc>
                <a:spcPct val="100000"/>
              </a:lnSpc>
              <a:buNone/>
            </a:pPr>
            <a:r>
              <a:rPr lang="en-US" sz="1350" b="1" dirty="0">
                <a:solidFill>
                  <a:srgbClr val="200020"/>
                </a:solidFill>
                <a:latin typeface="Manrope" pitchFamily="34" charset="0"/>
                <a:ea typeface="Manrope" pitchFamily="34" charset="-122"/>
                <a:cs typeface="Manrope" pitchFamily="34" charset="-120"/>
              </a:rPr>
              <a:t>Motivación</a:t>
            </a:r>
            <a:endParaRPr lang="en-US" sz="1350" dirty="0"/>
          </a:p>
        </p:txBody>
      </p:sp>
      <p:sp>
        <p:nvSpPr>
          <p:cNvPr id="14" name="Shape 10"/>
          <p:cNvSpPr/>
          <p:nvPr/>
        </p:nvSpPr>
        <p:spPr>
          <a:xfrm>
            <a:off x="4127046" y="2333625"/>
            <a:ext cx="857250" cy="857250"/>
          </a:xfrm>
          <a:prstGeom prst="roundRect">
            <a:avLst>
              <a:gd name="adj" fmla="val 24444"/>
            </a:avLst>
          </a:prstGeom>
          <a:solidFill>
            <a:srgbClr val="200020"/>
          </a:solidFill>
          <a:ln/>
        </p:spPr>
      </p:sp>
      <p:sp>
        <p:nvSpPr>
          <p:cNvPr id="15" name="Text 11"/>
          <p:cNvSpPr txBox="1"/>
          <p:nvPr/>
        </p:nvSpPr>
        <p:spPr>
          <a:xfrm>
            <a:off x="4127046" y="2333625"/>
            <a:ext cx="857250" cy="857250"/>
          </a:xfrm>
          <a:prstGeom prst="rect">
            <a:avLst/>
          </a:prstGeom>
          <a:noFill/>
          <a:ln/>
        </p:spPr>
        <p:txBody>
          <a:bodyPr wrap="square" lIns="0" tIns="0" rIns="0" bIns="0" rtlCol="0" anchor="ctr"/>
          <a:lstStyle/>
          <a:p>
            <a:pPr algn="ctr" indent="0" marL="0">
              <a:lnSpc>
                <a:spcPct val="100000"/>
              </a:lnSpc>
              <a:buNone/>
            </a:pPr>
            <a:r>
              <a:rPr lang="en-US" sz="3150" b="1" dirty="0">
                <a:solidFill>
                  <a:srgbClr val="ECE7F5"/>
                </a:solidFill>
                <a:latin typeface="Manrope" pitchFamily="34" charset="0"/>
                <a:ea typeface="Manrope" pitchFamily="34" charset="-122"/>
                <a:cs typeface="Manrope" pitchFamily="34" charset="-120"/>
              </a:rPr>
              <a:t>?</a:t>
            </a:r>
            <a:endParaRPr lang="en-US" sz="3150" dirty="0"/>
          </a:p>
        </p:txBody>
      </p:sp>
      <p:sp>
        <p:nvSpPr>
          <p:cNvPr id="16" name="Text 12"/>
          <p:cNvSpPr txBox="1"/>
          <p:nvPr/>
        </p:nvSpPr>
        <p:spPr>
          <a:xfrm>
            <a:off x="3842657" y="3390900"/>
            <a:ext cx="1426029" cy="247650"/>
          </a:xfrm>
          <a:prstGeom prst="rect">
            <a:avLst/>
          </a:prstGeom>
          <a:noFill/>
          <a:ln/>
        </p:spPr>
        <p:txBody>
          <a:bodyPr wrap="square" lIns="0" tIns="0" rIns="0" bIns="0" rtlCol="0" anchor="t"/>
          <a:lstStyle/>
          <a:p>
            <a:pPr algn="ctr" indent="0" marL="0">
              <a:lnSpc>
                <a:spcPct val="100000"/>
              </a:lnSpc>
              <a:buNone/>
            </a:pPr>
            <a:r>
              <a:rPr lang="en-US" sz="1500" b="1" dirty="0">
                <a:solidFill>
                  <a:srgbClr val="DA0081"/>
                </a:solidFill>
                <a:latin typeface="Manrope" pitchFamily="34" charset="0"/>
                <a:ea typeface="Manrope" pitchFamily="34" charset="-122"/>
                <a:cs typeface="Manrope" pitchFamily="34" charset="-120"/>
              </a:rPr>
              <a:t>03</a:t>
            </a:r>
            <a:endParaRPr lang="en-US" sz="1500" dirty="0"/>
          </a:p>
        </p:txBody>
      </p:sp>
      <p:sp>
        <p:nvSpPr>
          <p:cNvPr id="17" name="Text 13"/>
          <p:cNvSpPr txBox="1"/>
          <p:nvPr/>
        </p:nvSpPr>
        <p:spPr>
          <a:xfrm>
            <a:off x="3842657" y="3676650"/>
            <a:ext cx="1426029" cy="476250"/>
          </a:xfrm>
          <a:prstGeom prst="rect">
            <a:avLst/>
          </a:prstGeom>
          <a:noFill/>
          <a:ln/>
        </p:spPr>
        <p:txBody>
          <a:bodyPr wrap="square" lIns="0" tIns="0" rIns="0" bIns="0" rtlCol="0" anchor="t"/>
          <a:lstStyle/>
          <a:p>
            <a:pPr algn="ctr" indent="0" marL="0">
              <a:lnSpc>
                <a:spcPct val="100000"/>
              </a:lnSpc>
              <a:buNone/>
            </a:pPr>
            <a:r>
              <a:rPr lang="en-US" sz="1350" b="1" dirty="0">
                <a:solidFill>
                  <a:srgbClr val="200020"/>
                </a:solidFill>
                <a:latin typeface="Manrope" pitchFamily="34" charset="0"/>
                <a:ea typeface="Manrope" pitchFamily="34" charset="-122"/>
                <a:cs typeface="Manrope" pitchFamily="34" charset="-120"/>
              </a:rPr>
              <a:t>La pregunta</a:t>
            </a:r>
            <a:endParaRPr lang="en-US" sz="1350" dirty="0"/>
          </a:p>
        </p:txBody>
      </p:sp>
      <p:sp>
        <p:nvSpPr>
          <p:cNvPr id="18" name="Shape 14"/>
          <p:cNvSpPr/>
          <p:nvPr/>
        </p:nvSpPr>
        <p:spPr>
          <a:xfrm>
            <a:off x="5667375" y="2333625"/>
            <a:ext cx="857250" cy="857250"/>
          </a:xfrm>
          <a:prstGeom prst="roundRect">
            <a:avLst>
              <a:gd name="adj" fmla="val 24444"/>
            </a:avLst>
          </a:prstGeom>
          <a:solidFill>
            <a:srgbClr val="DA0081"/>
          </a:solidFill>
          <a:ln/>
        </p:spPr>
      </p:sp>
      <p:pic>
        <p:nvPicPr>
          <p:cNvPr id="19" name="Image 2" descr="preencoded.png">    </p:cNvPr>
          <p:cNvPicPr>
            <a:picLocks noChangeAspect="1"/>
          </p:cNvPicPr>
          <p:nvPr/>
        </p:nvPicPr>
        <p:blipFill>
          <a:blip r:embed="rId3"/>
          <a:stretch>
            <a:fillRect/>
          </a:stretch>
        </p:blipFill>
        <p:spPr>
          <a:xfrm>
            <a:off x="5915978" y="2582228"/>
            <a:ext cx="360045" cy="360045"/>
          </a:xfrm>
          <a:prstGeom prst="rect">
            <a:avLst/>
          </a:prstGeom>
        </p:spPr>
      </p:pic>
      <p:sp>
        <p:nvSpPr>
          <p:cNvPr id="20" name="Text 15"/>
          <p:cNvSpPr txBox="1"/>
          <p:nvPr/>
        </p:nvSpPr>
        <p:spPr>
          <a:xfrm>
            <a:off x="5382986" y="3390900"/>
            <a:ext cx="1426029" cy="247650"/>
          </a:xfrm>
          <a:prstGeom prst="rect">
            <a:avLst/>
          </a:prstGeom>
          <a:noFill/>
          <a:ln/>
        </p:spPr>
        <p:txBody>
          <a:bodyPr wrap="square" lIns="0" tIns="0" rIns="0" bIns="0" rtlCol="0" anchor="t"/>
          <a:lstStyle/>
          <a:p>
            <a:pPr algn="ctr" indent="0" marL="0">
              <a:lnSpc>
                <a:spcPct val="100000"/>
              </a:lnSpc>
              <a:buNone/>
            </a:pPr>
            <a:r>
              <a:rPr lang="en-US" sz="1500" b="1" dirty="0">
                <a:solidFill>
                  <a:srgbClr val="DA0081"/>
                </a:solidFill>
                <a:latin typeface="Manrope" pitchFamily="34" charset="0"/>
                <a:ea typeface="Manrope" pitchFamily="34" charset="-122"/>
                <a:cs typeface="Manrope" pitchFamily="34" charset="-120"/>
              </a:rPr>
              <a:t>04</a:t>
            </a:r>
            <a:endParaRPr lang="en-US" sz="1500" dirty="0"/>
          </a:p>
        </p:txBody>
      </p:sp>
      <p:sp>
        <p:nvSpPr>
          <p:cNvPr id="21" name="Text 16"/>
          <p:cNvSpPr txBox="1"/>
          <p:nvPr/>
        </p:nvSpPr>
        <p:spPr>
          <a:xfrm>
            <a:off x="5382986" y="3676650"/>
            <a:ext cx="1426029" cy="476250"/>
          </a:xfrm>
          <a:prstGeom prst="rect">
            <a:avLst/>
          </a:prstGeom>
          <a:noFill/>
          <a:ln/>
        </p:spPr>
        <p:txBody>
          <a:bodyPr wrap="square" lIns="0" tIns="0" rIns="0" bIns="0" rtlCol="0" anchor="t"/>
          <a:lstStyle/>
          <a:p>
            <a:pPr algn="ctr" indent="0" marL="0">
              <a:lnSpc>
                <a:spcPct val="100000"/>
              </a:lnSpc>
              <a:buNone/>
            </a:pPr>
            <a:r>
              <a:rPr lang="en-US" sz="1350" b="1" dirty="0">
                <a:solidFill>
                  <a:srgbClr val="200020"/>
                </a:solidFill>
                <a:latin typeface="Manrope" pitchFamily="34" charset="0"/>
                <a:ea typeface="Manrope" pitchFamily="34" charset="-122"/>
                <a:cs typeface="Manrope" pitchFamily="34" charset="-120"/>
              </a:rPr>
              <a:t>Cómo lo hacíamos</a:t>
            </a:r>
            <a:endParaRPr lang="en-US" sz="1350" dirty="0"/>
          </a:p>
        </p:txBody>
      </p:sp>
      <p:sp>
        <p:nvSpPr>
          <p:cNvPr id="22" name="Shape 17"/>
          <p:cNvSpPr/>
          <p:nvPr/>
        </p:nvSpPr>
        <p:spPr>
          <a:xfrm>
            <a:off x="7207704" y="2333625"/>
            <a:ext cx="857250" cy="857250"/>
          </a:xfrm>
          <a:prstGeom prst="roundRect">
            <a:avLst>
              <a:gd name="adj" fmla="val 24444"/>
            </a:avLst>
          </a:prstGeom>
          <a:solidFill>
            <a:srgbClr val="DA0081"/>
          </a:solidFill>
          <a:ln/>
        </p:spPr>
      </p:sp>
      <p:pic>
        <p:nvPicPr>
          <p:cNvPr id="23" name="Image 3" descr="preencoded.png">    </p:cNvPr>
          <p:cNvPicPr>
            <a:picLocks noChangeAspect="1"/>
          </p:cNvPicPr>
          <p:nvPr/>
        </p:nvPicPr>
        <p:blipFill>
          <a:blip r:embed="rId4"/>
          <a:stretch>
            <a:fillRect/>
          </a:stretch>
        </p:blipFill>
        <p:spPr>
          <a:xfrm>
            <a:off x="7456306" y="2582228"/>
            <a:ext cx="360045" cy="360045"/>
          </a:xfrm>
          <a:prstGeom prst="rect">
            <a:avLst/>
          </a:prstGeom>
        </p:spPr>
      </p:pic>
      <p:sp>
        <p:nvSpPr>
          <p:cNvPr id="24" name="Text 18"/>
          <p:cNvSpPr txBox="1"/>
          <p:nvPr/>
        </p:nvSpPr>
        <p:spPr>
          <a:xfrm>
            <a:off x="6923314" y="3390900"/>
            <a:ext cx="1426029" cy="247650"/>
          </a:xfrm>
          <a:prstGeom prst="rect">
            <a:avLst/>
          </a:prstGeom>
          <a:noFill/>
          <a:ln/>
        </p:spPr>
        <p:txBody>
          <a:bodyPr wrap="square" lIns="0" tIns="0" rIns="0" bIns="0" rtlCol="0" anchor="t"/>
          <a:lstStyle/>
          <a:p>
            <a:pPr algn="ctr" indent="0" marL="0">
              <a:lnSpc>
                <a:spcPct val="100000"/>
              </a:lnSpc>
              <a:buNone/>
            </a:pPr>
            <a:r>
              <a:rPr lang="en-US" sz="1500" b="1" dirty="0">
                <a:solidFill>
                  <a:srgbClr val="DA0081"/>
                </a:solidFill>
                <a:latin typeface="Manrope" pitchFamily="34" charset="0"/>
                <a:ea typeface="Manrope" pitchFamily="34" charset="-122"/>
                <a:cs typeface="Manrope" pitchFamily="34" charset="-120"/>
              </a:rPr>
              <a:t>05</a:t>
            </a:r>
            <a:endParaRPr lang="en-US" sz="1500" dirty="0"/>
          </a:p>
        </p:txBody>
      </p:sp>
      <p:sp>
        <p:nvSpPr>
          <p:cNvPr id="25" name="Text 19"/>
          <p:cNvSpPr txBox="1"/>
          <p:nvPr/>
        </p:nvSpPr>
        <p:spPr>
          <a:xfrm>
            <a:off x="6923314" y="3676650"/>
            <a:ext cx="1426029" cy="476250"/>
          </a:xfrm>
          <a:prstGeom prst="rect">
            <a:avLst/>
          </a:prstGeom>
          <a:noFill/>
          <a:ln/>
        </p:spPr>
        <p:txBody>
          <a:bodyPr wrap="square" lIns="0" tIns="0" rIns="0" bIns="0" rtlCol="0" anchor="t"/>
          <a:lstStyle/>
          <a:p>
            <a:pPr algn="ctr" indent="0" marL="0">
              <a:lnSpc>
                <a:spcPct val="100000"/>
              </a:lnSpc>
              <a:buNone/>
            </a:pPr>
            <a:r>
              <a:rPr lang="en-US" sz="1350" b="1" dirty="0">
                <a:solidFill>
                  <a:srgbClr val="200020"/>
                </a:solidFill>
                <a:latin typeface="Manrope" pitchFamily="34" charset="0"/>
                <a:ea typeface="Manrope" pitchFamily="34" charset="-122"/>
                <a:cs typeface="Manrope" pitchFamily="34" charset="-120"/>
              </a:rPr>
              <a:t>Solución con Kiro</a:t>
            </a:r>
            <a:endParaRPr lang="en-US" sz="1350" dirty="0"/>
          </a:p>
        </p:txBody>
      </p:sp>
      <p:sp>
        <p:nvSpPr>
          <p:cNvPr id="26" name="Shape 20"/>
          <p:cNvSpPr/>
          <p:nvPr/>
        </p:nvSpPr>
        <p:spPr>
          <a:xfrm>
            <a:off x="8748032" y="2333625"/>
            <a:ext cx="857250" cy="857250"/>
          </a:xfrm>
          <a:prstGeom prst="roundRect">
            <a:avLst>
              <a:gd name="adj" fmla="val 24444"/>
            </a:avLst>
          </a:prstGeom>
          <a:solidFill>
            <a:srgbClr val="DA0081"/>
          </a:solidFill>
          <a:ln/>
        </p:spPr>
      </p:sp>
      <p:pic>
        <p:nvPicPr>
          <p:cNvPr id="27" name="Image 4" descr="preencoded.png">    </p:cNvPr>
          <p:cNvPicPr>
            <a:picLocks noChangeAspect="1"/>
          </p:cNvPicPr>
          <p:nvPr/>
        </p:nvPicPr>
        <p:blipFill>
          <a:blip r:embed="rId5"/>
          <a:stretch>
            <a:fillRect/>
          </a:stretch>
        </p:blipFill>
        <p:spPr>
          <a:xfrm>
            <a:off x="8996635" y="2582228"/>
            <a:ext cx="360045" cy="360045"/>
          </a:xfrm>
          <a:prstGeom prst="rect">
            <a:avLst/>
          </a:prstGeom>
        </p:spPr>
      </p:pic>
      <p:sp>
        <p:nvSpPr>
          <p:cNvPr id="28" name="Text 21"/>
          <p:cNvSpPr txBox="1"/>
          <p:nvPr/>
        </p:nvSpPr>
        <p:spPr>
          <a:xfrm>
            <a:off x="8463643" y="3390900"/>
            <a:ext cx="1426029" cy="247650"/>
          </a:xfrm>
          <a:prstGeom prst="rect">
            <a:avLst/>
          </a:prstGeom>
          <a:noFill/>
          <a:ln/>
        </p:spPr>
        <p:txBody>
          <a:bodyPr wrap="square" lIns="0" tIns="0" rIns="0" bIns="0" rtlCol="0" anchor="t"/>
          <a:lstStyle/>
          <a:p>
            <a:pPr algn="ctr" indent="0" marL="0">
              <a:lnSpc>
                <a:spcPct val="100000"/>
              </a:lnSpc>
              <a:buNone/>
            </a:pPr>
            <a:r>
              <a:rPr lang="en-US" sz="1500" b="1" dirty="0">
                <a:solidFill>
                  <a:srgbClr val="DA0081"/>
                </a:solidFill>
                <a:latin typeface="Manrope" pitchFamily="34" charset="0"/>
                <a:ea typeface="Manrope" pitchFamily="34" charset="-122"/>
                <a:cs typeface="Manrope" pitchFamily="34" charset="-120"/>
              </a:rPr>
              <a:t>06</a:t>
            </a:r>
            <a:endParaRPr lang="en-US" sz="1500" dirty="0"/>
          </a:p>
        </p:txBody>
      </p:sp>
      <p:sp>
        <p:nvSpPr>
          <p:cNvPr id="29" name="Text 22"/>
          <p:cNvSpPr txBox="1"/>
          <p:nvPr/>
        </p:nvSpPr>
        <p:spPr>
          <a:xfrm>
            <a:off x="8463643" y="3676650"/>
            <a:ext cx="1426029" cy="476250"/>
          </a:xfrm>
          <a:prstGeom prst="rect">
            <a:avLst/>
          </a:prstGeom>
          <a:noFill/>
          <a:ln/>
        </p:spPr>
        <p:txBody>
          <a:bodyPr wrap="square" lIns="0" tIns="0" rIns="0" bIns="0" rtlCol="0" anchor="t"/>
          <a:lstStyle/>
          <a:p>
            <a:pPr algn="ctr" indent="0" marL="0">
              <a:lnSpc>
                <a:spcPct val="100000"/>
              </a:lnSpc>
              <a:buNone/>
            </a:pPr>
            <a:r>
              <a:rPr lang="en-US" sz="1350" b="1" dirty="0">
                <a:solidFill>
                  <a:srgbClr val="200020"/>
                </a:solidFill>
                <a:latin typeface="Manrope" pitchFamily="34" charset="0"/>
                <a:ea typeface="Manrope" pitchFamily="34" charset="-122"/>
                <a:cs typeface="Manrope" pitchFamily="34" charset="-120"/>
              </a:rPr>
              <a:t>Taller</a:t>
            </a:r>
            <a:endParaRPr lang="en-US" sz="1350" dirty="0"/>
          </a:p>
        </p:txBody>
      </p:sp>
      <p:sp>
        <p:nvSpPr>
          <p:cNvPr id="30" name="Shape 23"/>
          <p:cNvSpPr/>
          <p:nvPr/>
        </p:nvSpPr>
        <p:spPr>
          <a:xfrm>
            <a:off x="10288361" y="2333625"/>
            <a:ext cx="857250" cy="857250"/>
          </a:xfrm>
          <a:prstGeom prst="roundRect">
            <a:avLst>
              <a:gd name="adj" fmla="val 24444"/>
            </a:avLst>
          </a:prstGeom>
          <a:solidFill>
            <a:srgbClr val="F1BFDA"/>
          </a:solidFill>
          <a:ln/>
        </p:spPr>
      </p:sp>
      <p:pic>
        <p:nvPicPr>
          <p:cNvPr id="31" name="Image 5" descr="preencoded.png">    </p:cNvPr>
          <p:cNvPicPr>
            <a:picLocks noChangeAspect="1"/>
          </p:cNvPicPr>
          <p:nvPr/>
        </p:nvPicPr>
        <p:blipFill>
          <a:blip r:embed="rId6"/>
          <a:stretch>
            <a:fillRect/>
          </a:stretch>
        </p:blipFill>
        <p:spPr>
          <a:xfrm>
            <a:off x="10536963" y="2582228"/>
            <a:ext cx="360045" cy="360045"/>
          </a:xfrm>
          <a:prstGeom prst="rect">
            <a:avLst/>
          </a:prstGeom>
        </p:spPr>
      </p:pic>
      <p:sp>
        <p:nvSpPr>
          <p:cNvPr id="32" name="Text 24"/>
          <p:cNvSpPr txBox="1"/>
          <p:nvPr/>
        </p:nvSpPr>
        <p:spPr>
          <a:xfrm>
            <a:off x="10003971" y="3390900"/>
            <a:ext cx="1426029" cy="247650"/>
          </a:xfrm>
          <a:prstGeom prst="rect">
            <a:avLst/>
          </a:prstGeom>
          <a:noFill/>
          <a:ln/>
        </p:spPr>
        <p:txBody>
          <a:bodyPr wrap="square" lIns="0" tIns="0" rIns="0" bIns="0" rtlCol="0" anchor="t"/>
          <a:lstStyle/>
          <a:p>
            <a:pPr algn="ctr" indent="0" marL="0">
              <a:lnSpc>
                <a:spcPct val="100000"/>
              </a:lnSpc>
              <a:buNone/>
            </a:pPr>
            <a:r>
              <a:rPr lang="en-US" sz="1500" b="1" dirty="0">
                <a:solidFill>
                  <a:srgbClr val="DA0081"/>
                </a:solidFill>
                <a:latin typeface="Manrope" pitchFamily="34" charset="0"/>
                <a:ea typeface="Manrope" pitchFamily="34" charset="-122"/>
                <a:cs typeface="Manrope" pitchFamily="34" charset="-120"/>
              </a:rPr>
              <a:t>07</a:t>
            </a:r>
            <a:endParaRPr lang="en-US" sz="1500" dirty="0"/>
          </a:p>
        </p:txBody>
      </p:sp>
      <p:sp>
        <p:nvSpPr>
          <p:cNvPr id="33" name="Text 25"/>
          <p:cNvSpPr txBox="1"/>
          <p:nvPr/>
        </p:nvSpPr>
        <p:spPr>
          <a:xfrm>
            <a:off x="10003971" y="3676650"/>
            <a:ext cx="1426029" cy="476250"/>
          </a:xfrm>
          <a:prstGeom prst="rect">
            <a:avLst/>
          </a:prstGeom>
          <a:noFill/>
          <a:ln/>
        </p:spPr>
        <p:txBody>
          <a:bodyPr wrap="square" lIns="0" tIns="0" rIns="0" bIns="0" rtlCol="0" anchor="t"/>
          <a:lstStyle/>
          <a:p>
            <a:pPr algn="ctr" indent="0" marL="0">
              <a:lnSpc>
                <a:spcPct val="100000"/>
              </a:lnSpc>
              <a:buNone/>
            </a:pPr>
            <a:r>
              <a:rPr lang="en-US" sz="1350" b="1" dirty="0">
                <a:solidFill>
                  <a:srgbClr val="200020"/>
                </a:solidFill>
                <a:latin typeface="Manrope" pitchFamily="34" charset="0"/>
                <a:ea typeface="Manrope" pitchFamily="34" charset="-122"/>
                <a:cs typeface="Manrope" pitchFamily="34" charset="-120"/>
              </a:rPr>
              <a:t>Trabajo futuro</a:t>
            </a:r>
            <a:endParaRPr lang="en-US" sz="1350" dirty="0"/>
          </a:p>
        </p:txBody>
      </p:sp>
      <p:sp>
        <p:nvSpPr>
          <p:cNvPr id="25" name="Slide Number Placeholder 0"/>
          <p:cNvSpPr>
            <a:spLocks noGrp="1"/>
          </p:cNvSpPr>
          <p:nvPr>
            <p:ph type="sldNum" sz="quarter" idx="4294967295"/>
          </p:nvPr>
        </p:nvSpPr>
        <p:spPr>
          <a:xfrm>
            <a:off x="9525000" y="6477000"/>
            <a:ext cx="47625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5A4A6A"/>
                </a:solidFill>
                <a:latin typeface="Manrope"/>
                <a:ea typeface="Manrope"/>
                <a:cs typeface="Manrope"/>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62000" y="657225"/>
            <a:ext cx="95250" cy="95250"/>
          </a:xfrm>
          <a:prstGeom prst="roundRect">
            <a:avLst>
              <a:gd name="adj" fmla="val 20000"/>
            </a:avLst>
          </a:prstGeom>
          <a:solidFill>
            <a:srgbClr val="DA0081"/>
          </a:solidFill>
          <a:ln/>
        </p:spPr>
      </p:sp>
      <p:sp>
        <p:nvSpPr>
          <p:cNvPr id="3" name="Text 1"/>
          <p:cNvSpPr txBox="1"/>
          <p:nvPr/>
        </p:nvSpPr>
        <p:spPr>
          <a:xfrm>
            <a:off x="952500" y="609600"/>
            <a:ext cx="7620000" cy="190500"/>
          </a:xfrm>
          <a:prstGeom prst="rect">
            <a:avLst/>
          </a:prstGeom>
          <a:noFill/>
          <a:ln/>
        </p:spPr>
        <p:txBody>
          <a:bodyPr wrap="square" lIns="0" tIns="0" rIns="0" bIns="0" rtlCol="0" anchor="ctr"/>
          <a:lstStyle/>
          <a:p>
            <a:pPr algn="l" indent="0" marL="0">
              <a:lnSpc>
                <a:spcPct val="100000"/>
              </a:lnSpc>
              <a:buNone/>
            </a:pPr>
            <a:r>
              <a:rPr lang="en-US" sz="1130" b="1" spc="200" kern="0" dirty="0">
                <a:solidFill>
                  <a:srgbClr val="DA0081"/>
                </a:solidFill>
                <a:latin typeface="Manrope" pitchFamily="34" charset="0"/>
                <a:ea typeface="Manrope" pitchFamily="34" charset="-122"/>
                <a:cs typeface="Manrope" pitchFamily="34" charset="-120"/>
              </a:rPr>
              <a:t>01 · CONTEXTO</a:t>
            </a:r>
            <a:endParaRPr lang="en-US" sz="1130" dirty="0"/>
          </a:p>
        </p:txBody>
      </p:sp>
      <p:sp>
        <p:nvSpPr>
          <p:cNvPr id="4" name="Text 2"/>
          <p:cNvSpPr txBox="1"/>
          <p:nvPr/>
        </p:nvSpPr>
        <p:spPr>
          <a:xfrm>
            <a:off x="762000" y="876300"/>
            <a:ext cx="9525000" cy="1047750"/>
          </a:xfrm>
          <a:prstGeom prst="rect">
            <a:avLst/>
          </a:prstGeom>
          <a:noFill/>
          <a:ln/>
        </p:spPr>
        <p:txBody>
          <a:bodyPr wrap="square" lIns="0" tIns="0" rIns="0" bIns="0" rtlCol="0" anchor="t"/>
          <a:lstStyle/>
          <a:p>
            <a:pPr algn="l" indent="0" marL="0">
              <a:lnSpc>
                <a:spcPct val="95000"/>
              </a:lnSpc>
              <a:buNone/>
            </a:pPr>
            <a:r>
              <a:rPr lang="en-US" sz="3150" b="1" dirty="0">
                <a:solidFill>
                  <a:srgbClr val="200020"/>
                </a:solidFill>
                <a:latin typeface="Manrope" pitchFamily="34" charset="0"/>
                <a:ea typeface="Manrope" pitchFamily="34" charset="-122"/>
                <a:cs typeface="Manrope" pitchFamily="34" charset="-120"/>
              </a:rPr>
              <a:t>De una idea a un Neobanco… </a:t>
            </a:r>
            <a:pPr algn="l" indent="0" marL="0">
              <a:lnSpc>
                <a:spcPct val="95000"/>
              </a:lnSpc>
              <a:buNone/>
            </a:pPr>
            <a:r>
              <a:rPr lang="en-US" sz="3150" b="1" dirty="0">
                <a:solidFill>
                  <a:srgbClr val="DA0081"/>
                </a:solidFill>
                <a:latin typeface="Manrope" pitchFamily="34" charset="0"/>
                <a:ea typeface="Manrope" pitchFamily="34" charset="-122"/>
                <a:cs typeface="Manrope" pitchFamily="34" charset="-120"/>
              </a:rPr>
              <a:t>con legado incluido</a:t>
            </a:r>
            <a:endParaRPr lang="en-US" sz="3150" dirty="0"/>
          </a:p>
        </p:txBody>
      </p:sp>
      <p:sp>
        <p:nvSpPr>
          <p:cNvPr id="5" name="Shape 3"/>
          <p:cNvSpPr/>
          <p:nvPr/>
        </p:nvSpPr>
        <p:spPr>
          <a:xfrm>
            <a:off x="762000" y="1714500"/>
            <a:ext cx="10668000" cy="2286000"/>
          </a:xfrm>
          <a:prstGeom prst="roundRect">
            <a:avLst>
              <a:gd name="adj" fmla="val 6667"/>
            </a:avLst>
          </a:prstGeom>
          <a:solidFill>
            <a:srgbClr val="FFFFFF"/>
          </a:solidFill>
          <a:ln/>
        </p:spPr>
      </p:sp>
      <p:sp>
        <p:nvSpPr>
          <p:cNvPr id="6" name="Shape 4"/>
          <p:cNvSpPr/>
          <p:nvPr/>
        </p:nvSpPr>
        <p:spPr>
          <a:xfrm>
            <a:off x="1028700" y="1924050"/>
            <a:ext cx="4953000" cy="285750"/>
          </a:xfrm>
          <a:prstGeom prst="roundRect">
            <a:avLst>
              <a:gd name="adj" fmla="val 23333"/>
            </a:avLst>
          </a:prstGeom>
          <a:solidFill>
            <a:srgbClr val="ECE7F5"/>
          </a:solidFill>
          <a:ln/>
        </p:spPr>
      </p:sp>
      <p:pic>
        <p:nvPicPr>
          <p:cNvPr id="7" name="Image 0" descr="preencoded.png">    </p:cNvPr>
          <p:cNvPicPr>
            <a:picLocks noChangeAspect="1"/>
          </p:cNvPicPr>
          <p:nvPr/>
        </p:nvPicPr>
        <p:blipFill>
          <a:blip r:embed="rId1"/>
          <a:stretch>
            <a:fillRect/>
          </a:stretch>
        </p:blipFill>
        <p:spPr>
          <a:xfrm>
            <a:off x="1104900" y="1971675"/>
            <a:ext cx="190500" cy="190500"/>
          </a:xfrm>
          <a:prstGeom prst="rect">
            <a:avLst/>
          </a:prstGeom>
        </p:spPr>
      </p:pic>
      <p:sp>
        <p:nvSpPr>
          <p:cNvPr id="8" name="Text 5"/>
          <p:cNvSpPr txBox="1"/>
          <p:nvPr/>
        </p:nvSpPr>
        <p:spPr>
          <a:xfrm>
            <a:off x="1371600" y="1924050"/>
            <a:ext cx="4572000" cy="285750"/>
          </a:xfrm>
          <a:prstGeom prst="rect">
            <a:avLst/>
          </a:prstGeom>
          <a:noFill/>
          <a:ln/>
        </p:spPr>
        <p:txBody>
          <a:bodyPr wrap="square" lIns="0" tIns="0" rIns="0" bIns="0" rtlCol="0" anchor="ctr"/>
          <a:lstStyle/>
          <a:p>
            <a:pPr algn="l" indent="0" marL="0">
              <a:lnSpc>
                <a:spcPct val="100000"/>
              </a:lnSpc>
              <a:buNone/>
            </a:pPr>
            <a:r>
              <a:rPr lang="en-US" sz="980" b="1" dirty="0">
                <a:solidFill>
                  <a:srgbClr val="200020"/>
                </a:solidFill>
                <a:latin typeface="Manrope" pitchFamily="34" charset="0"/>
                <a:ea typeface="Manrope" pitchFamily="34" charset="-122"/>
                <a:cs typeface="Manrope" pitchFamily="34" charset="-120"/>
              </a:rPr>
              <a:t>Ej.: versiones de la misma funcionalidad separadas por ramas</a:t>
            </a:r>
            <a:endParaRPr lang="en-US" sz="980" dirty="0"/>
          </a:p>
        </p:txBody>
      </p:sp>
      <p:sp>
        <p:nvSpPr>
          <p:cNvPr id="9" name="Shape 6"/>
          <p:cNvSpPr/>
          <p:nvPr/>
        </p:nvSpPr>
        <p:spPr>
          <a:xfrm>
            <a:off x="1333500" y="3286125"/>
            <a:ext cx="9810750" cy="95"/>
          </a:xfrm>
          <a:prstGeom prst="line">
            <a:avLst/>
          </a:prstGeom>
          <a:noFill/>
          <a:ln w="38100">
            <a:solidFill>
              <a:srgbClr val="F1BFDA"/>
            </a:solidFill>
            <a:prstDash val="solid"/>
          </a:ln>
        </p:spPr>
      </p:sp>
      <p:sp>
        <p:nvSpPr>
          <p:cNvPr id="10" name="Shape 7"/>
          <p:cNvSpPr/>
          <p:nvPr/>
        </p:nvSpPr>
        <p:spPr>
          <a:xfrm flipV="1">
            <a:off x="1619250" y="2333625"/>
            <a:ext cx="9239250" cy="838200"/>
          </a:xfrm>
          <a:prstGeom prst="line">
            <a:avLst/>
          </a:prstGeom>
          <a:noFill/>
          <a:ln w="38100">
            <a:solidFill>
              <a:srgbClr val="DA0081"/>
            </a:solidFill>
            <a:prstDash val="sysDot"/>
            <a:tailEnd type="triangle"/>
          </a:ln>
        </p:spPr>
      </p:sp>
      <p:sp>
        <p:nvSpPr>
          <p:cNvPr id="11" name="Text 8"/>
          <p:cNvSpPr txBox="1"/>
          <p:nvPr/>
        </p:nvSpPr>
        <p:spPr>
          <a:xfrm>
            <a:off x="8191500" y="2038350"/>
            <a:ext cx="2667000" cy="209550"/>
          </a:xfrm>
          <a:prstGeom prst="rect">
            <a:avLst/>
          </a:prstGeom>
          <a:noFill/>
          <a:ln/>
        </p:spPr>
        <p:txBody>
          <a:bodyPr wrap="square" lIns="0" tIns="0" rIns="0" bIns="0" rtlCol="0" anchor="t"/>
          <a:lstStyle/>
          <a:p>
            <a:pPr algn="r" indent="0" marL="0">
              <a:lnSpc>
                <a:spcPct val="100000"/>
              </a:lnSpc>
              <a:buNone/>
            </a:pPr>
            <a:r>
              <a:rPr lang="en-US" sz="1130" b="1" dirty="0">
                <a:solidFill>
                  <a:srgbClr val="DA0081"/>
                </a:solidFill>
                <a:latin typeface="Manrope" pitchFamily="34" charset="0"/>
                <a:ea typeface="Manrope" pitchFamily="34" charset="-122"/>
                <a:cs typeface="Manrope" pitchFamily="34" charset="-120"/>
              </a:rPr>
              <a:t>deuda técnica acumulada ↑</a:t>
            </a:r>
            <a:endParaRPr lang="en-US" sz="1130" dirty="0"/>
          </a:p>
        </p:txBody>
      </p:sp>
      <p:sp>
        <p:nvSpPr>
          <p:cNvPr id="12" name="Shape 9"/>
          <p:cNvSpPr/>
          <p:nvPr/>
        </p:nvSpPr>
        <p:spPr>
          <a:xfrm>
            <a:off x="1895475" y="3181350"/>
            <a:ext cx="209550" cy="209550"/>
          </a:xfrm>
          <a:prstGeom prst="roundRect">
            <a:avLst>
              <a:gd name="adj" fmla="val 22727"/>
            </a:avLst>
          </a:prstGeom>
          <a:solidFill>
            <a:srgbClr val="200020"/>
          </a:solidFill>
          <a:ln/>
        </p:spPr>
      </p:sp>
      <p:sp>
        <p:nvSpPr>
          <p:cNvPr id="13" name="Text 10"/>
          <p:cNvSpPr txBox="1"/>
          <p:nvPr/>
        </p:nvSpPr>
        <p:spPr>
          <a:xfrm>
            <a:off x="857250" y="3505200"/>
            <a:ext cx="2286000" cy="228600"/>
          </a:xfrm>
          <a:prstGeom prst="rect">
            <a:avLst/>
          </a:prstGeom>
          <a:noFill/>
          <a:ln/>
        </p:spPr>
        <p:txBody>
          <a:bodyPr wrap="square" lIns="0" tIns="0" rIns="0" bIns="0" rtlCol="0" anchor="t"/>
          <a:lstStyle/>
          <a:p>
            <a:pPr algn="ctr" indent="0" marL="0">
              <a:lnSpc>
                <a:spcPct val="100000"/>
              </a:lnSpc>
              <a:buNone/>
            </a:pPr>
            <a:r>
              <a:rPr lang="en-US" sz="1200" b="1" dirty="0">
                <a:solidFill>
                  <a:srgbClr val="200020"/>
                </a:solidFill>
                <a:latin typeface="Manrope" pitchFamily="34" charset="0"/>
                <a:ea typeface="Manrope" pitchFamily="34" charset="-122"/>
                <a:cs typeface="Manrope" pitchFamily="34" charset="-120"/>
              </a:rPr>
              <a:t>Idea</a:t>
            </a:r>
            <a:endParaRPr lang="en-US" sz="1200" dirty="0"/>
          </a:p>
        </p:txBody>
      </p:sp>
      <p:sp>
        <p:nvSpPr>
          <p:cNvPr id="14" name="Shape 11"/>
          <p:cNvSpPr/>
          <p:nvPr/>
        </p:nvSpPr>
        <p:spPr>
          <a:xfrm>
            <a:off x="4562475" y="3181350"/>
            <a:ext cx="209550" cy="209550"/>
          </a:xfrm>
          <a:prstGeom prst="roundRect">
            <a:avLst>
              <a:gd name="adj" fmla="val 22727"/>
            </a:avLst>
          </a:prstGeom>
          <a:solidFill>
            <a:srgbClr val="200020"/>
          </a:solidFill>
          <a:ln/>
        </p:spPr>
      </p:sp>
      <p:sp>
        <p:nvSpPr>
          <p:cNvPr id="15" name="Text 12"/>
          <p:cNvSpPr txBox="1"/>
          <p:nvPr/>
        </p:nvSpPr>
        <p:spPr>
          <a:xfrm>
            <a:off x="3524250" y="3505200"/>
            <a:ext cx="2286000" cy="228600"/>
          </a:xfrm>
          <a:prstGeom prst="rect">
            <a:avLst/>
          </a:prstGeom>
          <a:noFill/>
          <a:ln/>
        </p:spPr>
        <p:txBody>
          <a:bodyPr wrap="square" lIns="0" tIns="0" rIns="0" bIns="0" rtlCol="0" anchor="t"/>
          <a:lstStyle/>
          <a:p>
            <a:pPr algn="ctr" indent="0" marL="0">
              <a:lnSpc>
                <a:spcPct val="100000"/>
              </a:lnSpc>
              <a:buNone/>
            </a:pPr>
            <a:r>
              <a:rPr lang="en-US" sz="1200" b="1" dirty="0">
                <a:solidFill>
                  <a:srgbClr val="200020"/>
                </a:solidFill>
                <a:latin typeface="Manrope" pitchFamily="34" charset="0"/>
                <a:ea typeface="Manrope" pitchFamily="34" charset="-122"/>
                <a:cs typeface="Manrope" pitchFamily="34" charset="-120"/>
              </a:rPr>
              <a:t>Experimentar y probar</a:t>
            </a:r>
            <a:endParaRPr lang="en-US" sz="1200" dirty="0"/>
          </a:p>
        </p:txBody>
      </p:sp>
      <p:sp>
        <p:nvSpPr>
          <p:cNvPr id="16" name="Shape 13"/>
          <p:cNvSpPr/>
          <p:nvPr/>
        </p:nvSpPr>
        <p:spPr>
          <a:xfrm>
            <a:off x="7229475" y="3181350"/>
            <a:ext cx="209550" cy="209550"/>
          </a:xfrm>
          <a:prstGeom prst="roundRect">
            <a:avLst>
              <a:gd name="adj" fmla="val 22727"/>
            </a:avLst>
          </a:prstGeom>
          <a:solidFill>
            <a:srgbClr val="200020"/>
          </a:solidFill>
          <a:ln/>
        </p:spPr>
      </p:sp>
      <p:sp>
        <p:nvSpPr>
          <p:cNvPr id="17" name="Text 14"/>
          <p:cNvSpPr txBox="1"/>
          <p:nvPr/>
        </p:nvSpPr>
        <p:spPr>
          <a:xfrm>
            <a:off x="6191250" y="3505200"/>
            <a:ext cx="2286000" cy="228600"/>
          </a:xfrm>
          <a:prstGeom prst="rect">
            <a:avLst/>
          </a:prstGeom>
          <a:noFill/>
          <a:ln/>
        </p:spPr>
        <p:txBody>
          <a:bodyPr wrap="square" lIns="0" tIns="0" rIns="0" bIns="0" rtlCol="0" anchor="t"/>
          <a:lstStyle/>
          <a:p>
            <a:pPr algn="ctr" indent="0" marL="0">
              <a:lnSpc>
                <a:spcPct val="100000"/>
              </a:lnSpc>
              <a:buNone/>
            </a:pPr>
            <a:r>
              <a:rPr lang="en-US" sz="1200" b="1" dirty="0">
                <a:solidFill>
                  <a:srgbClr val="200020"/>
                </a:solidFill>
                <a:latin typeface="Manrope" pitchFamily="34" charset="0"/>
                <a:ea typeface="Manrope" pitchFamily="34" charset="-122"/>
                <a:cs typeface="Manrope" pitchFamily="34" charset="-120"/>
              </a:rPr>
              <a:t>Crecer rápido</a:t>
            </a:r>
            <a:endParaRPr lang="en-US" sz="1200" dirty="0"/>
          </a:p>
        </p:txBody>
      </p:sp>
      <p:sp>
        <p:nvSpPr>
          <p:cNvPr id="18" name="Shape 15"/>
          <p:cNvSpPr/>
          <p:nvPr/>
        </p:nvSpPr>
        <p:spPr>
          <a:xfrm>
            <a:off x="9896475" y="3181350"/>
            <a:ext cx="209550" cy="209550"/>
          </a:xfrm>
          <a:prstGeom prst="roundRect">
            <a:avLst>
              <a:gd name="adj" fmla="val 22727"/>
            </a:avLst>
          </a:prstGeom>
          <a:solidFill>
            <a:srgbClr val="DA0081"/>
          </a:solidFill>
          <a:ln/>
        </p:spPr>
      </p:sp>
      <p:sp>
        <p:nvSpPr>
          <p:cNvPr id="19" name="Text 16"/>
          <p:cNvSpPr txBox="1"/>
          <p:nvPr/>
        </p:nvSpPr>
        <p:spPr>
          <a:xfrm>
            <a:off x="8858250" y="3505200"/>
            <a:ext cx="2286000" cy="228600"/>
          </a:xfrm>
          <a:prstGeom prst="rect">
            <a:avLst/>
          </a:prstGeom>
          <a:noFill/>
          <a:ln/>
        </p:spPr>
        <p:txBody>
          <a:bodyPr wrap="square" lIns="0" tIns="0" rIns="0" bIns="0" rtlCol="0" anchor="t"/>
          <a:lstStyle/>
          <a:p>
            <a:pPr algn="ctr" indent="0" marL="0">
              <a:lnSpc>
                <a:spcPct val="100000"/>
              </a:lnSpc>
              <a:buNone/>
            </a:pPr>
            <a:r>
              <a:rPr lang="en-US" sz="1200" b="1" dirty="0">
                <a:solidFill>
                  <a:srgbClr val="DA0081"/>
                </a:solidFill>
                <a:latin typeface="Manrope" pitchFamily="34" charset="0"/>
                <a:ea typeface="Manrope" pitchFamily="34" charset="-122"/>
                <a:cs typeface="Manrope" pitchFamily="34" charset="-120"/>
              </a:rPr>
              <a:t>Neobanco</a:t>
            </a:r>
            <a:endParaRPr lang="en-US" sz="1200" dirty="0"/>
          </a:p>
        </p:txBody>
      </p:sp>
      <p:sp>
        <p:nvSpPr>
          <p:cNvPr id="20" name="Text 17"/>
          <p:cNvSpPr txBox="1"/>
          <p:nvPr/>
        </p:nvSpPr>
        <p:spPr>
          <a:xfrm>
            <a:off x="762000" y="4229100"/>
            <a:ext cx="3810000" cy="209550"/>
          </a:xfrm>
          <a:prstGeom prst="rect">
            <a:avLst/>
          </a:prstGeom>
          <a:noFill/>
          <a:ln/>
        </p:spPr>
        <p:txBody>
          <a:bodyPr wrap="square" lIns="0" tIns="0" rIns="0" bIns="0" rtlCol="0" anchor="t"/>
          <a:lstStyle/>
          <a:p>
            <a:pPr algn="l" indent="0" marL="0">
              <a:lnSpc>
                <a:spcPct val="100000"/>
              </a:lnSpc>
              <a:buNone/>
            </a:pPr>
            <a:r>
              <a:rPr lang="en-US" sz="1130" b="1" dirty="0">
                <a:solidFill>
                  <a:srgbClr val="200020"/>
                </a:solidFill>
                <a:latin typeface="Manrope" pitchFamily="34" charset="0"/>
                <a:ea typeface="Manrope" pitchFamily="34" charset="-122"/>
                <a:cs typeface="Manrope" pitchFamily="34" charset="-120"/>
              </a:rPr>
              <a:t>Causas a resaltar</a:t>
            </a:r>
            <a:endParaRPr lang="en-US" sz="1130" dirty="0"/>
          </a:p>
        </p:txBody>
      </p:sp>
      <p:sp>
        <p:nvSpPr>
          <p:cNvPr id="21" name="Shape 18"/>
          <p:cNvSpPr/>
          <p:nvPr/>
        </p:nvSpPr>
        <p:spPr>
          <a:xfrm>
            <a:off x="762000" y="4533900"/>
            <a:ext cx="2524125" cy="1143000"/>
          </a:xfrm>
          <a:prstGeom prst="roundRect">
            <a:avLst>
              <a:gd name="adj" fmla="val 13333"/>
            </a:avLst>
          </a:prstGeom>
          <a:solidFill>
            <a:srgbClr val="FFFFFF"/>
          </a:solidFill>
          <a:ln/>
        </p:spPr>
      </p:sp>
      <p:sp>
        <p:nvSpPr>
          <p:cNvPr id="22" name="Shape 19"/>
          <p:cNvSpPr/>
          <p:nvPr/>
        </p:nvSpPr>
        <p:spPr>
          <a:xfrm>
            <a:off x="952500" y="4857750"/>
            <a:ext cx="495300" cy="495300"/>
          </a:xfrm>
          <a:prstGeom prst="roundRect">
            <a:avLst>
              <a:gd name="adj" fmla="val 26923"/>
            </a:avLst>
          </a:prstGeom>
          <a:solidFill>
            <a:srgbClr val="F1BFDA"/>
          </a:solidFill>
          <a:ln/>
        </p:spPr>
      </p:sp>
      <p:pic>
        <p:nvPicPr>
          <p:cNvPr id="23" name="Image 1" descr="preencoded.png">    </p:cNvPr>
          <p:cNvPicPr>
            <a:picLocks noChangeAspect="1"/>
          </p:cNvPicPr>
          <p:nvPr/>
        </p:nvPicPr>
        <p:blipFill>
          <a:blip r:embed="rId2"/>
          <a:stretch>
            <a:fillRect/>
          </a:stretch>
        </p:blipFill>
        <p:spPr>
          <a:xfrm>
            <a:off x="1076325" y="4981575"/>
            <a:ext cx="247650" cy="247650"/>
          </a:xfrm>
          <a:prstGeom prst="rect">
            <a:avLst/>
          </a:prstGeom>
        </p:spPr>
      </p:pic>
      <p:sp>
        <p:nvSpPr>
          <p:cNvPr id="24" name="Text 20"/>
          <p:cNvSpPr txBox="1"/>
          <p:nvPr/>
        </p:nvSpPr>
        <p:spPr>
          <a:xfrm>
            <a:off x="1581150" y="4533900"/>
            <a:ext cx="1571625" cy="1143000"/>
          </a:xfrm>
          <a:prstGeom prst="rect">
            <a:avLst/>
          </a:prstGeom>
          <a:noFill/>
          <a:ln/>
        </p:spPr>
        <p:txBody>
          <a:bodyPr wrap="square" lIns="0" tIns="0" rIns="0" bIns="0" rtlCol="0" anchor="ctr"/>
          <a:lstStyle/>
          <a:p>
            <a:pPr algn="l" indent="0" marL="0">
              <a:lnSpc>
                <a:spcPct val="100000"/>
              </a:lnSpc>
              <a:buNone/>
            </a:pPr>
            <a:r>
              <a:rPr lang="en-US" sz="1200" b="1" dirty="0">
                <a:solidFill>
                  <a:srgbClr val="200020"/>
                </a:solidFill>
                <a:latin typeface="Manrope" pitchFamily="34" charset="0"/>
                <a:ea typeface="Manrope" pitchFamily="34" charset="-122"/>
                <a:cs typeface="Manrope" pitchFamily="34" charset="-120"/>
              </a:rPr>
              <a:t>Proyecto evolutivo que nació de una idea</a:t>
            </a:r>
            <a:endParaRPr lang="en-US" sz="1200" dirty="0"/>
          </a:p>
        </p:txBody>
      </p:sp>
      <p:sp>
        <p:nvSpPr>
          <p:cNvPr id="25" name="Shape 21"/>
          <p:cNvSpPr/>
          <p:nvPr/>
        </p:nvSpPr>
        <p:spPr>
          <a:xfrm>
            <a:off x="3476625" y="4533900"/>
            <a:ext cx="2524125" cy="1143000"/>
          </a:xfrm>
          <a:prstGeom prst="roundRect">
            <a:avLst>
              <a:gd name="adj" fmla="val 13333"/>
            </a:avLst>
          </a:prstGeom>
          <a:solidFill>
            <a:srgbClr val="FFFFFF"/>
          </a:solidFill>
          <a:ln/>
        </p:spPr>
      </p:sp>
      <p:sp>
        <p:nvSpPr>
          <p:cNvPr id="26" name="Shape 22"/>
          <p:cNvSpPr/>
          <p:nvPr/>
        </p:nvSpPr>
        <p:spPr>
          <a:xfrm>
            <a:off x="3667125" y="4857750"/>
            <a:ext cx="495300" cy="495300"/>
          </a:xfrm>
          <a:prstGeom prst="roundRect">
            <a:avLst>
              <a:gd name="adj" fmla="val 26923"/>
            </a:avLst>
          </a:prstGeom>
          <a:solidFill>
            <a:srgbClr val="F1BFDA"/>
          </a:solidFill>
          <a:ln/>
        </p:spPr>
      </p:sp>
      <p:pic>
        <p:nvPicPr>
          <p:cNvPr id="27" name="Image 2" descr="preencoded.png">    </p:cNvPr>
          <p:cNvPicPr>
            <a:picLocks noChangeAspect="1"/>
          </p:cNvPicPr>
          <p:nvPr/>
        </p:nvPicPr>
        <p:blipFill>
          <a:blip r:embed="rId3"/>
          <a:stretch>
            <a:fillRect/>
          </a:stretch>
        </p:blipFill>
        <p:spPr>
          <a:xfrm>
            <a:off x="3790950" y="4981575"/>
            <a:ext cx="247650" cy="247650"/>
          </a:xfrm>
          <a:prstGeom prst="rect">
            <a:avLst/>
          </a:prstGeom>
        </p:spPr>
      </p:pic>
      <p:sp>
        <p:nvSpPr>
          <p:cNvPr id="28" name="Text 23"/>
          <p:cNvSpPr txBox="1"/>
          <p:nvPr/>
        </p:nvSpPr>
        <p:spPr>
          <a:xfrm>
            <a:off x="4295775" y="4533900"/>
            <a:ext cx="1571625" cy="1143000"/>
          </a:xfrm>
          <a:prstGeom prst="rect">
            <a:avLst/>
          </a:prstGeom>
          <a:noFill/>
          <a:ln/>
        </p:spPr>
        <p:txBody>
          <a:bodyPr wrap="square" lIns="0" tIns="0" rIns="0" bIns="0" rtlCol="0" anchor="ctr"/>
          <a:lstStyle/>
          <a:p>
            <a:pPr algn="l" indent="0" marL="0">
              <a:lnSpc>
                <a:spcPct val="100000"/>
              </a:lnSpc>
              <a:buNone/>
            </a:pPr>
            <a:r>
              <a:rPr lang="en-US" sz="1200" b="1" dirty="0">
                <a:solidFill>
                  <a:srgbClr val="200020"/>
                </a:solidFill>
                <a:latin typeface="Manrope" pitchFamily="34" charset="0"/>
                <a:ea typeface="Manrope" pitchFamily="34" charset="-122"/>
                <a:cs typeface="Manrope" pitchFamily="34" charset="-120"/>
              </a:rPr>
              <a:t>Una sola tecnología para todo</a:t>
            </a:r>
            <a:endParaRPr lang="en-US" sz="1200" dirty="0"/>
          </a:p>
        </p:txBody>
      </p:sp>
      <p:sp>
        <p:nvSpPr>
          <p:cNvPr id="29" name="Shape 24"/>
          <p:cNvSpPr/>
          <p:nvPr/>
        </p:nvSpPr>
        <p:spPr>
          <a:xfrm>
            <a:off x="6191250" y="4533900"/>
            <a:ext cx="2524125" cy="1143000"/>
          </a:xfrm>
          <a:prstGeom prst="roundRect">
            <a:avLst>
              <a:gd name="adj" fmla="val 13333"/>
            </a:avLst>
          </a:prstGeom>
          <a:solidFill>
            <a:srgbClr val="FFFFFF"/>
          </a:solidFill>
          <a:ln/>
        </p:spPr>
      </p:sp>
      <p:sp>
        <p:nvSpPr>
          <p:cNvPr id="30" name="Shape 25"/>
          <p:cNvSpPr/>
          <p:nvPr/>
        </p:nvSpPr>
        <p:spPr>
          <a:xfrm>
            <a:off x="6381750" y="4857750"/>
            <a:ext cx="495300" cy="495300"/>
          </a:xfrm>
          <a:prstGeom prst="roundRect">
            <a:avLst>
              <a:gd name="adj" fmla="val 26923"/>
            </a:avLst>
          </a:prstGeom>
          <a:solidFill>
            <a:srgbClr val="F1BFDA"/>
          </a:solidFill>
          <a:ln/>
        </p:spPr>
      </p:sp>
      <p:pic>
        <p:nvPicPr>
          <p:cNvPr id="31" name="Image 3" descr="preencoded.png">    </p:cNvPr>
          <p:cNvPicPr>
            <a:picLocks noChangeAspect="1"/>
          </p:cNvPicPr>
          <p:nvPr/>
        </p:nvPicPr>
        <p:blipFill>
          <a:blip r:embed="rId4"/>
          <a:stretch>
            <a:fillRect/>
          </a:stretch>
        </p:blipFill>
        <p:spPr>
          <a:xfrm>
            <a:off x="6505575" y="4981575"/>
            <a:ext cx="247650" cy="247650"/>
          </a:xfrm>
          <a:prstGeom prst="rect">
            <a:avLst/>
          </a:prstGeom>
        </p:spPr>
      </p:pic>
      <p:sp>
        <p:nvSpPr>
          <p:cNvPr id="32" name="Text 26"/>
          <p:cNvSpPr txBox="1"/>
          <p:nvPr/>
        </p:nvSpPr>
        <p:spPr>
          <a:xfrm>
            <a:off x="7010400" y="4533900"/>
            <a:ext cx="1571625" cy="1143000"/>
          </a:xfrm>
          <a:prstGeom prst="rect">
            <a:avLst/>
          </a:prstGeom>
          <a:noFill/>
          <a:ln/>
        </p:spPr>
        <p:txBody>
          <a:bodyPr wrap="square" lIns="0" tIns="0" rIns="0" bIns="0" rtlCol="0" anchor="ctr"/>
          <a:lstStyle/>
          <a:p>
            <a:pPr algn="l" indent="0" marL="0">
              <a:lnSpc>
                <a:spcPct val="100000"/>
              </a:lnSpc>
              <a:buNone/>
            </a:pPr>
            <a:r>
              <a:rPr lang="en-US" sz="1200" b="1" dirty="0">
                <a:solidFill>
                  <a:srgbClr val="200020"/>
                </a:solidFill>
                <a:latin typeface="Manrope" pitchFamily="34" charset="0"/>
                <a:ea typeface="Manrope" pitchFamily="34" charset="-122"/>
                <a:cs typeface="Manrope" pitchFamily="34" charset="-120"/>
              </a:rPr>
              <a:t>10 años de evolución de la nube pasados por alto</a:t>
            </a:r>
            <a:endParaRPr lang="en-US" sz="1200" dirty="0"/>
          </a:p>
        </p:txBody>
      </p:sp>
      <p:sp>
        <p:nvSpPr>
          <p:cNvPr id="33" name="Shape 27"/>
          <p:cNvSpPr/>
          <p:nvPr/>
        </p:nvSpPr>
        <p:spPr>
          <a:xfrm>
            <a:off x="8905875" y="4533900"/>
            <a:ext cx="2524125" cy="1143000"/>
          </a:xfrm>
          <a:prstGeom prst="roundRect">
            <a:avLst>
              <a:gd name="adj" fmla="val 13333"/>
            </a:avLst>
          </a:prstGeom>
          <a:solidFill>
            <a:srgbClr val="FFFFFF"/>
          </a:solidFill>
          <a:ln/>
        </p:spPr>
      </p:sp>
      <p:sp>
        <p:nvSpPr>
          <p:cNvPr id="34" name="Shape 28"/>
          <p:cNvSpPr/>
          <p:nvPr/>
        </p:nvSpPr>
        <p:spPr>
          <a:xfrm>
            <a:off x="9096375" y="4857750"/>
            <a:ext cx="495300" cy="495300"/>
          </a:xfrm>
          <a:prstGeom prst="roundRect">
            <a:avLst>
              <a:gd name="adj" fmla="val 26923"/>
            </a:avLst>
          </a:prstGeom>
          <a:solidFill>
            <a:srgbClr val="F1BFDA"/>
          </a:solidFill>
          <a:ln/>
        </p:spPr>
      </p:sp>
      <p:pic>
        <p:nvPicPr>
          <p:cNvPr id="35" name="Image 4" descr="preencoded.png">    </p:cNvPr>
          <p:cNvPicPr>
            <a:picLocks noChangeAspect="1"/>
          </p:cNvPicPr>
          <p:nvPr/>
        </p:nvPicPr>
        <p:blipFill>
          <a:blip r:embed="rId5"/>
          <a:stretch>
            <a:fillRect/>
          </a:stretch>
        </p:blipFill>
        <p:spPr>
          <a:xfrm>
            <a:off x="9220200" y="4981575"/>
            <a:ext cx="247650" cy="247650"/>
          </a:xfrm>
          <a:prstGeom prst="rect">
            <a:avLst/>
          </a:prstGeom>
        </p:spPr>
      </p:pic>
      <p:sp>
        <p:nvSpPr>
          <p:cNvPr id="36" name="Text 29"/>
          <p:cNvSpPr txBox="1"/>
          <p:nvPr/>
        </p:nvSpPr>
        <p:spPr>
          <a:xfrm>
            <a:off x="9725025" y="4533900"/>
            <a:ext cx="1571625" cy="1143000"/>
          </a:xfrm>
          <a:prstGeom prst="rect">
            <a:avLst/>
          </a:prstGeom>
          <a:noFill/>
          <a:ln/>
        </p:spPr>
        <p:txBody>
          <a:bodyPr wrap="square" lIns="0" tIns="0" rIns="0" bIns="0" rtlCol="0" anchor="ctr"/>
          <a:lstStyle/>
          <a:p>
            <a:pPr algn="l" indent="0" marL="0">
              <a:lnSpc>
                <a:spcPct val="100000"/>
              </a:lnSpc>
              <a:buNone/>
            </a:pPr>
            <a:r>
              <a:rPr lang="en-US" sz="1200" b="1" dirty="0">
                <a:solidFill>
                  <a:srgbClr val="200020"/>
                </a:solidFill>
                <a:latin typeface="Manrope" pitchFamily="34" charset="0"/>
                <a:ea typeface="Manrope" pitchFamily="34" charset="-122"/>
                <a:cs typeface="Manrope" pitchFamily="34" charset="-120"/>
              </a:rPr>
              <a:t>El tiempo: factor natural de deuda técnica</a:t>
            </a:r>
            <a:endParaRPr lang="en-US" sz="1200" dirty="0"/>
          </a:p>
        </p:txBody>
      </p:sp>
      <p:sp>
        <p:nvSpPr>
          <p:cNvPr id="25" name="Slide Number Placeholder 0"/>
          <p:cNvSpPr>
            <a:spLocks noGrp="1"/>
          </p:cNvSpPr>
          <p:nvPr>
            <p:ph type="sldNum" sz="quarter" idx="4294967295"/>
          </p:nvPr>
        </p:nvSpPr>
        <p:spPr>
          <a:xfrm>
            <a:off x="9525000" y="6477000"/>
            <a:ext cx="47625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5A4A6A"/>
                </a:solidFill>
                <a:latin typeface="Manrope"/>
                <a:ea typeface="Manrope"/>
                <a:cs typeface="Manrope"/>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62000" y="657225"/>
            <a:ext cx="95250" cy="95250"/>
          </a:xfrm>
          <a:prstGeom prst="roundRect">
            <a:avLst>
              <a:gd name="adj" fmla="val 20000"/>
            </a:avLst>
          </a:prstGeom>
          <a:solidFill>
            <a:srgbClr val="DA0081"/>
          </a:solidFill>
          <a:ln/>
        </p:spPr>
      </p:sp>
      <p:sp>
        <p:nvSpPr>
          <p:cNvPr id="3" name="Text 1"/>
          <p:cNvSpPr txBox="1"/>
          <p:nvPr/>
        </p:nvSpPr>
        <p:spPr>
          <a:xfrm>
            <a:off x="952500" y="609600"/>
            <a:ext cx="7620000" cy="190500"/>
          </a:xfrm>
          <a:prstGeom prst="rect">
            <a:avLst/>
          </a:prstGeom>
          <a:noFill/>
          <a:ln/>
        </p:spPr>
        <p:txBody>
          <a:bodyPr wrap="square" lIns="0" tIns="0" rIns="0" bIns="0" rtlCol="0" anchor="ctr"/>
          <a:lstStyle/>
          <a:p>
            <a:pPr algn="l" indent="0" marL="0">
              <a:lnSpc>
                <a:spcPct val="100000"/>
              </a:lnSpc>
              <a:buNone/>
            </a:pPr>
            <a:r>
              <a:rPr lang="en-US" sz="1130" b="1" spc="200" kern="0" dirty="0">
                <a:solidFill>
                  <a:srgbClr val="DA0081"/>
                </a:solidFill>
                <a:latin typeface="Manrope" pitchFamily="34" charset="0"/>
                <a:ea typeface="Manrope" pitchFamily="34" charset="-122"/>
                <a:cs typeface="Manrope" pitchFamily="34" charset="-120"/>
              </a:rPr>
              <a:t>02 · MOTIVACIÓN</a:t>
            </a:r>
            <a:endParaRPr lang="en-US" sz="1130" dirty="0"/>
          </a:p>
        </p:txBody>
      </p:sp>
      <p:sp>
        <p:nvSpPr>
          <p:cNvPr id="4" name="Text 2"/>
          <p:cNvSpPr txBox="1"/>
          <p:nvPr/>
        </p:nvSpPr>
        <p:spPr>
          <a:xfrm>
            <a:off x="762000" y="876300"/>
            <a:ext cx="9525000" cy="1047750"/>
          </a:xfrm>
          <a:prstGeom prst="rect">
            <a:avLst/>
          </a:prstGeom>
          <a:noFill/>
          <a:ln/>
        </p:spPr>
        <p:txBody>
          <a:bodyPr wrap="square" lIns="0" tIns="0" rIns="0" bIns="0" rtlCol="0" anchor="t"/>
          <a:lstStyle/>
          <a:p>
            <a:pPr algn="l" indent="0" marL="0">
              <a:lnSpc>
                <a:spcPct val="95000"/>
              </a:lnSpc>
              <a:buNone/>
            </a:pPr>
            <a:r>
              <a:rPr lang="en-US" sz="3150" b="1" dirty="0">
                <a:solidFill>
                  <a:srgbClr val="200020"/>
                </a:solidFill>
                <a:latin typeface="Manrope" pitchFamily="34" charset="0"/>
                <a:ea typeface="Manrope" pitchFamily="34" charset="-122"/>
                <a:cs typeface="Manrope" pitchFamily="34" charset="-120"/>
              </a:rPr>
              <a:t>Mantener el legado cuesta </a:t>
            </a:r>
            <a:pPr algn="l" indent="0" marL="0">
              <a:lnSpc>
                <a:spcPct val="95000"/>
              </a:lnSpc>
              <a:buNone/>
            </a:pPr>
            <a:r>
              <a:rPr lang="en-US" sz="3150" b="1" dirty="0">
                <a:solidFill>
                  <a:srgbClr val="DA0081"/>
                </a:solidFill>
                <a:latin typeface="Manrope" pitchFamily="34" charset="0"/>
                <a:ea typeface="Manrope" pitchFamily="34" charset="-122"/>
                <a:cs typeface="Manrope" pitchFamily="34" charset="-120"/>
              </a:rPr>
              <a:t>cada vez más</a:t>
            </a:r>
            <a:endParaRPr lang="en-US" sz="3150" dirty="0"/>
          </a:p>
        </p:txBody>
      </p:sp>
      <p:sp>
        <p:nvSpPr>
          <p:cNvPr id="5" name="Shape 3"/>
          <p:cNvSpPr/>
          <p:nvPr/>
        </p:nvSpPr>
        <p:spPr>
          <a:xfrm>
            <a:off x="762000" y="1676400"/>
            <a:ext cx="5619750" cy="4286250"/>
          </a:xfrm>
          <a:prstGeom prst="roundRect">
            <a:avLst>
              <a:gd name="adj" fmla="val 3556"/>
            </a:avLst>
          </a:prstGeom>
          <a:solidFill>
            <a:srgbClr val="FFFFFF"/>
          </a:solidFill>
          <a:ln/>
        </p:spPr>
      </p:sp>
      <p:sp>
        <p:nvSpPr>
          <p:cNvPr id="6" name="Text 4"/>
          <p:cNvSpPr txBox="1"/>
          <p:nvPr/>
        </p:nvSpPr>
        <p:spPr>
          <a:xfrm>
            <a:off x="1009650" y="1885950"/>
            <a:ext cx="3619500" cy="266700"/>
          </a:xfrm>
          <a:prstGeom prst="rect">
            <a:avLst/>
          </a:prstGeom>
          <a:noFill/>
          <a:ln/>
        </p:spPr>
        <p:txBody>
          <a:bodyPr wrap="square" lIns="0" tIns="0" rIns="0" bIns="0" rtlCol="0" anchor="ctr"/>
          <a:lstStyle/>
          <a:p>
            <a:pPr algn="l" indent="0" marL="0">
              <a:lnSpc>
                <a:spcPct val="100000"/>
              </a:lnSpc>
              <a:buNone/>
            </a:pPr>
            <a:r>
              <a:rPr lang="en-US" sz="1500" b="1" dirty="0">
                <a:solidFill>
                  <a:srgbClr val="200020"/>
                </a:solidFill>
                <a:latin typeface="Manrope" pitchFamily="34" charset="0"/>
                <a:ea typeface="Manrope" pitchFamily="34" charset="-122"/>
                <a:cs typeface="Manrope" pitchFamily="34" charset="-120"/>
              </a:rPr>
              <a:t>Dos curvas que se cruzan</a:t>
            </a:r>
            <a:endParaRPr lang="en-US" sz="1500" dirty="0"/>
          </a:p>
        </p:txBody>
      </p:sp>
      <p:sp>
        <p:nvSpPr>
          <p:cNvPr id="7" name="Shape 5"/>
          <p:cNvSpPr/>
          <p:nvPr/>
        </p:nvSpPr>
        <p:spPr>
          <a:xfrm>
            <a:off x="5143500" y="1885950"/>
            <a:ext cx="990600" cy="266700"/>
          </a:xfrm>
          <a:prstGeom prst="roundRect">
            <a:avLst>
              <a:gd name="adj" fmla="val 25000"/>
            </a:avLst>
          </a:prstGeom>
          <a:solidFill>
            <a:srgbClr val="ECE7F5"/>
          </a:solidFill>
          <a:ln/>
        </p:spPr>
      </p:sp>
      <p:sp>
        <p:nvSpPr>
          <p:cNvPr id="8" name="Text 6"/>
          <p:cNvSpPr txBox="1"/>
          <p:nvPr/>
        </p:nvSpPr>
        <p:spPr>
          <a:xfrm>
            <a:off x="5143500" y="1885950"/>
            <a:ext cx="990600" cy="266700"/>
          </a:xfrm>
          <a:prstGeom prst="rect">
            <a:avLst/>
          </a:prstGeom>
          <a:noFill/>
          <a:ln/>
        </p:spPr>
        <p:txBody>
          <a:bodyPr wrap="square" lIns="0" tIns="0" rIns="0" bIns="0" rtlCol="0" anchor="ctr"/>
          <a:lstStyle/>
          <a:p>
            <a:pPr algn="ctr" indent="0" marL="0">
              <a:lnSpc>
                <a:spcPct val="100000"/>
              </a:lnSpc>
              <a:buNone/>
            </a:pPr>
            <a:r>
              <a:rPr lang="en-US" sz="980" b="1" dirty="0">
                <a:solidFill>
                  <a:srgbClr val="200020"/>
                </a:solidFill>
                <a:latin typeface="Manrope" pitchFamily="34" charset="0"/>
                <a:ea typeface="Manrope" pitchFamily="34" charset="-122"/>
                <a:cs typeface="Manrope" pitchFamily="34" charset="-120"/>
              </a:rPr>
              <a:t>Conceptual</a:t>
            </a:r>
            <a:endParaRPr lang="en-US" sz="980" dirty="0"/>
          </a:p>
        </p:txBody>
      </p:sp>
      <p:graphicFrame>
        <p:nvGraphicFramePr>
          <p:cNvPr id="9" name="Chart 0" descr=""/>
          <p:cNvGraphicFramePr/>
          <p:nvPr/>
        </p:nvGraphicFramePr>
        <p:xfrm>
          <a:off x="914400" y="2247900"/>
          <a:ext cx="5314950" cy="304800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1009650" y="5391150"/>
            <a:ext cx="5143500" cy="419100"/>
          </a:xfrm>
          <a:prstGeom prst="rect">
            <a:avLst/>
          </a:prstGeom>
          <a:noFill/>
          <a:ln/>
        </p:spPr>
        <p:txBody>
          <a:bodyPr wrap="square" lIns="0" tIns="0" rIns="0" bIns="0" rtlCol="0" anchor="t"/>
          <a:lstStyle/>
          <a:p>
            <a:pPr algn="l" indent="0" marL="0">
              <a:lnSpc>
                <a:spcPct val="100000"/>
              </a:lnSpc>
              <a:buNone/>
            </a:pPr>
            <a:r>
              <a:rPr lang="en-US" sz="1050" dirty="0">
                <a:solidFill>
                  <a:srgbClr val="5A4A6A"/>
                </a:solidFill>
                <a:latin typeface="Manrope" pitchFamily="34" charset="0"/>
                <a:ea typeface="Manrope" pitchFamily="34" charset="-122"/>
                <a:cs typeface="Manrope" pitchFamily="34" charset="-120"/>
              </a:rPr>
              <a:t>Ilustrativo, sin datos. Aunque “todo ya está escrito”, cada cambio obliga a validar que nada más se rompa.</a:t>
            </a:r>
            <a:endParaRPr lang="en-US" sz="1050" dirty="0"/>
          </a:p>
        </p:txBody>
      </p:sp>
      <p:sp>
        <p:nvSpPr>
          <p:cNvPr id="11" name="Shape 8"/>
          <p:cNvSpPr/>
          <p:nvPr/>
        </p:nvSpPr>
        <p:spPr>
          <a:xfrm>
            <a:off x="6610350" y="1676400"/>
            <a:ext cx="2333625" cy="2066925"/>
          </a:xfrm>
          <a:prstGeom prst="roundRect">
            <a:avLst>
              <a:gd name="adj" fmla="val 7373"/>
            </a:avLst>
          </a:prstGeom>
          <a:solidFill>
            <a:srgbClr val="FFFFFF"/>
          </a:solidFill>
          <a:ln/>
        </p:spPr>
      </p:sp>
      <p:sp>
        <p:nvSpPr>
          <p:cNvPr id="12" name="Shape 9"/>
          <p:cNvSpPr/>
          <p:nvPr/>
        </p:nvSpPr>
        <p:spPr>
          <a:xfrm>
            <a:off x="6819900" y="1885950"/>
            <a:ext cx="495300" cy="495300"/>
          </a:xfrm>
          <a:prstGeom prst="roundRect">
            <a:avLst>
              <a:gd name="adj" fmla="val 26923"/>
            </a:avLst>
          </a:prstGeom>
          <a:solidFill>
            <a:srgbClr val="DA0081"/>
          </a:solidFill>
          <a:ln/>
        </p:spPr>
      </p:sp>
      <p:pic>
        <p:nvPicPr>
          <p:cNvPr id="13" name="Image 0" descr="preencoded.png">    </p:cNvPr>
          <p:cNvPicPr>
            <a:picLocks noChangeAspect="1"/>
          </p:cNvPicPr>
          <p:nvPr/>
        </p:nvPicPr>
        <p:blipFill>
          <a:blip r:embed="rId2"/>
          <a:stretch>
            <a:fillRect/>
          </a:stretch>
        </p:blipFill>
        <p:spPr>
          <a:xfrm>
            <a:off x="6943725" y="2009775"/>
            <a:ext cx="247650" cy="247650"/>
          </a:xfrm>
          <a:prstGeom prst="rect">
            <a:avLst/>
          </a:prstGeom>
        </p:spPr>
      </p:pic>
      <p:sp>
        <p:nvSpPr>
          <p:cNvPr id="14" name="Text 10"/>
          <p:cNvSpPr txBox="1"/>
          <p:nvPr/>
        </p:nvSpPr>
        <p:spPr>
          <a:xfrm>
            <a:off x="6819900" y="2552700"/>
            <a:ext cx="1914525" cy="247650"/>
          </a:xfrm>
          <a:prstGeom prst="rect">
            <a:avLst/>
          </a:prstGeom>
          <a:noFill/>
          <a:ln/>
        </p:spPr>
        <p:txBody>
          <a:bodyPr wrap="square" lIns="0" tIns="0" rIns="0" bIns="0" rtlCol="0" anchor="t"/>
          <a:lstStyle/>
          <a:p>
            <a:pPr algn="l" indent="0" marL="0">
              <a:lnSpc>
                <a:spcPct val="100000"/>
              </a:lnSpc>
              <a:buNone/>
            </a:pPr>
            <a:r>
              <a:rPr lang="en-US" sz="1350" b="1" dirty="0">
                <a:solidFill>
                  <a:srgbClr val="200020"/>
                </a:solidFill>
                <a:latin typeface="Manrope" pitchFamily="34" charset="0"/>
                <a:ea typeface="Manrope" pitchFamily="34" charset="-122"/>
                <a:cs typeface="Manrope" pitchFamily="34" charset="-120"/>
              </a:rPr>
              <a:t>Talento escaso</a:t>
            </a:r>
            <a:endParaRPr lang="en-US" sz="1350" dirty="0"/>
          </a:p>
        </p:txBody>
      </p:sp>
      <p:sp>
        <p:nvSpPr>
          <p:cNvPr id="15" name="Text 11"/>
          <p:cNvSpPr txBox="1"/>
          <p:nvPr/>
        </p:nvSpPr>
        <p:spPr>
          <a:xfrm>
            <a:off x="6819900" y="2857500"/>
            <a:ext cx="1914525" cy="685800"/>
          </a:xfrm>
          <a:prstGeom prst="rect">
            <a:avLst/>
          </a:prstGeom>
          <a:noFill/>
          <a:ln/>
        </p:spPr>
        <p:txBody>
          <a:bodyPr wrap="square" lIns="0" tIns="0" rIns="0" bIns="0" rtlCol="0" anchor="t"/>
          <a:lstStyle/>
          <a:p>
            <a:pPr algn="l" indent="0" marL="0">
              <a:lnSpc>
                <a:spcPct val="110000"/>
              </a:lnSpc>
              <a:buNone/>
            </a:pPr>
            <a:r>
              <a:rPr lang="en-US" sz="1130" dirty="0">
                <a:solidFill>
                  <a:srgbClr val="5A4A6A"/>
                </a:solidFill>
                <a:latin typeface="Manrope" pitchFamily="34" charset="0"/>
                <a:ea typeface="Manrope" pitchFamily="34" charset="-122"/>
                <a:cs typeface="Manrope" pitchFamily="34" charset="-120"/>
              </a:rPr>
              <a:t>Difícil encontrar devs expertos en tecnologías legacy</a:t>
            </a:r>
            <a:endParaRPr lang="en-US" sz="1130" dirty="0"/>
          </a:p>
        </p:txBody>
      </p:sp>
      <p:sp>
        <p:nvSpPr>
          <p:cNvPr id="16" name="Shape 12"/>
          <p:cNvSpPr/>
          <p:nvPr/>
        </p:nvSpPr>
        <p:spPr>
          <a:xfrm>
            <a:off x="9096375" y="1676400"/>
            <a:ext cx="2333625" cy="2066925"/>
          </a:xfrm>
          <a:prstGeom prst="roundRect">
            <a:avLst>
              <a:gd name="adj" fmla="val 7373"/>
            </a:avLst>
          </a:prstGeom>
          <a:solidFill>
            <a:srgbClr val="FFFFFF"/>
          </a:solidFill>
          <a:ln/>
        </p:spPr>
      </p:sp>
      <p:sp>
        <p:nvSpPr>
          <p:cNvPr id="17" name="Shape 13"/>
          <p:cNvSpPr/>
          <p:nvPr/>
        </p:nvSpPr>
        <p:spPr>
          <a:xfrm>
            <a:off x="9305925" y="1885950"/>
            <a:ext cx="495300" cy="495300"/>
          </a:xfrm>
          <a:prstGeom prst="roundRect">
            <a:avLst>
              <a:gd name="adj" fmla="val 26923"/>
            </a:avLst>
          </a:prstGeom>
          <a:solidFill>
            <a:srgbClr val="DA0081"/>
          </a:solidFill>
          <a:ln/>
        </p:spPr>
      </p:sp>
      <p:pic>
        <p:nvPicPr>
          <p:cNvPr id="18" name="Image 1" descr="preencoded.png">    </p:cNvPr>
          <p:cNvPicPr>
            <a:picLocks noChangeAspect="1"/>
          </p:cNvPicPr>
          <p:nvPr/>
        </p:nvPicPr>
        <p:blipFill>
          <a:blip r:embed="rId3"/>
          <a:stretch>
            <a:fillRect/>
          </a:stretch>
        </p:blipFill>
        <p:spPr>
          <a:xfrm>
            <a:off x="9429750" y="2009775"/>
            <a:ext cx="247650" cy="247650"/>
          </a:xfrm>
          <a:prstGeom prst="rect">
            <a:avLst/>
          </a:prstGeom>
        </p:spPr>
      </p:pic>
      <p:sp>
        <p:nvSpPr>
          <p:cNvPr id="19" name="Text 14"/>
          <p:cNvSpPr txBox="1"/>
          <p:nvPr/>
        </p:nvSpPr>
        <p:spPr>
          <a:xfrm>
            <a:off x="9305925" y="2552700"/>
            <a:ext cx="1914525" cy="247650"/>
          </a:xfrm>
          <a:prstGeom prst="rect">
            <a:avLst/>
          </a:prstGeom>
          <a:noFill/>
          <a:ln/>
        </p:spPr>
        <p:txBody>
          <a:bodyPr wrap="square" lIns="0" tIns="0" rIns="0" bIns="0" rtlCol="0" anchor="t"/>
          <a:lstStyle/>
          <a:p>
            <a:pPr algn="l" indent="0" marL="0">
              <a:lnSpc>
                <a:spcPct val="100000"/>
              </a:lnSpc>
              <a:buNone/>
            </a:pPr>
            <a:r>
              <a:rPr lang="en-US" sz="1350" b="1" dirty="0">
                <a:solidFill>
                  <a:srgbClr val="200020"/>
                </a:solidFill>
                <a:latin typeface="Manrope" pitchFamily="34" charset="0"/>
                <a:ea typeface="Manrope" pitchFamily="34" charset="-122"/>
                <a:cs typeface="Manrope" pitchFamily="34" charset="-120"/>
              </a:rPr>
              <a:t>Sin soporte</a:t>
            </a:r>
            <a:endParaRPr lang="en-US" sz="1350" dirty="0"/>
          </a:p>
        </p:txBody>
      </p:sp>
      <p:sp>
        <p:nvSpPr>
          <p:cNvPr id="20" name="Text 15"/>
          <p:cNvSpPr txBox="1"/>
          <p:nvPr/>
        </p:nvSpPr>
        <p:spPr>
          <a:xfrm>
            <a:off x="9305925" y="2857500"/>
            <a:ext cx="1914525" cy="685800"/>
          </a:xfrm>
          <a:prstGeom prst="rect">
            <a:avLst/>
          </a:prstGeom>
          <a:noFill/>
          <a:ln/>
        </p:spPr>
        <p:txBody>
          <a:bodyPr wrap="square" lIns="0" tIns="0" rIns="0" bIns="0" rtlCol="0" anchor="t"/>
          <a:lstStyle/>
          <a:p>
            <a:pPr algn="l" indent="0" marL="0">
              <a:lnSpc>
                <a:spcPct val="110000"/>
              </a:lnSpc>
              <a:buNone/>
            </a:pPr>
            <a:r>
              <a:rPr lang="en-US" sz="1130" dirty="0">
                <a:solidFill>
                  <a:srgbClr val="5A4A6A"/>
                </a:solidFill>
                <a:latin typeface="Manrope" pitchFamily="34" charset="0"/>
                <a:ea typeface="Manrope" pitchFamily="34" charset="-122"/>
                <a:cs typeface="Manrope" pitchFamily="34" charset="-120"/>
              </a:rPr>
              <a:t>Cerrar vulnerabilidades obliga a reemplazar dependencias</a:t>
            </a:r>
            <a:endParaRPr lang="en-US" sz="1130" dirty="0"/>
          </a:p>
        </p:txBody>
      </p:sp>
      <p:sp>
        <p:nvSpPr>
          <p:cNvPr id="21" name="Shape 16"/>
          <p:cNvSpPr/>
          <p:nvPr/>
        </p:nvSpPr>
        <p:spPr>
          <a:xfrm>
            <a:off x="6610350" y="3895725"/>
            <a:ext cx="2333625" cy="2066925"/>
          </a:xfrm>
          <a:prstGeom prst="roundRect">
            <a:avLst>
              <a:gd name="adj" fmla="val 7373"/>
            </a:avLst>
          </a:prstGeom>
          <a:solidFill>
            <a:srgbClr val="FFFFFF"/>
          </a:solidFill>
          <a:ln/>
        </p:spPr>
      </p:sp>
      <p:sp>
        <p:nvSpPr>
          <p:cNvPr id="22" name="Shape 17"/>
          <p:cNvSpPr/>
          <p:nvPr/>
        </p:nvSpPr>
        <p:spPr>
          <a:xfrm>
            <a:off x="6819900" y="4105275"/>
            <a:ext cx="495300" cy="495300"/>
          </a:xfrm>
          <a:prstGeom prst="roundRect">
            <a:avLst>
              <a:gd name="adj" fmla="val 26923"/>
            </a:avLst>
          </a:prstGeom>
          <a:solidFill>
            <a:srgbClr val="DA0081"/>
          </a:solidFill>
          <a:ln/>
        </p:spPr>
      </p:sp>
      <p:pic>
        <p:nvPicPr>
          <p:cNvPr id="23" name="Image 2" descr="preencoded.png">    </p:cNvPr>
          <p:cNvPicPr>
            <a:picLocks noChangeAspect="1"/>
          </p:cNvPicPr>
          <p:nvPr/>
        </p:nvPicPr>
        <p:blipFill>
          <a:blip r:embed="rId4"/>
          <a:stretch>
            <a:fillRect/>
          </a:stretch>
        </p:blipFill>
        <p:spPr>
          <a:xfrm>
            <a:off x="6943725" y="4229100"/>
            <a:ext cx="247650" cy="247650"/>
          </a:xfrm>
          <a:prstGeom prst="rect">
            <a:avLst/>
          </a:prstGeom>
        </p:spPr>
      </p:pic>
      <p:sp>
        <p:nvSpPr>
          <p:cNvPr id="24" name="Text 18"/>
          <p:cNvSpPr txBox="1"/>
          <p:nvPr/>
        </p:nvSpPr>
        <p:spPr>
          <a:xfrm>
            <a:off x="6819900" y="4772025"/>
            <a:ext cx="1914525" cy="247650"/>
          </a:xfrm>
          <a:prstGeom prst="rect">
            <a:avLst/>
          </a:prstGeom>
          <a:noFill/>
          <a:ln/>
        </p:spPr>
        <p:txBody>
          <a:bodyPr wrap="square" lIns="0" tIns="0" rIns="0" bIns="0" rtlCol="0" anchor="t"/>
          <a:lstStyle/>
          <a:p>
            <a:pPr algn="l" indent="0" marL="0">
              <a:lnSpc>
                <a:spcPct val="100000"/>
              </a:lnSpc>
              <a:buNone/>
            </a:pPr>
            <a:r>
              <a:rPr lang="en-US" sz="1350" b="1" dirty="0">
                <a:solidFill>
                  <a:srgbClr val="200020"/>
                </a:solidFill>
                <a:latin typeface="Manrope" pitchFamily="34" charset="0"/>
                <a:ea typeface="Manrope" pitchFamily="34" charset="-122"/>
                <a:cs typeface="Manrope" pitchFamily="34" charset="-120"/>
              </a:rPr>
              <a:t>Equipos que se pisan</a:t>
            </a:r>
            <a:endParaRPr lang="en-US" sz="1350" dirty="0"/>
          </a:p>
        </p:txBody>
      </p:sp>
      <p:sp>
        <p:nvSpPr>
          <p:cNvPr id="25" name="Text 19"/>
          <p:cNvSpPr txBox="1"/>
          <p:nvPr/>
        </p:nvSpPr>
        <p:spPr>
          <a:xfrm>
            <a:off x="6819900" y="5076825"/>
            <a:ext cx="1914525" cy="685800"/>
          </a:xfrm>
          <a:prstGeom prst="rect">
            <a:avLst/>
          </a:prstGeom>
          <a:noFill/>
          <a:ln/>
        </p:spPr>
        <p:txBody>
          <a:bodyPr wrap="square" lIns="0" tIns="0" rIns="0" bIns="0" rtlCol="0" anchor="t"/>
          <a:lstStyle/>
          <a:p>
            <a:pPr algn="l" indent="0" marL="0">
              <a:lnSpc>
                <a:spcPct val="110000"/>
              </a:lnSpc>
              <a:buNone/>
            </a:pPr>
            <a:r>
              <a:rPr lang="en-US" sz="1130" dirty="0">
                <a:solidFill>
                  <a:srgbClr val="5A4A6A"/>
                </a:solidFill>
                <a:latin typeface="Manrope" pitchFamily="34" charset="0"/>
                <a:ea typeface="Manrope" pitchFamily="34" charset="-122"/>
                <a:cs typeface="Manrope" pitchFamily="34" charset="-120"/>
              </a:rPr>
              <a:t>Más devs sobre los mismos componentes = más conflictos</a:t>
            </a:r>
            <a:endParaRPr lang="en-US" sz="1130" dirty="0"/>
          </a:p>
        </p:txBody>
      </p:sp>
      <p:sp>
        <p:nvSpPr>
          <p:cNvPr id="26" name="Shape 20"/>
          <p:cNvSpPr/>
          <p:nvPr/>
        </p:nvSpPr>
        <p:spPr>
          <a:xfrm>
            <a:off x="9096375" y="3895725"/>
            <a:ext cx="2333625" cy="2066925"/>
          </a:xfrm>
          <a:prstGeom prst="roundRect">
            <a:avLst>
              <a:gd name="adj" fmla="val 7373"/>
            </a:avLst>
          </a:prstGeom>
          <a:solidFill>
            <a:srgbClr val="FFFFFF"/>
          </a:solidFill>
          <a:ln/>
        </p:spPr>
      </p:sp>
      <p:sp>
        <p:nvSpPr>
          <p:cNvPr id="27" name="Shape 21"/>
          <p:cNvSpPr/>
          <p:nvPr/>
        </p:nvSpPr>
        <p:spPr>
          <a:xfrm>
            <a:off x="9305925" y="4105275"/>
            <a:ext cx="495300" cy="495300"/>
          </a:xfrm>
          <a:prstGeom prst="roundRect">
            <a:avLst>
              <a:gd name="adj" fmla="val 26923"/>
            </a:avLst>
          </a:prstGeom>
          <a:solidFill>
            <a:srgbClr val="DA0081"/>
          </a:solidFill>
          <a:ln/>
        </p:spPr>
      </p:sp>
      <p:pic>
        <p:nvPicPr>
          <p:cNvPr id="28" name="Image 3" descr="preencoded.png">    </p:cNvPr>
          <p:cNvPicPr>
            <a:picLocks noChangeAspect="1"/>
          </p:cNvPicPr>
          <p:nvPr/>
        </p:nvPicPr>
        <p:blipFill>
          <a:blip r:embed="rId5"/>
          <a:stretch>
            <a:fillRect/>
          </a:stretch>
        </p:blipFill>
        <p:spPr>
          <a:xfrm>
            <a:off x="9429750" y="4229100"/>
            <a:ext cx="247650" cy="247650"/>
          </a:xfrm>
          <a:prstGeom prst="rect">
            <a:avLst/>
          </a:prstGeom>
        </p:spPr>
      </p:pic>
      <p:sp>
        <p:nvSpPr>
          <p:cNvPr id="29" name="Text 22"/>
          <p:cNvSpPr txBox="1"/>
          <p:nvPr/>
        </p:nvSpPr>
        <p:spPr>
          <a:xfrm>
            <a:off x="9305925" y="4772025"/>
            <a:ext cx="1914525" cy="247650"/>
          </a:xfrm>
          <a:prstGeom prst="rect">
            <a:avLst/>
          </a:prstGeom>
          <a:noFill/>
          <a:ln/>
        </p:spPr>
        <p:txBody>
          <a:bodyPr wrap="square" lIns="0" tIns="0" rIns="0" bIns="0" rtlCol="0" anchor="t"/>
          <a:lstStyle/>
          <a:p>
            <a:pPr algn="l" indent="0" marL="0">
              <a:lnSpc>
                <a:spcPct val="100000"/>
              </a:lnSpc>
              <a:buNone/>
            </a:pPr>
            <a:r>
              <a:rPr lang="en-US" sz="1350" b="1" dirty="0">
                <a:solidFill>
                  <a:srgbClr val="200020"/>
                </a:solidFill>
                <a:latin typeface="Manrope" pitchFamily="34" charset="0"/>
                <a:ea typeface="Manrope" pitchFamily="34" charset="-122"/>
                <a:cs typeface="Manrope" pitchFamily="34" charset="-120"/>
              </a:rPr>
              <a:t>Resiliencia y escala</a:t>
            </a:r>
            <a:endParaRPr lang="en-US" sz="1350" dirty="0"/>
          </a:p>
        </p:txBody>
      </p:sp>
      <p:sp>
        <p:nvSpPr>
          <p:cNvPr id="30" name="Text 23"/>
          <p:cNvSpPr txBox="1"/>
          <p:nvPr/>
        </p:nvSpPr>
        <p:spPr>
          <a:xfrm>
            <a:off x="9305925" y="5076825"/>
            <a:ext cx="1914525" cy="685800"/>
          </a:xfrm>
          <a:prstGeom prst="rect">
            <a:avLst/>
          </a:prstGeom>
          <a:noFill/>
          <a:ln/>
        </p:spPr>
        <p:txBody>
          <a:bodyPr wrap="square" lIns="0" tIns="0" rIns="0" bIns="0" rtlCol="0" anchor="t"/>
          <a:lstStyle/>
          <a:p>
            <a:pPr algn="l" indent="0" marL="0">
              <a:lnSpc>
                <a:spcPct val="110000"/>
              </a:lnSpc>
              <a:buNone/>
            </a:pPr>
            <a:r>
              <a:rPr lang="en-US" sz="1130" dirty="0">
                <a:solidFill>
                  <a:srgbClr val="5A4A6A"/>
                </a:solidFill>
                <a:latin typeface="Manrope" pitchFamily="34" charset="0"/>
                <a:ea typeface="Manrope" pitchFamily="34" charset="-122"/>
                <a:cs typeface="Manrope" pitchFamily="34" charset="-120"/>
              </a:rPr>
              <a:t>Frameworks y librerías nuevas no soportan el stack actual</a:t>
            </a:r>
            <a:endParaRPr lang="en-US" sz="1130" dirty="0"/>
          </a:p>
        </p:txBody>
      </p:sp>
      <p:sp>
        <p:nvSpPr>
          <p:cNvPr id="25" name="Slide Number Placeholder 0"/>
          <p:cNvSpPr>
            <a:spLocks noGrp="1"/>
          </p:cNvSpPr>
          <p:nvPr>
            <p:ph type="sldNum" sz="quarter" idx="4294967295"/>
          </p:nvPr>
        </p:nvSpPr>
        <p:spPr>
          <a:xfrm>
            <a:off x="9525000" y="6477000"/>
            <a:ext cx="47625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5A4A6A"/>
                </a:solidFill>
                <a:latin typeface="Manrope"/>
                <a:ea typeface="Manrope"/>
                <a:cs typeface="Manrope"/>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rot="1080000">
            <a:off x="8572500" y="3619500"/>
            <a:ext cx="4953000" cy="4953000"/>
          </a:xfrm>
          <a:prstGeom prst="roundRect">
            <a:avLst>
              <a:gd name="adj" fmla="val 9231"/>
            </a:avLst>
          </a:prstGeom>
          <a:solidFill>
            <a:srgbClr val="200020"/>
          </a:solidFill>
          <a:ln/>
        </p:spPr>
      </p:sp>
      <p:sp>
        <p:nvSpPr>
          <p:cNvPr id="3" name="Shape 1"/>
          <p:cNvSpPr/>
          <p:nvPr/>
        </p:nvSpPr>
        <p:spPr>
          <a:xfrm>
            <a:off x="8705850" y="3848100"/>
            <a:ext cx="152400" cy="152400"/>
          </a:xfrm>
          <a:prstGeom prst="roundRect">
            <a:avLst>
              <a:gd name="adj" fmla="val 18750"/>
            </a:avLst>
          </a:prstGeom>
          <a:solidFill>
            <a:srgbClr val="ECE7F5"/>
          </a:solidFill>
          <a:ln/>
        </p:spPr>
      </p:sp>
      <p:sp>
        <p:nvSpPr>
          <p:cNvPr id="4" name="Shape 2"/>
          <p:cNvSpPr/>
          <p:nvPr/>
        </p:nvSpPr>
        <p:spPr>
          <a:xfrm>
            <a:off x="762000" y="657225"/>
            <a:ext cx="95250" cy="95250"/>
          </a:xfrm>
          <a:prstGeom prst="roundRect">
            <a:avLst>
              <a:gd name="adj" fmla="val 20000"/>
            </a:avLst>
          </a:prstGeom>
          <a:solidFill>
            <a:srgbClr val="200020"/>
          </a:solidFill>
          <a:ln/>
        </p:spPr>
      </p:sp>
      <p:sp>
        <p:nvSpPr>
          <p:cNvPr id="5" name="Text 3"/>
          <p:cNvSpPr txBox="1"/>
          <p:nvPr/>
        </p:nvSpPr>
        <p:spPr>
          <a:xfrm>
            <a:off x="952500" y="609600"/>
            <a:ext cx="5715000" cy="190500"/>
          </a:xfrm>
          <a:prstGeom prst="rect">
            <a:avLst/>
          </a:prstGeom>
          <a:noFill/>
          <a:ln/>
        </p:spPr>
        <p:txBody>
          <a:bodyPr wrap="square" lIns="0" tIns="0" rIns="0" bIns="0" rtlCol="0" anchor="ctr"/>
          <a:lstStyle/>
          <a:p>
            <a:pPr algn="l" indent="0" marL="0">
              <a:lnSpc>
                <a:spcPct val="100000"/>
              </a:lnSpc>
              <a:buNone/>
            </a:pPr>
            <a:r>
              <a:rPr lang="en-US" sz="1130" b="1" spc="200" kern="0" dirty="0">
                <a:solidFill>
                  <a:srgbClr val="200020"/>
                </a:solidFill>
                <a:latin typeface="Manrope" pitchFamily="34" charset="0"/>
                <a:ea typeface="Manrope" pitchFamily="34" charset="-122"/>
                <a:cs typeface="Manrope" pitchFamily="34" charset="-120"/>
              </a:rPr>
              <a:t>03 · LA PREGUNTA</a:t>
            </a:r>
            <a:endParaRPr lang="en-US" sz="1130" dirty="0"/>
          </a:p>
        </p:txBody>
      </p:sp>
      <p:sp>
        <p:nvSpPr>
          <p:cNvPr id="6" name="Text 4"/>
          <p:cNvSpPr txBox="1"/>
          <p:nvPr/>
        </p:nvSpPr>
        <p:spPr>
          <a:xfrm>
            <a:off x="762000" y="1714500"/>
            <a:ext cx="9334500" cy="3619500"/>
          </a:xfrm>
          <a:prstGeom prst="rect">
            <a:avLst/>
          </a:prstGeom>
          <a:noFill/>
          <a:ln/>
        </p:spPr>
        <p:txBody>
          <a:bodyPr wrap="square" lIns="0" tIns="0" rIns="0" bIns="0" rtlCol="0" anchor="ctr"/>
          <a:lstStyle/>
          <a:p>
            <a:pPr indent="0" marL="0">
              <a:lnSpc>
                <a:spcPct val="95000"/>
              </a:lnSpc>
              <a:spcAft>
                <a:spcPts val="1400"/>
              </a:spcAft>
              <a:buNone/>
            </a:pPr>
            <a:r>
              <a:rPr lang="en-US" sz="6300" b="1" dirty="0">
                <a:solidFill>
                  <a:srgbClr val="FFFFFF"/>
                </a:solidFill>
                <a:latin typeface="Manrope" pitchFamily="34" charset="0"/>
                <a:ea typeface="Manrope" pitchFamily="34" charset="-122"/>
                <a:cs typeface="Manrope" pitchFamily="34" charset="-120"/>
              </a:rPr>
              <a:t>¿Qué hacemos con el legado?</a:t>
            </a:r>
            <a:endParaRPr lang="en-US" sz="6300" dirty="0"/>
          </a:p>
          <a:p>
            <a:pPr indent="0" marL="0">
              <a:lnSpc>
                <a:spcPct val="95000"/>
              </a:lnSpc>
              <a:spcAft>
                <a:spcPts val="1400"/>
              </a:spcAft>
              <a:buNone/>
            </a:pPr>
            <a:r>
              <a:rPr lang="en-US" sz="6300" b="1" dirty="0">
                <a:solidFill>
                  <a:srgbClr val="200020"/>
                </a:solidFill>
                <a:latin typeface="Manrope" pitchFamily="34" charset="0"/>
                <a:ea typeface="Manrope" pitchFamily="34" charset="-122"/>
                <a:cs typeface="Manrope" pitchFamily="34" charset="-120"/>
              </a:rPr>
              <a:t>¿Cómo lo migramos?</a:t>
            </a:r>
            <a:endParaRPr lang="en-US" sz="6300" dirty="0"/>
          </a:p>
        </p:txBody>
      </p:sp>
      <p:sp>
        <p:nvSpPr>
          <p:cNvPr id="25" name="Slide Number Placeholder 0"/>
          <p:cNvSpPr>
            <a:spLocks noGrp="1"/>
          </p:cNvSpPr>
          <p:nvPr>
            <p:ph type="sldNum" sz="quarter" idx="4294967295"/>
          </p:nvPr>
        </p:nvSpPr>
        <p:spPr>
          <a:xfrm>
            <a:off x="9525000" y="6477000"/>
            <a:ext cx="47625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latin typeface="Manrope"/>
                <a:ea typeface="Manrope"/>
                <a:cs typeface="Manrope"/>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62000" y="657225"/>
            <a:ext cx="95250" cy="95250"/>
          </a:xfrm>
          <a:prstGeom prst="roundRect">
            <a:avLst>
              <a:gd name="adj" fmla="val 20000"/>
            </a:avLst>
          </a:prstGeom>
          <a:solidFill>
            <a:srgbClr val="DA0081"/>
          </a:solidFill>
          <a:ln/>
        </p:spPr>
      </p:sp>
      <p:sp>
        <p:nvSpPr>
          <p:cNvPr id="3" name="Text 1"/>
          <p:cNvSpPr txBox="1"/>
          <p:nvPr/>
        </p:nvSpPr>
        <p:spPr>
          <a:xfrm>
            <a:off x="952500" y="609600"/>
            <a:ext cx="7620000" cy="190500"/>
          </a:xfrm>
          <a:prstGeom prst="rect">
            <a:avLst/>
          </a:prstGeom>
          <a:noFill/>
          <a:ln/>
        </p:spPr>
        <p:txBody>
          <a:bodyPr wrap="square" lIns="0" tIns="0" rIns="0" bIns="0" rtlCol="0" anchor="ctr"/>
          <a:lstStyle/>
          <a:p>
            <a:pPr algn="l" indent="0" marL="0">
              <a:lnSpc>
                <a:spcPct val="100000"/>
              </a:lnSpc>
              <a:buNone/>
            </a:pPr>
            <a:r>
              <a:rPr lang="en-US" sz="1130" b="1" spc="200" kern="0" dirty="0">
                <a:solidFill>
                  <a:srgbClr val="DA0081"/>
                </a:solidFill>
                <a:latin typeface="Manrope" pitchFamily="34" charset="0"/>
                <a:ea typeface="Manrope" pitchFamily="34" charset="-122"/>
                <a:cs typeface="Manrope" pitchFamily="34" charset="-120"/>
              </a:rPr>
              <a:t>04 · CÓMO LO HACÍAMOS (SIN IA)</a:t>
            </a:r>
            <a:endParaRPr lang="en-US" sz="1130" dirty="0"/>
          </a:p>
        </p:txBody>
      </p:sp>
      <p:sp>
        <p:nvSpPr>
          <p:cNvPr id="4" name="Text 2"/>
          <p:cNvSpPr txBox="1"/>
          <p:nvPr/>
        </p:nvSpPr>
        <p:spPr>
          <a:xfrm>
            <a:off x="762000" y="876300"/>
            <a:ext cx="9525000" cy="1047750"/>
          </a:xfrm>
          <a:prstGeom prst="rect">
            <a:avLst/>
          </a:prstGeom>
          <a:noFill/>
          <a:ln/>
        </p:spPr>
        <p:txBody>
          <a:bodyPr wrap="square" lIns="0" tIns="0" rIns="0" bIns="0" rtlCol="0" anchor="t"/>
          <a:lstStyle/>
          <a:p>
            <a:pPr algn="l" indent="0" marL="0">
              <a:lnSpc>
                <a:spcPct val="95000"/>
              </a:lnSpc>
              <a:buNone/>
            </a:pPr>
            <a:r>
              <a:rPr lang="en-US" sz="3150" b="1" dirty="0">
                <a:solidFill>
                  <a:srgbClr val="200020"/>
                </a:solidFill>
                <a:latin typeface="Manrope" pitchFamily="34" charset="0"/>
                <a:ea typeface="Manrope" pitchFamily="34" charset="-122"/>
                <a:cs typeface="Manrope" pitchFamily="34" charset="-120"/>
              </a:rPr>
              <a:t>Ya migrábamos: </a:t>
            </a:r>
            <a:pPr algn="l" indent="0" marL="0">
              <a:lnSpc>
                <a:spcPct val="95000"/>
              </a:lnSpc>
              <a:buNone/>
            </a:pPr>
            <a:r>
              <a:rPr lang="en-US" sz="3150" b="1" dirty="0">
                <a:solidFill>
                  <a:srgbClr val="DA0081"/>
                </a:solidFill>
                <a:latin typeface="Manrope" pitchFamily="34" charset="0"/>
                <a:ea typeface="Manrope" pitchFamily="34" charset="-122"/>
                <a:cs typeface="Manrope" pitchFamily="34" charset="-120"/>
              </a:rPr>
              <a:t>bajo demanda</a:t>
            </a:r>
            <a:pPr algn="l" indent="0" marL="0">
              <a:lnSpc>
                <a:spcPct val="95000"/>
              </a:lnSpc>
              <a:buNone/>
            </a:pPr>
            <a:r>
              <a:rPr lang="en-US" sz="3150" b="1" dirty="0">
                <a:solidFill>
                  <a:srgbClr val="200020"/>
                </a:solidFill>
                <a:latin typeface="Manrope" pitchFamily="34" charset="0"/>
                <a:ea typeface="Manrope" pitchFamily="34" charset="-122"/>
                <a:cs typeface="Manrope" pitchFamily="34" charset="-120"/>
              </a:rPr>
              <a:t>, según la prioridad del negocio</a:t>
            </a:r>
            <a:endParaRPr lang="en-US" sz="3150" dirty="0"/>
          </a:p>
        </p:txBody>
      </p:sp>
      <p:sp>
        <p:nvSpPr>
          <p:cNvPr id="5" name="Shape 3"/>
          <p:cNvSpPr/>
          <p:nvPr/>
        </p:nvSpPr>
        <p:spPr>
          <a:xfrm>
            <a:off x="762000" y="2171700"/>
            <a:ext cx="3416300" cy="3810000"/>
          </a:xfrm>
          <a:prstGeom prst="roundRect">
            <a:avLst>
              <a:gd name="adj" fmla="val 4461"/>
            </a:avLst>
          </a:prstGeom>
          <a:solidFill>
            <a:srgbClr val="FFFFFF"/>
          </a:solidFill>
          <a:ln/>
        </p:spPr>
      </p:sp>
      <p:sp>
        <p:nvSpPr>
          <p:cNvPr id="6" name="Shape 4"/>
          <p:cNvSpPr/>
          <p:nvPr/>
        </p:nvSpPr>
        <p:spPr>
          <a:xfrm>
            <a:off x="1028700" y="2438400"/>
            <a:ext cx="495300" cy="495300"/>
          </a:xfrm>
          <a:prstGeom prst="roundRect">
            <a:avLst>
              <a:gd name="adj" fmla="val 26923"/>
            </a:avLst>
          </a:prstGeom>
          <a:solidFill>
            <a:srgbClr val="DA0081"/>
          </a:solidFill>
          <a:ln/>
        </p:spPr>
      </p:sp>
      <p:pic>
        <p:nvPicPr>
          <p:cNvPr id="7" name="Image 0" descr="preencoded.png">    </p:cNvPr>
          <p:cNvPicPr>
            <a:picLocks noChangeAspect="1"/>
          </p:cNvPicPr>
          <p:nvPr/>
        </p:nvPicPr>
        <p:blipFill>
          <a:blip r:embed="rId1"/>
          <a:stretch>
            <a:fillRect/>
          </a:stretch>
        </p:blipFill>
        <p:spPr>
          <a:xfrm>
            <a:off x="1152525" y="2562225"/>
            <a:ext cx="247650" cy="247650"/>
          </a:xfrm>
          <a:prstGeom prst="rect">
            <a:avLst/>
          </a:prstGeom>
        </p:spPr>
      </p:pic>
      <p:sp>
        <p:nvSpPr>
          <p:cNvPr id="8" name="Text 5"/>
          <p:cNvSpPr txBox="1"/>
          <p:nvPr/>
        </p:nvSpPr>
        <p:spPr>
          <a:xfrm>
            <a:off x="1657350" y="2438400"/>
            <a:ext cx="1905000" cy="495300"/>
          </a:xfrm>
          <a:prstGeom prst="rect">
            <a:avLst/>
          </a:prstGeom>
          <a:noFill/>
          <a:ln/>
        </p:spPr>
        <p:txBody>
          <a:bodyPr wrap="square" lIns="0" tIns="0" rIns="0" bIns="0" rtlCol="0" anchor="ctr"/>
          <a:lstStyle/>
          <a:p>
            <a:pPr algn="l" indent="0" marL="0">
              <a:lnSpc>
                <a:spcPct val="100000"/>
              </a:lnSpc>
              <a:buNone/>
            </a:pPr>
            <a:r>
              <a:rPr lang="en-US" sz="1650" b="1" dirty="0">
                <a:solidFill>
                  <a:srgbClr val="200020"/>
                </a:solidFill>
                <a:latin typeface="Manrope" pitchFamily="34" charset="0"/>
                <a:ea typeface="Manrope" pitchFamily="34" charset="-122"/>
                <a:cs typeface="Manrope" pitchFamily="34" charset="-120"/>
              </a:rPr>
              <a:t>Negocio</a:t>
            </a:r>
            <a:endParaRPr lang="en-US" sz="1650" dirty="0"/>
          </a:p>
        </p:txBody>
      </p:sp>
      <p:sp>
        <p:nvSpPr>
          <p:cNvPr id="9" name="Shape 6"/>
          <p:cNvSpPr/>
          <p:nvPr/>
        </p:nvSpPr>
        <p:spPr>
          <a:xfrm>
            <a:off x="1028700" y="3162300"/>
            <a:ext cx="2882900" cy="323850"/>
          </a:xfrm>
          <a:prstGeom prst="roundRect">
            <a:avLst>
              <a:gd name="adj" fmla="val 20588"/>
            </a:avLst>
          </a:prstGeom>
          <a:solidFill>
            <a:srgbClr val="F1BFDA"/>
          </a:solidFill>
          <a:ln/>
        </p:spPr>
      </p:sp>
      <p:sp>
        <p:nvSpPr>
          <p:cNvPr id="10" name="Text 7"/>
          <p:cNvSpPr txBox="1"/>
          <p:nvPr/>
        </p:nvSpPr>
        <p:spPr>
          <a:xfrm>
            <a:off x="1028700" y="3162300"/>
            <a:ext cx="2882900" cy="323850"/>
          </a:xfrm>
          <a:prstGeom prst="rect">
            <a:avLst/>
          </a:prstGeom>
          <a:noFill/>
          <a:ln/>
        </p:spPr>
        <p:txBody>
          <a:bodyPr wrap="square" lIns="0" tIns="0" rIns="0" bIns="0" rtlCol="0" anchor="ctr"/>
          <a:lstStyle/>
          <a:p>
            <a:pPr algn="ctr" indent="0" marL="0">
              <a:lnSpc>
                <a:spcPct val="100000"/>
              </a:lnSpc>
              <a:buNone/>
            </a:pPr>
            <a:r>
              <a:rPr lang="en-US" sz="1050" b="1" dirty="0">
                <a:solidFill>
                  <a:srgbClr val="200020"/>
                </a:solidFill>
                <a:latin typeface="Manrope" pitchFamily="34" charset="0"/>
                <a:ea typeface="Manrope" pitchFamily="34" charset="-122"/>
                <a:cs typeface="Manrope" pitchFamily="34" charset="-120"/>
              </a:rPr>
              <a:t>Servicios críticos · disponibilidad</a:t>
            </a:r>
            <a:endParaRPr lang="en-US" sz="1050" dirty="0"/>
          </a:p>
        </p:txBody>
      </p:sp>
      <p:sp>
        <p:nvSpPr>
          <p:cNvPr id="11" name="Shape 8"/>
          <p:cNvSpPr/>
          <p:nvPr/>
        </p:nvSpPr>
        <p:spPr>
          <a:xfrm>
            <a:off x="1028700" y="3581400"/>
            <a:ext cx="2882900" cy="323850"/>
          </a:xfrm>
          <a:prstGeom prst="roundRect">
            <a:avLst>
              <a:gd name="adj" fmla="val 20588"/>
            </a:avLst>
          </a:prstGeom>
          <a:solidFill>
            <a:srgbClr val="F1BFDA"/>
          </a:solidFill>
          <a:ln/>
        </p:spPr>
      </p:sp>
      <p:sp>
        <p:nvSpPr>
          <p:cNvPr id="12" name="Text 9"/>
          <p:cNvSpPr txBox="1"/>
          <p:nvPr/>
        </p:nvSpPr>
        <p:spPr>
          <a:xfrm>
            <a:off x="1028700" y="3581400"/>
            <a:ext cx="2882900" cy="323850"/>
          </a:xfrm>
          <a:prstGeom prst="rect">
            <a:avLst/>
          </a:prstGeom>
          <a:noFill/>
          <a:ln/>
        </p:spPr>
        <p:txBody>
          <a:bodyPr wrap="square" lIns="0" tIns="0" rIns="0" bIns="0" rtlCol="0" anchor="ctr"/>
          <a:lstStyle/>
          <a:p>
            <a:pPr algn="ctr" indent="0" marL="0">
              <a:lnSpc>
                <a:spcPct val="100000"/>
              </a:lnSpc>
              <a:buNone/>
            </a:pPr>
            <a:r>
              <a:rPr lang="en-US" sz="1050" b="1" dirty="0">
                <a:solidFill>
                  <a:srgbClr val="200020"/>
                </a:solidFill>
                <a:latin typeface="Manrope" pitchFamily="34" charset="0"/>
                <a:ea typeface="Manrope" pitchFamily="34" charset="-122"/>
                <a:cs typeface="Manrope" pitchFamily="34" charset="-120"/>
              </a:rPr>
              <a:t>Temas regulatorios</a:t>
            </a:r>
            <a:endParaRPr lang="en-US" sz="1050" dirty="0"/>
          </a:p>
        </p:txBody>
      </p:sp>
      <p:sp>
        <p:nvSpPr>
          <p:cNvPr id="13" name="Text 10"/>
          <p:cNvSpPr txBox="1"/>
          <p:nvPr/>
        </p:nvSpPr>
        <p:spPr>
          <a:xfrm>
            <a:off x="1028700" y="4095750"/>
            <a:ext cx="2857500" cy="209550"/>
          </a:xfrm>
          <a:prstGeom prst="rect">
            <a:avLst/>
          </a:prstGeom>
          <a:noFill/>
          <a:ln/>
        </p:spPr>
        <p:txBody>
          <a:bodyPr wrap="square" lIns="0" tIns="0" rIns="0" bIns="0" rtlCol="0" anchor="t"/>
          <a:lstStyle/>
          <a:p>
            <a:pPr algn="l" indent="0" marL="0">
              <a:lnSpc>
                <a:spcPct val="100000"/>
              </a:lnSpc>
              <a:buNone/>
            </a:pPr>
            <a:r>
              <a:rPr lang="en-US" sz="1130" b="1" dirty="0">
                <a:solidFill>
                  <a:srgbClr val="5A4A6A"/>
                </a:solidFill>
                <a:latin typeface="Manrope" pitchFamily="34" charset="0"/>
                <a:ea typeface="Manrope" pitchFamily="34" charset="-122"/>
                <a:cs typeface="Manrope" pitchFamily="34" charset="-120"/>
              </a:rPr>
              <a:t>o, por evolución:</a:t>
            </a:r>
            <a:endParaRPr lang="en-US" sz="1130" dirty="0"/>
          </a:p>
        </p:txBody>
      </p:sp>
      <p:sp>
        <p:nvSpPr>
          <p:cNvPr id="14" name="Shape 11"/>
          <p:cNvSpPr/>
          <p:nvPr/>
        </p:nvSpPr>
        <p:spPr>
          <a:xfrm>
            <a:off x="1028700" y="4438650"/>
            <a:ext cx="1143000" cy="342900"/>
          </a:xfrm>
          <a:prstGeom prst="roundRect">
            <a:avLst>
              <a:gd name="adj" fmla="val 22222"/>
            </a:avLst>
          </a:prstGeom>
          <a:solidFill>
            <a:srgbClr val="ECE7F5"/>
          </a:solidFill>
          <a:ln/>
        </p:spPr>
      </p:sp>
      <p:sp>
        <p:nvSpPr>
          <p:cNvPr id="15" name="Text 12"/>
          <p:cNvSpPr txBox="1"/>
          <p:nvPr/>
        </p:nvSpPr>
        <p:spPr>
          <a:xfrm>
            <a:off x="1028700" y="4438650"/>
            <a:ext cx="1143000" cy="342900"/>
          </a:xfrm>
          <a:prstGeom prst="rect">
            <a:avLst/>
          </a:prstGeom>
          <a:noFill/>
          <a:ln/>
        </p:spPr>
        <p:txBody>
          <a:bodyPr wrap="square" lIns="0" tIns="0" rIns="0" bIns="0" rtlCol="0" anchor="ctr"/>
          <a:lstStyle/>
          <a:p>
            <a:pPr algn="ctr" indent="0" marL="0">
              <a:lnSpc>
                <a:spcPct val="100000"/>
              </a:lnSpc>
              <a:buNone/>
            </a:pPr>
            <a:r>
              <a:rPr lang="en-US" sz="1050" b="1" dirty="0">
                <a:solidFill>
                  <a:srgbClr val="200020"/>
                </a:solidFill>
                <a:latin typeface="Manrope" pitchFamily="34" charset="0"/>
                <a:ea typeface="Manrope" pitchFamily="34" charset="-122"/>
                <a:cs typeface="Manrope" pitchFamily="34" charset="-120"/>
              </a:rPr>
              <a:t>Migrar</a:t>
            </a:r>
            <a:endParaRPr lang="en-US" sz="1050" dirty="0"/>
          </a:p>
        </p:txBody>
      </p:sp>
      <p:sp>
        <p:nvSpPr>
          <p:cNvPr id="16" name="Shape 13"/>
          <p:cNvSpPr/>
          <p:nvPr/>
        </p:nvSpPr>
        <p:spPr>
          <a:xfrm>
            <a:off x="2495550" y="4438650"/>
            <a:ext cx="1143000" cy="342900"/>
          </a:xfrm>
          <a:prstGeom prst="roundRect">
            <a:avLst>
              <a:gd name="adj" fmla="val 22222"/>
            </a:avLst>
          </a:prstGeom>
          <a:solidFill>
            <a:srgbClr val="ECE7F5"/>
          </a:solidFill>
          <a:ln/>
        </p:spPr>
      </p:sp>
      <p:sp>
        <p:nvSpPr>
          <p:cNvPr id="17" name="Text 14"/>
          <p:cNvSpPr txBox="1"/>
          <p:nvPr/>
        </p:nvSpPr>
        <p:spPr>
          <a:xfrm>
            <a:off x="2495550" y="4438650"/>
            <a:ext cx="1143000" cy="342900"/>
          </a:xfrm>
          <a:prstGeom prst="rect">
            <a:avLst/>
          </a:prstGeom>
          <a:noFill/>
          <a:ln/>
        </p:spPr>
        <p:txBody>
          <a:bodyPr wrap="square" lIns="0" tIns="0" rIns="0" bIns="0" rtlCol="0" anchor="ctr"/>
          <a:lstStyle/>
          <a:p>
            <a:pPr algn="ctr" indent="0" marL="0">
              <a:lnSpc>
                <a:spcPct val="100000"/>
              </a:lnSpc>
              <a:buNone/>
            </a:pPr>
            <a:r>
              <a:rPr lang="en-US" sz="1050" b="1" dirty="0">
                <a:solidFill>
                  <a:srgbClr val="200020"/>
                </a:solidFill>
                <a:latin typeface="Manrope" pitchFamily="34" charset="0"/>
                <a:ea typeface="Manrope" pitchFamily="34" charset="-122"/>
                <a:cs typeface="Manrope" pitchFamily="34" charset="-120"/>
              </a:rPr>
              <a:t>Producción</a:t>
            </a:r>
            <a:endParaRPr lang="en-US" sz="1050" dirty="0"/>
          </a:p>
        </p:txBody>
      </p:sp>
      <p:sp>
        <p:nvSpPr>
          <p:cNvPr id="18" name="Shape 15"/>
          <p:cNvSpPr/>
          <p:nvPr/>
        </p:nvSpPr>
        <p:spPr>
          <a:xfrm>
            <a:off x="2495550" y="5029200"/>
            <a:ext cx="1143000" cy="342900"/>
          </a:xfrm>
          <a:prstGeom prst="roundRect">
            <a:avLst>
              <a:gd name="adj" fmla="val 22222"/>
            </a:avLst>
          </a:prstGeom>
          <a:solidFill>
            <a:srgbClr val="ECE7F5"/>
          </a:solidFill>
          <a:ln/>
        </p:spPr>
      </p:sp>
      <p:sp>
        <p:nvSpPr>
          <p:cNvPr id="19" name="Text 16"/>
          <p:cNvSpPr txBox="1"/>
          <p:nvPr/>
        </p:nvSpPr>
        <p:spPr>
          <a:xfrm>
            <a:off x="2495550" y="5029200"/>
            <a:ext cx="1143000" cy="342900"/>
          </a:xfrm>
          <a:prstGeom prst="rect">
            <a:avLst/>
          </a:prstGeom>
          <a:noFill/>
          <a:ln/>
        </p:spPr>
        <p:txBody>
          <a:bodyPr wrap="square" lIns="0" tIns="0" rIns="0" bIns="0" rtlCol="0" anchor="ctr"/>
          <a:lstStyle/>
          <a:p>
            <a:pPr algn="ctr" indent="0" marL="0">
              <a:lnSpc>
                <a:spcPct val="100000"/>
              </a:lnSpc>
              <a:buNone/>
            </a:pPr>
            <a:r>
              <a:rPr lang="en-US" sz="1050" b="1" dirty="0">
                <a:solidFill>
                  <a:srgbClr val="200020"/>
                </a:solidFill>
                <a:latin typeface="Manrope" pitchFamily="34" charset="0"/>
                <a:ea typeface="Manrope" pitchFamily="34" charset="-122"/>
                <a:cs typeface="Manrope" pitchFamily="34" charset="-120"/>
              </a:rPr>
              <a:t>Estabilizar</a:t>
            </a:r>
            <a:endParaRPr lang="en-US" sz="1050" dirty="0"/>
          </a:p>
        </p:txBody>
      </p:sp>
      <p:sp>
        <p:nvSpPr>
          <p:cNvPr id="20" name="Shape 17"/>
          <p:cNvSpPr/>
          <p:nvPr/>
        </p:nvSpPr>
        <p:spPr>
          <a:xfrm>
            <a:off x="1028700" y="5029200"/>
            <a:ext cx="1143000" cy="342900"/>
          </a:xfrm>
          <a:prstGeom prst="roundRect">
            <a:avLst>
              <a:gd name="adj" fmla="val 22222"/>
            </a:avLst>
          </a:prstGeom>
          <a:solidFill>
            <a:srgbClr val="DA0081"/>
          </a:solidFill>
          <a:ln/>
        </p:spPr>
      </p:sp>
      <p:sp>
        <p:nvSpPr>
          <p:cNvPr id="21" name="Text 18"/>
          <p:cNvSpPr txBox="1"/>
          <p:nvPr/>
        </p:nvSpPr>
        <p:spPr>
          <a:xfrm>
            <a:off x="1028700" y="5029200"/>
            <a:ext cx="1143000" cy="342900"/>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Manrope" pitchFamily="34" charset="0"/>
                <a:ea typeface="Manrope" pitchFamily="34" charset="-122"/>
                <a:cs typeface="Manrope" pitchFamily="34" charset="-120"/>
              </a:rPr>
              <a:t>Evolucionar</a:t>
            </a:r>
            <a:endParaRPr lang="en-US" sz="1050" dirty="0"/>
          </a:p>
        </p:txBody>
      </p:sp>
      <p:pic>
        <p:nvPicPr>
          <p:cNvPr id="22" name="Image 1" descr="preencoded.png">    </p:cNvPr>
          <p:cNvPicPr>
            <a:picLocks noChangeAspect="1"/>
          </p:cNvPicPr>
          <p:nvPr/>
        </p:nvPicPr>
        <p:blipFill>
          <a:blip r:embed="rId2"/>
          <a:stretch>
            <a:fillRect/>
          </a:stretch>
        </p:blipFill>
        <p:spPr>
          <a:xfrm>
            <a:off x="2238375" y="4514850"/>
            <a:ext cx="190500" cy="190500"/>
          </a:xfrm>
          <a:prstGeom prst="rect">
            <a:avLst/>
          </a:prstGeom>
        </p:spPr>
      </p:pic>
      <p:pic>
        <p:nvPicPr>
          <p:cNvPr id="23" name="Image 2" descr="preencoded.png">    </p:cNvPr>
          <p:cNvPicPr>
            <a:picLocks noChangeAspect="1"/>
          </p:cNvPicPr>
          <p:nvPr/>
        </p:nvPicPr>
        <p:blipFill>
          <a:blip r:embed="rId3"/>
          <a:stretch>
            <a:fillRect/>
          </a:stretch>
        </p:blipFill>
        <p:spPr>
          <a:xfrm rot="5400000">
            <a:off x="2971800" y="4810125"/>
            <a:ext cx="190500" cy="190500"/>
          </a:xfrm>
          <a:prstGeom prst="rect">
            <a:avLst/>
          </a:prstGeom>
        </p:spPr>
      </p:pic>
      <p:pic>
        <p:nvPicPr>
          <p:cNvPr id="24" name="Image 3" descr="preencoded.png">    </p:cNvPr>
          <p:cNvPicPr>
            <a:picLocks noChangeAspect="1"/>
          </p:cNvPicPr>
          <p:nvPr/>
        </p:nvPicPr>
        <p:blipFill>
          <a:blip r:embed="rId4"/>
          <a:stretch>
            <a:fillRect/>
          </a:stretch>
        </p:blipFill>
        <p:spPr>
          <a:xfrm rot="10800000">
            <a:off x="2238375" y="5105400"/>
            <a:ext cx="190500" cy="190500"/>
          </a:xfrm>
          <a:prstGeom prst="rect">
            <a:avLst/>
          </a:prstGeom>
        </p:spPr>
      </p:pic>
      <p:sp>
        <p:nvSpPr>
          <p:cNvPr id="25" name="Text 19"/>
          <p:cNvSpPr txBox="1"/>
          <p:nvPr/>
        </p:nvSpPr>
        <p:spPr>
          <a:xfrm>
            <a:off x="1028700" y="5486400"/>
            <a:ext cx="2882900" cy="381000"/>
          </a:xfrm>
          <a:prstGeom prst="rect">
            <a:avLst/>
          </a:prstGeom>
          <a:noFill/>
          <a:ln/>
        </p:spPr>
        <p:txBody>
          <a:bodyPr wrap="square" lIns="0" tIns="0" rIns="0" bIns="0" rtlCol="0" anchor="t"/>
          <a:lstStyle/>
          <a:p>
            <a:pPr algn="l" indent="0" marL="0">
              <a:lnSpc>
                <a:spcPct val="100000"/>
              </a:lnSpc>
              <a:buNone/>
            </a:pPr>
            <a:r>
              <a:rPr lang="en-US" sz="980" dirty="0">
                <a:solidFill>
                  <a:srgbClr val="5A4A6A"/>
                </a:solidFill>
                <a:latin typeface="Manrope" pitchFamily="34" charset="0"/>
                <a:ea typeface="Manrope" pitchFamily="34" charset="-122"/>
                <a:cs typeface="Manrope" pitchFamily="34" charset="-120"/>
              </a:rPr>
              <a:t>Migrar → producción → estabilizar → acelerar la evolución del producto.</a:t>
            </a:r>
            <a:endParaRPr lang="en-US" sz="980" dirty="0"/>
          </a:p>
        </p:txBody>
      </p:sp>
      <p:sp>
        <p:nvSpPr>
          <p:cNvPr id="26" name="Shape 20"/>
          <p:cNvSpPr/>
          <p:nvPr/>
        </p:nvSpPr>
        <p:spPr>
          <a:xfrm>
            <a:off x="4387850" y="2171700"/>
            <a:ext cx="3416300" cy="3810000"/>
          </a:xfrm>
          <a:prstGeom prst="roundRect">
            <a:avLst>
              <a:gd name="adj" fmla="val 4461"/>
            </a:avLst>
          </a:prstGeom>
          <a:solidFill>
            <a:srgbClr val="FFFFFF"/>
          </a:solidFill>
          <a:ln/>
        </p:spPr>
      </p:sp>
      <p:sp>
        <p:nvSpPr>
          <p:cNvPr id="27" name="Shape 21"/>
          <p:cNvSpPr/>
          <p:nvPr/>
        </p:nvSpPr>
        <p:spPr>
          <a:xfrm>
            <a:off x="4654550" y="2438400"/>
            <a:ext cx="495300" cy="495300"/>
          </a:xfrm>
          <a:prstGeom prst="roundRect">
            <a:avLst>
              <a:gd name="adj" fmla="val 26923"/>
            </a:avLst>
          </a:prstGeom>
          <a:solidFill>
            <a:srgbClr val="DA0081"/>
          </a:solidFill>
          <a:ln/>
        </p:spPr>
      </p:sp>
      <p:pic>
        <p:nvPicPr>
          <p:cNvPr id="28" name="Image 4" descr="preencoded.png">    </p:cNvPr>
          <p:cNvPicPr>
            <a:picLocks noChangeAspect="1"/>
          </p:cNvPicPr>
          <p:nvPr/>
        </p:nvPicPr>
        <p:blipFill>
          <a:blip r:embed="rId5"/>
          <a:stretch>
            <a:fillRect/>
          </a:stretch>
        </p:blipFill>
        <p:spPr>
          <a:xfrm>
            <a:off x="4778375" y="2562225"/>
            <a:ext cx="247650" cy="247650"/>
          </a:xfrm>
          <a:prstGeom prst="rect">
            <a:avLst/>
          </a:prstGeom>
        </p:spPr>
      </p:pic>
      <p:sp>
        <p:nvSpPr>
          <p:cNvPr id="29" name="Text 22"/>
          <p:cNvSpPr txBox="1"/>
          <p:nvPr/>
        </p:nvSpPr>
        <p:spPr>
          <a:xfrm>
            <a:off x="5283200" y="2438400"/>
            <a:ext cx="1905000" cy="495300"/>
          </a:xfrm>
          <a:prstGeom prst="rect">
            <a:avLst/>
          </a:prstGeom>
          <a:noFill/>
          <a:ln/>
        </p:spPr>
        <p:txBody>
          <a:bodyPr wrap="square" lIns="0" tIns="0" rIns="0" bIns="0" rtlCol="0" anchor="ctr"/>
          <a:lstStyle/>
          <a:p>
            <a:pPr algn="l" indent="0" marL="0">
              <a:lnSpc>
                <a:spcPct val="100000"/>
              </a:lnSpc>
              <a:buNone/>
            </a:pPr>
            <a:r>
              <a:rPr lang="en-US" sz="1650" b="1" dirty="0">
                <a:solidFill>
                  <a:srgbClr val="200020"/>
                </a:solidFill>
                <a:latin typeface="Manrope" pitchFamily="34" charset="0"/>
                <a:ea typeface="Manrope" pitchFamily="34" charset="-122"/>
                <a:cs typeface="Manrope" pitchFamily="34" charset="-120"/>
              </a:rPr>
              <a:t>Técnica</a:t>
            </a:r>
            <a:endParaRPr lang="en-US" sz="1650" dirty="0"/>
          </a:p>
        </p:txBody>
      </p:sp>
      <p:sp>
        <p:nvSpPr>
          <p:cNvPr id="30" name="Text 23"/>
          <p:cNvSpPr txBox="1"/>
          <p:nvPr/>
        </p:nvSpPr>
        <p:spPr>
          <a:xfrm>
            <a:off x="4654550" y="3124200"/>
            <a:ext cx="2882900" cy="209550"/>
          </a:xfrm>
          <a:prstGeom prst="rect">
            <a:avLst/>
          </a:prstGeom>
          <a:noFill/>
          <a:ln/>
        </p:spPr>
        <p:txBody>
          <a:bodyPr wrap="square" lIns="0" tIns="0" rIns="0" bIns="0" rtlCol="0" anchor="t"/>
          <a:lstStyle/>
          <a:p>
            <a:pPr algn="l" indent="0" marL="0">
              <a:lnSpc>
                <a:spcPct val="100000"/>
              </a:lnSpc>
              <a:buNone/>
            </a:pPr>
            <a:r>
              <a:rPr lang="en-US" sz="1130" dirty="0">
                <a:solidFill>
                  <a:srgbClr val="5A4A6A"/>
                </a:solidFill>
                <a:latin typeface="Manrope" pitchFamily="34" charset="0"/>
                <a:ea typeface="Manrope" pitchFamily="34" charset="-122"/>
                <a:cs typeface="Manrope" pitchFamily="34" charset="-120"/>
              </a:rPr>
              <a:t>Actualización del stack tecnológico</a:t>
            </a:r>
            <a:endParaRPr lang="en-US" sz="1130" dirty="0"/>
          </a:p>
        </p:txBody>
      </p:sp>
      <p:sp>
        <p:nvSpPr>
          <p:cNvPr id="31" name="Shape 24"/>
          <p:cNvSpPr/>
          <p:nvPr/>
        </p:nvSpPr>
        <p:spPr>
          <a:xfrm>
            <a:off x="4806950" y="3867150"/>
            <a:ext cx="95" cy="247650"/>
          </a:xfrm>
          <a:prstGeom prst="line">
            <a:avLst/>
          </a:prstGeom>
          <a:noFill/>
          <a:ln w="25400">
            <a:solidFill>
              <a:srgbClr val="F1BFDA"/>
            </a:solidFill>
            <a:prstDash val="solid"/>
          </a:ln>
        </p:spPr>
      </p:sp>
      <p:sp>
        <p:nvSpPr>
          <p:cNvPr id="32" name="Shape 25"/>
          <p:cNvSpPr/>
          <p:nvPr/>
        </p:nvSpPr>
        <p:spPr>
          <a:xfrm>
            <a:off x="4654550" y="3562350"/>
            <a:ext cx="304800" cy="304800"/>
          </a:xfrm>
          <a:prstGeom prst="roundRect">
            <a:avLst>
              <a:gd name="adj" fmla="val 25000"/>
            </a:avLst>
          </a:prstGeom>
          <a:solidFill>
            <a:srgbClr val="DA0081"/>
          </a:solidFill>
          <a:ln/>
        </p:spPr>
      </p:sp>
      <p:sp>
        <p:nvSpPr>
          <p:cNvPr id="33" name="Text 26"/>
          <p:cNvSpPr txBox="1"/>
          <p:nvPr/>
        </p:nvSpPr>
        <p:spPr>
          <a:xfrm>
            <a:off x="4654550" y="3562350"/>
            <a:ext cx="304800" cy="304800"/>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Manrope" pitchFamily="34" charset="0"/>
                <a:ea typeface="Manrope" pitchFamily="34" charset="-122"/>
                <a:cs typeface="Manrope" pitchFamily="34" charset="-120"/>
              </a:rPr>
              <a:t>1</a:t>
            </a:r>
            <a:endParaRPr lang="en-US" sz="1050" dirty="0"/>
          </a:p>
        </p:txBody>
      </p:sp>
      <p:sp>
        <p:nvSpPr>
          <p:cNvPr id="34" name="Text 27"/>
          <p:cNvSpPr txBox="1"/>
          <p:nvPr/>
        </p:nvSpPr>
        <p:spPr>
          <a:xfrm>
            <a:off x="5092700" y="3562350"/>
            <a:ext cx="2463800" cy="304800"/>
          </a:xfrm>
          <a:prstGeom prst="rect">
            <a:avLst/>
          </a:prstGeom>
          <a:noFill/>
          <a:ln/>
        </p:spPr>
        <p:txBody>
          <a:bodyPr wrap="square" lIns="0" tIns="0" rIns="0" bIns="0" rtlCol="0" anchor="ctr"/>
          <a:lstStyle/>
          <a:p>
            <a:pPr algn="l" indent="0" marL="0">
              <a:lnSpc>
                <a:spcPct val="100000"/>
              </a:lnSpc>
              <a:buNone/>
            </a:pPr>
            <a:r>
              <a:rPr lang="en-US" sz="1200" b="1" dirty="0">
                <a:solidFill>
                  <a:srgbClr val="200020"/>
                </a:solidFill>
                <a:latin typeface="Manrope" pitchFamily="34" charset="0"/>
                <a:ea typeface="Manrope" pitchFamily="34" charset="-122"/>
                <a:cs typeface="Manrope" pitchFamily="34" charset="-120"/>
              </a:rPr>
              <a:t>Evaluar framework (Spring)</a:t>
            </a:r>
            <a:endParaRPr lang="en-US" sz="1200" dirty="0"/>
          </a:p>
        </p:txBody>
      </p:sp>
      <p:sp>
        <p:nvSpPr>
          <p:cNvPr id="35" name="Shape 28"/>
          <p:cNvSpPr/>
          <p:nvPr/>
        </p:nvSpPr>
        <p:spPr>
          <a:xfrm>
            <a:off x="4806950" y="4419600"/>
            <a:ext cx="95" cy="247650"/>
          </a:xfrm>
          <a:prstGeom prst="line">
            <a:avLst/>
          </a:prstGeom>
          <a:noFill/>
          <a:ln w="25400">
            <a:solidFill>
              <a:srgbClr val="F1BFDA"/>
            </a:solidFill>
            <a:prstDash val="solid"/>
          </a:ln>
        </p:spPr>
      </p:sp>
      <p:sp>
        <p:nvSpPr>
          <p:cNvPr id="36" name="Shape 29"/>
          <p:cNvSpPr/>
          <p:nvPr/>
        </p:nvSpPr>
        <p:spPr>
          <a:xfrm>
            <a:off x="4654550" y="4114800"/>
            <a:ext cx="304800" cy="304800"/>
          </a:xfrm>
          <a:prstGeom prst="roundRect">
            <a:avLst>
              <a:gd name="adj" fmla="val 25000"/>
            </a:avLst>
          </a:prstGeom>
          <a:solidFill>
            <a:srgbClr val="DA0081"/>
          </a:solidFill>
          <a:ln/>
        </p:spPr>
      </p:sp>
      <p:sp>
        <p:nvSpPr>
          <p:cNvPr id="37" name="Text 30"/>
          <p:cNvSpPr txBox="1"/>
          <p:nvPr/>
        </p:nvSpPr>
        <p:spPr>
          <a:xfrm>
            <a:off x="4654550" y="4114800"/>
            <a:ext cx="304800" cy="304800"/>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Manrope" pitchFamily="34" charset="0"/>
                <a:ea typeface="Manrope" pitchFamily="34" charset="-122"/>
                <a:cs typeface="Manrope" pitchFamily="34" charset="-120"/>
              </a:rPr>
              <a:t>2</a:t>
            </a:r>
            <a:endParaRPr lang="en-US" sz="1050" dirty="0"/>
          </a:p>
        </p:txBody>
      </p:sp>
      <p:sp>
        <p:nvSpPr>
          <p:cNvPr id="38" name="Text 31"/>
          <p:cNvSpPr txBox="1"/>
          <p:nvPr/>
        </p:nvSpPr>
        <p:spPr>
          <a:xfrm>
            <a:off x="5092700" y="4114800"/>
            <a:ext cx="2463800" cy="304800"/>
          </a:xfrm>
          <a:prstGeom prst="rect">
            <a:avLst/>
          </a:prstGeom>
          <a:noFill/>
          <a:ln/>
        </p:spPr>
        <p:txBody>
          <a:bodyPr wrap="square" lIns="0" tIns="0" rIns="0" bIns="0" rtlCol="0" anchor="ctr"/>
          <a:lstStyle/>
          <a:p>
            <a:pPr algn="l" indent="0" marL="0">
              <a:lnSpc>
                <a:spcPct val="100000"/>
              </a:lnSpc>
              <a:buNone/>
            </a:pPr>
            <a:r>
              <a:rPr lang="en-US" sz="1200" b="1" dirty="0">
                <a:solidFill>
                  <a:srgbClr val="200020"/>
                </a:solidFill>
                <a:latin typeface="Manrope" pitchFamily="34" charset="0"/>
                <a:ea typeface="Manrope" pitchFamily="34" charset="-122"/>
                <a:cs typeface="Manrope" pitchFamily="34" charset="-120"/>
              </a:rPr>
              <a:t>Pruebas de concepto</a:t>
            </a:r>
            <a:endParaRPr lang="en-US" sz="1200" dirty="0"/>
          </a:p>
        </p:txBody>
      </p:sp>
      <p:sp>
        <p:nvSpPr>
          <p:cNvPr id="39" name="Shape 32"/>
          <p:cNvSpPr/>
          <p:nvPr/>
        </p:nvSpPr>
        <p:spPr>
          <a:xfrm>
            <a:off x="4806950" y="4972050"/>
            <a:ext cx="95" cy="247650"/>
          </a:xfrm>
          <a:prstGeom prst="line">
            <a:avLst/>
          </a:prstGeom>
          <a:noFill/>
          <a:ln w="25400">
            <a:solidFill>
              <a:srgbClr val="F1BFDA"/>
            </a:solidFill>
            <a:prstDash val="solid"/>
          </a:ln>
        </p:spPr>
      </p:sp>
      <p:sp>
        <p:nvSpPr>
          <p:cNvPr id="40" name="Shape 33"/>
          <p:cNvSpPr/>
          <p:nvPr/>
        </p:nvSpPr>
        <p:spPr>
          <a:xfrm>
            <a:off x="4654550" y="4667250"/>
            <a:ext cx="304800" cy="304800"/>
          </a:xfrm>
          <a:prstGeom prst="roundRect">
            <a:avLst>
              <a:gd name="adj" fmla="val 25000"/>
            </a:avLst>
          </a:prstGeom>
          <a:solidFill>
            <a:srgbClr val="DA0081"/>
          </a:solidFill>
          <a:ln/>
        </p:spPr>
      </p:sp>
      <p:sp>
        <p:nvSpPr>
          <p:cNvPr id="41" name="Text 34"/>
          <p:cNvSpPr txBox="1"/>
          <p:nvPr/>
        </p:nvSpPr>
        <p:spPr>
          <a:xfrm>
            <a:off x="4654550" y="4667250"/>
            <a:ext cx="304800" cy="304800"/>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Manrope" pitchFamily="34" charset="0"/>
                <a:ea typeface="Manrope" pitchFamily="34" charset="-122"/>
                <a:cs typeface="Manrope" pitchFamily="34" charset="-120"/>
              </a:rPr>
              <a:t>3</a:t>
            </a:r>
            <a:endParaRPr lang="en-US" sz="1050" dirty="0"/>
          </a:p>
        </p:txBody>
      </p:sp>
      <p:sp>
        <p:nvSpPr>
          <p:cNvPr id="42" name="Text 35"/>
          <p:cNvSpPr txBox="1"/>
          <p:nvPr/>
        </p:nvSpPr>
        <p:spPr>
          <a:xfrm>
            <a:off x="5092700" y="4667250"/>
            <a:ext cx="2463800" cy="304800"/>
          </a:xfrm>
          <a:prstGeom prst="rect">
            <a:avLst/>
          </a:prstGeom>
          <a:noFill/>
          <a:ln/>
        </p:spPr>
        <p:txBody>
          <a:bodyPr wrap="square" lIns="0" tIns="0" rIns="0" bIns="0" rtlCol="0" anchor="ctr"/>
          <a:lstStyle/>
          <a:p>
            <a:pPr algn="l" indent="0" marL="0">
              <a:lnSpc>
                <a:spcPct val="100000"/>
              </a:lnSpc>
              <a:buNone/>
            </a:pPr>
            <a:r>
              <a:rPr lang="en-US" sz="1200" b="1" dirty="0">
                <a:solidFill>
                  <a:srgbClr val="200020"/>
                </a:solidFill>
                <a:latin typeface="Manrope" pitchFamily="34" charset="0"/>
                <a:ea typeface="Manrope" pitchFamily="34" charset="-122"/>
                <a:cs typeface="Manrope" pitchFamily="34" charset="-120"/>
              </a:rPr>
              <a:t>Decisión de migrar</a:t>
            </a:r>
            <a:endParaRPr lang="en-US" sz="1200" dirty="0"/>
          </a:p>
        </p:txBody>
      </p:sp>
      <p:sp>
        <p:nvSpPr>
          <p:cNvPr id="43" name="Shape 36"/>
          <p:cNvSpPr/>
          <p:nvPr/>
        </p:nvSpPr>
        <p:spPr>
          <a:xfrm>
            <a:off x="4654550" y="5219700"/>
            <a:ext cx="304800" cy="304800"/>
          </a:xfrm>
          <a:prstGeom prst="roundRect">
            <a:avLst>
              <a:gd name="adj" fmla="val 25000"/>
            </a:avLst>
          </a:prstGeom>
          <a:solidFill>
            <a:srgbClr val="200020"/>
          </a:solidFill>
          <a:ln/>
        </p:spPr>
      </p:sp>
      <p:sp>
        <p:nvSpPr>
          <p:cNvPr id="44" name="Text 37"/>
          <p:cNvSpPr txBox="1"/>
          <p:nvPr/>
        </p:nvSpPr>
        <p:spPr>
          <a:xfrm>
            <a:off x="4654550" y="5219700"/>
            <a:ext cx="304800" cy="304800"/>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Manrope" pitchFamily="34" charset="0"/>
                <a:ea typeface="Manrope" pitchFamily="34" charset="-122"/>
                <a:cs typeface="Manrope" pitchFamily="34" charset="-120"/>
              </a:rPr>
              <a:t>+</a:t>
            </a:r>
            <a:endParaRPr lang="en-US" sz="1050" dirty="0"/>
          </a:p>
        </p:txBody>
      </p:sp>
      <p:sp>
        <p:nvSpPr>
          <p:cNvPr id="45" name="Text 38"/>
          <p:cNvSpPr txBox="1"/>
          <p:nvPr/>
        </p:nvSpPr>
        <p:spPr>
          <a:xfrm>
            <a:off x="5092700" y="5219700"/>
            <a:ext cx="2463800" cy="304800"/>
          </a:xfrm>
          <a:prstGeom prst="rect">
            <a:avLst/>
          </a:prstGeom>
          <a:noFill/>
          <a:ln/>
        </p:spPr>
        <p:txBody>
          <a:bodyPr wrap="square" lIns="0" tIns="0" rIns="0" bIns="0" rtlCol="0" anchor="ctr"/>
          <a:lstStyle/>
          <a:p>
            <a:pPr algn="l" indent="0" marL="0">
              <a:lnSpc>
                <a:spcPct val="100000"/>
              </a:lnSpc>
              <a:buNone/>
            </a:pPr>
            <a:r>
              <a:rPr lang="en-US" sz="1200" b="1" dirty="0">
                <a:solidFill>
                  <a:srgbClr val="200020"/>
                </a:solidFill>
                <a:latin typeface="Manrope" pitchFamily="34" charset="0"/>
                <a:ea typeface="Manrope" pitchFamily="34" charset="-122"/>
                <a:cs typeface="Manrope" pitchFamily="34" charset="-120"/>
              </a:rPr>
              <a:t>QA · Integración · DevOps</a:t>
            </a:r>
            <a:endParaRPr lang="en-US" sz="1200" dirty="0"/>
          </a:p>
        </p:txBody>
      </p:sp>
      <p:sp>
        <p:nvSpPr>
          <p:cNvPr id="46" name="Shape 39"/>
          <p:cNvSpPr/>
          <p:nvPr/>
        </p:nvSpPr>
        <p:spPr>
          <a:xfrm>
            <a:off x="8013700" y="2171700"/>
            <a:ext cx="3416300" cy="3810000"/>
          </a:xfrm>
          <a:prstGeom prst="roundRect">
            <a:avLst>
              <a:gd name="adj" fmla="val 4461"/>
            </a:avLst>
          </a:prstGeom>
          <a:solidFill>
            <a:srgbClr val="200020"/>
          </a:solidFill>
          <a:ln/>
        </p:spPr>
      </p:sp>
      <p:sp>
        <p:nvSpPr>
          <p:cNvPr id="47" name="Shape 40"/>
          <p:cNvSpPr/>
          <p:nvPr/>
        </p:nvSpPr>
        <p:spPr>
          <a:xfrm>
            <a:off x="8280400" y="2438400"/>
            <a:ext cx="495300" cy="495300"/>
          </a:xfrm>
          <a:prstGeom prst="roundRect">
            <a:avLst>
              <a:gd name="adj" fmla="val 26923"/>
            </a:avLst>
          </a:prstGeom>
          <a:solidFill>
            <a:srgbClr val="DA0081"/>
          </a:solidFill>
          <a:ln/>
        </p:spPr>
      </p:sp>
      <p:pic>
        <p:nvPicPr>
          <p:cNvPr id="48" name="Image 5" descr="preencoded.png">    </p:cNvPr>
          <p:cNvPicPr>
            <a:picLocks noChangeAspect="1"/>
          </p:cNvPicPr>
          <p:nvPr/>
        </p:nvPicPr>
        <p:blipFill>
          <a:blip r:embed="rId6"/>
          <a:stretch>
            <a:fillRect/>
          </a:stretch>
        </p:blipFill>
        <p:spPr>
          <a:xfrm>
            <a:off x="8404225" y="2562225"/>
            <a:ext cx="247650" cy="247650"/>
          </a:xfrm>
          <a:prstGeom prst="rect">
            <a:avLst/>
          </a:prstGeom>
        </p:spPr>
      </p:pic>
      <p:sp>
        <p:nvSpPr>
          <p:cNvPr id="49" name="Text 41"/>
          <p:cNvSpPr txBox="1"/>
          <p:nvPr/>
        </p:nvSpPr>
        <p:spPr>
          <a:xfrm>
            <a:off x="8909050" y="2438400"/>
            <a:ext cx="1905000" cy="495300"/>
          </a:xfrm>
          <a:prstGeom prst="rect">
            <a:avLst/>
          </a:prstGeom>
          <a:noFill/>
          <a:ln/>
        </p:spPr>
        <p:txBody>
          <a:bodyPr wrap="square" lIns="0" tIns="0" rIns="0" bIns="0" rtlCol="0" anchor="ctr"/>
          <a:lstStyle/>
          <a:p>
            <a:pPr algn="l" indent="0" marL="0">
              <a:lnSpc>
                <a:spcPct val="100000"/>
              </a:lnSpc>
              <a:buNone/>
            </a:pPr>
            <a:r>
              <a:rPr lang="en-US" sz="1650" b="1" dirty="0">
                <a:solidFill>
                  <a:srgbClr val="ECE7F5"/>
                </a:solidFill>
                <a:latin typeface="Manrope" pitchFamily="34" charset="0"/>
                <a:ea typeface="Manrope" pitchFamily="34" charset="-122"/>
                <a:cs typeface="Manrope" pitchFamily="34" charset="-120"/>
              </a:rPr>
              <a:t>Developer</a:t>
            </a:r>
            <a:endParaRPr lang="en-US" sz="1650" dirty="0"/>
          </a:p>
        </p:txBody>
      </p:sp>
      <p:sp>
        <p:nvSpPr>
          <p:cNvPr id="50" name="Text 42"/>
          <p:cNvSpPr txBox="1"/>
          <p:nvPr/>
        </p:nvSpPr>
        <p:spPr>
          <a:xfrm>
            <a:off x="8280400" y="3219450"/>
            <a:ext cx="2882900" cy="914400"/>
          </a:xfrm>
          <a:prstGeom prst="rect">
            <a:avLst/>
          </a:prstGeom>
          <a:noFill/>
          <a:ln/>
        </p:spPr>
        <p:txBody>
          <a:bodyPr wrap="square" lIns="0" tIns="0" rIns="0" bIns="0" rtlCol="0" anchor="t"/>
          <a:lstStyle/>
          <a:p>
            <a:pPr algn="l" indent="0" marL="0">
              <a:lnSpc>
                <a:spcPct val="100000"/>
              </a:lnSpc>
              <a:buNone/>
            </a:pPr>
            <a:r>
              <a:rPr lang="en-US" sz="2550" b="1" dirty="0">
                <a:solidFill>
                  <a:srgbClr val="ECE7F5"/>
                </a:solidFill>
                <a:latin typeface="Manrope" pitchFamily="34" charset="0"/>
                <a:ea typeface="Manrope" pitchFamily="34" charset="-122"/>
                <a:cs typeface="Manrope" pitchFamily="34" charset="-120"/>
              </a:rPr>
              <a:t>“Divide y </a:t>
            </a:r>
            <a:endParaRPr lang="en-US" sz="2550" dirty="0"/>
          </a:p>
          <a:p>
            <a:pPr algn="l" indent="0" marL="0">
              <a:lnSpc>
                <a:spcPct val="100000"/>
              </a:lnSpc>
              <a:buNone/>
            </a:pPr>
            <a:r>
              <a:rPr lang="en-US" sz="2550" b="1" dirty="0">
                <a:solidFill>
                  <a:srgbClr val="DA0081"/>
                </a:solidFill>
                <a:latin typeface="Manrope" pitchFamily="34" charset="0"/>
                <a:ea typeface="Manrope" pitchFamily="34" charset="-122"/>
                <a:cs typeface="Manrope" pitchFamily="34" charset="-120"/>
              </a:rPr>
              <a:t>vencerás”</a:t>
            </a:r>
            <a:endParaRPr lang="en-US" sz="2550" dirty="0"/>
          </a:p>
        </p:txBody>
      </p:sp>
      <p:sp>
        <p:nvSpPr>
          <p:cNvPr id="51" name="Text 43"/>
          <p:cNvSpPr txBox="1"/>
          <p:nvPr/>
        </p:nvSpPr>
        <p:spPr>
          <a:xfrm>
            <a:off x="8280400" y="4286250"/>
            <a:ext cx="2882900" cy="762000"/>
          </a:xfrm>
          <a:prstGeom prst="rect">
            <a:avLst/>
          </a:prstGeom>
          <a:noFill/>
          <a:ln/>
        </p:spPr>
        <p:txBody>
          <a:bodyPr wrap="square" lIns="0" tIns="0" rIns="0" bIns="0" rtlCol="0" anchor="t"/>
          <a:lstStyle/>
          <a:p>
            <a:pPr algn="l" indent="0" marL="0">
              <a:lnSpc>
                <a:spcPct val="115000"/>
              </a:lnSpc>
              <a:buNone/>
            </a:pPr>
            <a:r>
              <a:rPr lang="en-US" sz="1200" dirty="0">
                <a:solidFill>
                  <a:srgbClr val="C8BDD8"/>
                </a:solidFill>
                <a:latin typeface="Manrope" pitchFamily="34" charset="0"/>
                <a:ea typeface="Manrope" pitchFamily="34" charset="-122"/>
                <a:cs typeface="Manrope" pitchFamily="34" charset="-120"/>
              </a:rPr>
              <a:t>Entender el legado, crear el proyecto destino y migrar por capas, en un orden cuidadoso.</a:t>
            </a:r>
            <a:endParaRPr lang="en-US" sz="1200" dirty="0"/>
          </a:p>
        </p:txBody>
      </p:sp>
      <p:sp>
        <p:nvSpPr>
          <p:cNvPr id="52" name="Shape 44"/>
          <p:cNvSpPr/>
          <p:nvPr/>
        </p:nvSpPr>
        <p:spPr>
          <a:xfrm>
            <a:off x="8280400" y="5314950"/>
            <a:ext cx="1524000" cy="304800"/>
          </a:xfrm>
          <a:prstGeom prst="roundRect">
            <a:avLst>
              <a:gd name="adj" fmla="val 21875"/>
            </a:avLst>
          </a:prstGeom>
          <a:solidFill>
            <a:srgbClr val="DA0081"/>
          </a:solidFill>
          <a:ln/>
        </p:spPr>
      </p:sp>
      <p:sp>
        <p:nvSpPr>
          <p:cNvPr id="53" name="Text 45"/>
          <p:cNvSpPr txBox="1"/>
          <p:nvPr/>
        </p:nvSpPr>
        <p:spPr>
          <a:xfrm>
            <a:off x="8280400" y="5314950"/>
            <a:ext cx="1524000" cy="304800"/>
          </a:xfrm>
          <a:prstGeom prst="rect">
            <a:avLst/>
          </a:prstGeom>
          <a:noFill/>
          <a:ln/>
        </p:spPr>
        <p:txBody>
          <a:bodyPr wrap="square" lIns="0" tIns="0" rIns="0" bIns="0" rtlCol="0" anchor="ctr"/>
          <a:lstStyle/>
          <a:p>
            <a:pPr algn="ctr" indent="0" marL="0">
              <a:lnSpc>
                <a:spcPct val="100000"/>
              </a:lnSpc>
              <a:buNone/>
            </a:pPr>
            <a:r>
              <a:rPr lang="en-US" sz="980" b="1" dirty="0">
                <a:solidFill>
                  <a:srgbClr val="FFFFFF"/>
                </a:solidFill>
                <a:latin typeface="Manrope" pitchFamily="34" charset="0"/>
                <a:ea typeface="Manrope" pitchFamily="34" charset="-122"/>
                <a:cs typeface="Manrope" pitchFamily="34" charset="-120"/>
              </a:rPr>
              <a:t>Siguiente slide →</a:t>
            </a:r>
            <a:endParaRPr lang="en-US" sz="980" dirty="0"/>
          </a:p>
        </p:txBody>
      </p:sp>
      <p:sp>
        <p:nvSpPr>
          <p:cNvPr id="25" name="Slide Number Placeholder 0"/>
          <p:cNvSpPr>
            <a:spLocks noGrp="1"/>
          </p:cNvSpPr>
          <p:nvPr>
            <p:ph type="sldNum" sz="quarter" idx="4294967295"/>
          </p:nvPr>
        </p:nvSpPr>
        <p:spPr>
          <a:xfrm>
            <a:off x="9525000" y="6477000"/>
            <a:ext cx="47625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5A4A6A"/>
                </a:solidFill>
                <a:latin typeface="Manrope"/>
                <a:ea typeface="Manrope"/>
                <a:cs typeface="Manrope"/>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62000" y="657225"/>
            <a:ext cx="95250" cy="95250"/>
          </a:xfrm>
          <a:prstGeom prst="roundRect">
            <a:avLst>
              <a:gd name="adj" fmla="val 20000"/>
            </a:avLst>
          </a:prstGeom>
          <a:solidFill>
            <a:srgbClr val="DA0081"/>
          </a:solidFill>
          <a:ln/>
        </p:spPr>
      </p:sp>
      <p:sp>
        <p:nvSpPr>
          <p:cNvPr id="3" name="Text 1"/>
          <p:cNvSpPr txBox="1"/>
          <p:nvPr/>
        </p:nvSpPr>
        <p:spPr>
          <a:xfrm>
            <a:off x="952500" y="609600"/>
            <a:ext cx="7620000" cy="190500"/>
          </a:xfrm>
          <a:prstGeom prst="rect">
            <a:avLst/>
          </a:prstGeom>
          <a:noFill/>
          <a:ln/>
        </p:spPr>
        <p:txBody>
          <a:bodyPr wrap="square" lIns="0" tIns="0" rIns="0" bIns="0" rtlCol="0" anchor="ctr"/>
          <a:lstStyle/>
          <a:p>
            <a:pPr algn="l" indent="0" marL="0">
              <a:lnSpc>
                <a:spcPct val="100000"/>
              </a:lnSpc>
              <a:buNone/>
            </a:pPr>
            <a:r>
              <a:rPr lang="en-US" sz="1130" b="1" spc="200" kern="0" dirty="0">
                <a:solidFill>
                  <a:srgbClr val="DA0081"/>
                </a:solidFill>
                <a:latin typeface="Manrope" pitchFamily="34" charset="0"/>
                <a:ea typeface="Manrope" pitchFamily="34" charset="-122"/>
                <a:cs typeface="Manrope" pitchFamily="34" charset="-120"/>
              </a:rPr>
              <a:t>04 · DIVIDE Y VENCERÁS</a:t>
            </a:r>
            <a:endParaRPr lang="en-US" sz="1130" dirty="0"/>
          </a:p>
        </p:txBody>
      </p:sp>
      <p:sp>
        <p:nvSpPr>
          <p:cNvPr id="4" name="Text 2"/>
          <p:cNvSpPr txBox="1"/>
          <p:nvPr/>
        </p:nvSpPr>
        <p:spPr>
          <a:xfrm>
            <a:off x="762000" y="876300"/>
            <a:ext cx="9525000" cy="1047750"/>
          </a:xfrm>
          <a:prstGeom prst="rect">
            <a:avLst/>
          </a:prstGeom>
          <a:noFill/>
          <a:ln/>
        </p:spPr>
        <p:txBody>
          <a:bodyPr wrap="square" lIns="0" tIns="0" rIns="0" bIns="0" rtlCol="0" anchor="t"/>
          <a:lstStyle/>
          <a:p>
            <a:pPr algn="l" indent="0" marL="0">
              <a:lnSpc>
                <a:spcPct val="95000"/>
              </a:lnSpc>
              <a:buNone/>
            </a:pPr>
            <a:r>
              <a:rPr lang="en-US" sz="3150" b="1" dirty="0">
                <a:solidFill>
                  <a:srgbClr val="200020"/>
                </a:solidFill>
                <a:latin typeface="Manrope" pitchFamily="34" charset="0"/>
                <a:ea typeface="Manrope" pitchFamily="34" charset="-122"/>
                <a:cs typeface="Manrope" pitchFamily="34" charset="-120"/>
              </a:rPr>
              <a:t>El proceso manual del developer, paso a paso</a:t>
            </a:r>
            <a:endParaRPr lang="en-US" sz="3150" dirty="0"/>
          </a:p>
        </p:txBody>
      </p:sp>
      <p:sp>
        <p:nvSpPr>
          <p:cNvPr id="5" name="Shape 3"/>
          <p:cNvSpPr/>
          <p:nvPr/>
        </p:nvSpPr>
        <p:spPr>
          <a:xfrm>
            <a:off x="1387078" y="2286000"/>
            <a:ext cx="9417844" cy="95"/>
          </a:xfrm>
          <a:prstGeom prst="line">
            <a:avLst/>
          </a:prstGeom>
          <a:noFill/>
          <a:ln w="38100">
            <a:solidFill>
              <a:srgbClr val="F1BFDA"/>
            </a:solidFill>
            <a:prstDash val="solid"/>
          </a:ln>
        </p:spPr>
      </p:sp>
      <p:sp>
        <p:nvSpPr>
          <p:cNvPr id="6" name="Shape 4"/>
          <p:cNvSpPr/>
          <p:nvPr/>
        </p:nvSpPr>
        <p:spPr>
          <a:xfrm>
            <a:off x="1006078" y="1905000"/>
            <a:ext cx="762000" cy="762000"/>
          </a:xfrm>
          <a:prstGeom prst="roundRect">
            <a:avLst>
              <a:gd name="adj" fmla="val 25000"/>
            </a:avLst>
          </a:prstGeom>
          <a:solidFill>
            <a:srgbClr val="200020"/>
          </a:solidFill>
          <a:ln/>
        </p:spPr>
      </p:sp>
      <p:pic>
        <p:nvPicPr>
          <p:cNvPr id="7" name="Image 0" descr="preencoded.png">    </p:cNvPr>
          <p:cNvPicPr>
            <a:picLocks noChangeAspect="1"/>
          </p:cNvPicPr>
          <p:nvPr/>
        </p:nvPicPr>
        <p:blipFill>
          <a:blip r:embed="rId1"/>
          <a:stretch>
            <a:fillRect/>
          </a:stretch>
        </p:blipFill>
        <p:spPr>
          <a:xfrm>
            <a:off x="1227058" y="2125980"/>
            <a:ext cx="320040" cy="320040"/>
          </a:xfrm>
          <a:prstGeom prst="rect">
            <a:avLst/>
          </a:prstGeom>
        </p:spPr>
      </p:pic>
      <p:sp>
        <p:nvSpPr>
          <p:cNvPr id="8" name="Text 5"/>
          <p:cNvSpPr txBox="1"/>
          <p:nvPr/>
        </p:nvSpPr>
        <p:spPr>
          <a:xfrm>
            <a:off x="762000" y="2781300"/>
            <a:ext cx="1250156" cy="190500"/>
          </a:xfrm>
          <a:prstGeom prst="rect">
            <a:avLst/>
          </a:prstGeom>
          <a:noFill/>
          <a:ln/>
        </p:spPr>
        <p:txBody>
          <a:bodyPr wrap="square" lIns="0" tIns="0" rIns="0" bIns="0" rtlCol="0" anchor="t"/>
          <a:lstStyle/>
          <a:p>
            <a:pPr algn="ctr" indent="0" marL="0">
              <a:lnSpc>
                <a:spcPct val="100000"/>
              </a:lnSpc>
              <a:buNone/>
            </a:pPr>
            <a:r>
              <a:rPr lang="en-US" sz="1050" b="1" dirty="0">
                <a:solidFill>
                  <a:srgbClr val="DA0081"/>
                </a:solidFill>
                <a:latin typeface="Manrope" pitchFamily="34" charset="0"/>
                <a:ea typeface="Manrope" pitchFamily="34" charset="-122"/>
                <a:cs typeface="Manrope" pitchFamily="34" charset="-120"/>
              </a:rPr>
              <a:t>01</a:t>
            </a:r>
            <a:endParaRPr lang="en-US" sz="1050" dirty="0"/>
          </a:p>
        </p:txBody>
      </p:sp>
      <p:sp>
        <p:nvSpPr>
          <p:cNvPr id="9" name="Text 6"/>
          <p:cNvSpPr txBox="1"/>
          <p:nvPr/>
        </p:nvSpPr>
        <p:spPr>
          <a:xfrm>
            <a:off x="762000" y="2990850"/>
            <a:ext cx="1250156" cy="457200"/>
          </a:xfrm>
          <a:prstGeom prst="rect">
            <a:avLst/>
          </a:prstGeom>
          <a:noFill/>
          <a:ln/>
        </p:spPr>
        <p:txBody>
          <a:bodyPr wrap="square" lIns="0" tIns="0" rIns="0" bIns="0" rtlCol="0" anchor="t"/>
          <a:lstStyle/>
          <a:p>
            <a:pPr algn="ctr" indent="0" marL="0">
              <a:lnSpc>
                <a:spcPct val="105000"/>
              </a:lnSpc>
              <a:buNone/>
            </a:pPr>
            <a:r>
              <a:rPr lang="en-US" sz="1200" b="1" dirty="0">
                <a:solidFill>
                  <a:srgbClr val="200020"/>
                </a:solidFill>
                <a:latin typeface="Manrope" pitchFamily="34" charset="0"/>
                <a:ea typeface="Manrope" pitchFamily="34" charset="-122"/>
                <a:cs typeface="Manrope" pitchFamily="34" charset="-120"/>
              </a:rPr>
              <a:t>Entender el legado</a:t>
            </a:r>
            <a:endParaRPr lang="en-US" sz="1200" dirty="0"/>
          </a:p>
        </p:txBody>
      </p:sp>
      <p:sp>
        <p:nvSpPr>
          <p:cNvPr id="10" name="Shape 7"/>
          <p:cNvSpPr/>
          <p:nvPr/>
        </p:nvSpPr>
        <p:spPr>
          <a:xfrm>
            <a:off x="2351484" y="1905000"/>
            <a:ext cx="762000" cy="762000"/>
          </a:xfrm>
          <a:prstGeom prst="roundRect">
            <a:avLst>
              <a:gd name="adj" fmla="val 25000"/>
            </a:avLst>
          </a:prstGeom>
          <a:solidFill>
            <a:srgbClr val="200020"/>
          </a:solidFill>
          <a:ln/>
        </p:spPr>
      </p:sp>
      <p:pic>
        <p:nvPicPr>
          <p:cNvPr id="11" name="Image 1" descr="preencoded.png">    </p:cNvPr>
          <p:cNvPicPr>
            <a:picLocks noChangeAspect="1"/>
          </p:cNvPicPr>
          <p:nvPr/>
        </p:nvPicPr>
        <p:blipFill>
          <a:blip r:embed="rId2"/>
          <a:stretch>
            <a:fillRect/>
          </a:stretch>
        </p:blipFill>
        <p:spPr>
          <a:xfrm>
            <a:off x="2572464" y="2125980"/>
            <a:ext cx="320040" cy="320040"/>
          </a:xfrm>
          <a:prstGeom prst="rect">
            <a:avLst/>
          </a:prstGeom>
        </p:spPr>
      </p:pic>
      <p:sp>
        <p:nvSpPr>
          <p:cNvPr id="12" name="Text 8"/>
          <p:cNvSpPr txBox="1"/>
          <p:nvPr/>
        </p:nvSpPr>
        <p:spPr>
          <a:xfrm>
            <a:off x="2107406" y="2781300"/>
            <a:ext cx="1250156" cy="190500"/>
          </a:xfrm>
          <a:prstGeom prst="rect">
            <a:avLst/>
          </a:prstGeom>
          <a:noFill/>
          <a:ln/>
        </p:spPr>
        <p:txBody>
          <a:bodyPr wrap="square" lIns="0" tIns="0" rIns="0" bIns="0" rtlCol="0" anchor="t"/>
          <a:lstStyle/>
          <a:p>
            <a:pPr algn="ctr" indent="0" marL="0">
              <a:lnSpc>
                <a:spcPct val="100000"/>
              </a:lnSpc>
              <a:buNone/>
            </a:pPr>
            <a:r>
              <a:rPr lang="en-US" sz="1050" b="1" dirty="0">
                <a:solidFill>
                  <a:srgbClr val="DA0081"/>
                </a:solidFill>
                <a:latin typeface="Manrope" pitchFamily="34" charset="0"/>
                <a:ea typeface="Manrope" pitchFamily="34" charset="-122"/>
                <a:cs typeface="Manrope" pitchFamily="34" charset="-120"/>
              </a:rPr>
              <a:t>02</a:t>
            </a:r>
            <a:endParaRPr lang="en-US" sz="1050" dirty="0"/>
          </a:p>
        </p:txBody>
      </p:sp>
      <p:sp>
        <p:nvSpPr>
          <p:cNvPr id="13" name="Text 9"/>
          <p:cNvSpPr txBox="1"/>
          <p:nvPr/>
        </p:nvSpPr>
        <p:spPr>
          <a:xfrm>
            <a:off x="2107406" y="2990850"/>
            <a:ext cx="1250156" cy="457200"/>
          </a:xfrm>
          <a:prstGeom prst="rect">
            <a:avLst/>
          </a:prstGeom>
          <a:noFill/>
          <a:ln/>
        </p:spPr>
        <p:txBody>
          <a:bodyPr wrap="square" lIns="0" tIns="0" rIns="0" bIns="0" rtlCol="0" anchor="t"/>
          <a:lstStyle/>
          <a:p>
            <a:pPr algn="ctr" indent="0" marL="0">
              <a:lnSpc>
                <a:spcPct val="105000"/>
              </a:lnSpc>
              <a:buNone/>
            </a:pPr>
            <a:r>
              <a:rPr lang="en-US" sz="1200" b="1" dirty="0">
                <a:solidFill>
                  <a:srgbClr val="200020"/>
                </a:solidFill>
                <a:latin typeface="Manrope" pitchFamily="34" charset="0"/>
                <a:ea typeface="Manrope" pitchFamily="34" charset="-122"/>
                <a:cs typeface="Manrope" pitchFamily="34" charset="-120"/>
              </a:rPr>
              <a:t>Crear proyecto destino</a:t>
            </a:r>
            <a:endParaRPr lang="en-US" sz="1200" dirty="0"/>
          </a:p>
        </p:txBody>
      </p:sp>
      <p:sp>
        <p:nvSpPr>
          <p:cNvPr id="14" name="Shape 10"/>
          <p:cNvSpPr/>
          <p:nvPr/>
        </p:nvSpPr>
        <p:spPr>
          <a:xfrm>
            <a:off x="3696891" y="1905000"/>
            <a:ext cx="762000" cy="762000"/>
          </a:xfrm>
          <a:prstGeom prst="roundRect">
            <a:avLst>
              <a:gd name="adj" fmla="val 25000"/>
            </a:avLst>
          </a:prstGeom>
          <a:solidFill>
            <a:srgbClr val="DA0081"/>
          </a:solidFill>
          <a:ln/>
        </p:spPr>
      </p:sp>
      <p:pic>
        <p:nvPicPr>
          <p:cNvPr id="15" name="Image 2" descr="preencoded.png">    </p:cNvPr>
          <p:cNvPicPr>
            <a:picLocks noChangeAspect="1"/>
          </p:cNvPicPr>
          <p:nvPr/>
        </p:nvPicPr>
        <p:blipFill>
          <a:blip r:embed="rId3"/>
          <a:stretch>
            <a:fillRect/>
          </a:stretch>
        </p:blipFill>
        <p:spPr>
          <a:xfrm>
            <a:off x="3917871" y="2125980"/>
            <a:ext cx="320040" cy="320040"/>
          </a:xfrm>
          <a:prstGeom prst="rect">
            <a:avLst/>
          </a:prstGeom>
        </p:spPr>
      </p:pic>
      <p:sp>
        <p:nvSpPr>
          <p:cNvPr id="16" name="Text 11"/>
          <p:cNvSpPr txBox="1"/>
          <p:nvPr/>
        </p:nvSpPr>
        <p:spPr>
          <a:xfrm>
            <a:off x="3452813" y="2781300"/>
            <a:ext cx="1250156" cy="190500"/>
          </a:xfrm>
          <a:prstGeom prst="rect">
            <a:avLst/>
          </a:prstGeom>
          <a:noFill/>
          <a:ln/>
        </p:spPr>
        <p:txBody>
          <a:bodyPr wrap="square" lIns="0" tIns="0" rIns="0" bIns="0" rtlCol="0" anchor="t"/>
          <a:lstStyle/>
          <a:p>
            <a:pPr algn="ctr" indent="0" marL="0">
              <a:lnSpc>
                <a:spcPct val="100000"/>
              </a:lnSpc>
              <a:buNone/>
            </a:pPr>
            <a:r>
              <a:rPr lang="en-US" sz="1050" b="1" dirty="0">
                <a:solidFill>
                  <a:srgbClr val="DA0081"/>
                </a:solidFill>
                <a:latin typeface="Manrope" pitchFamily="34" charset="0"/>
                <a:ea typeface="Manrope" pitchFamily="34" charset="-122"/>
                <a:cs typeface="Manrope" pitchFamily="34" charset="-120"/>
              </a:rPr>
              <a:t>03</a:t>
            </a:r>
            <a:endParaRPr lang="en-US" sz="1050" dirty="0"/>
          </a:p>
        </p:txBody>
      </p:sp>
      <p:sp>
        <p:nvSpPr>
          <p:cNvPr id="17" name="Text 12"/>
          <p:cNvSpPr txBox="1"/>
          <p:nvPr/>
        </p:nvSpPr>
        <p:spPr>
          <a:xfrm>
            <a:off x="3452813" y="2990850"/>
            <a:ext cx="1250156" cy="457200"/>
          </a:xfrm>
          <a:prstGeom prst="rect">
            <a:avLst/>
          </a:prstGeom>
          <a:noFill/>
          <a:ln/>
        </p:spPr>
        <p:txBody>
          <a:bodyPr wrap="square" lIns="0" tIns="0" rIns="0" bIns="0" rtlCol="0" anchor="t"/>
          <a:lstStyle/>
          <a:p>
            <a:pPr algn="ctr" indent="0" marL="0">
              <a:lnSpc>
                <a:spcPct val="105000"/>
              </a:lnSpc>
              <a:buNone/>
            </a:pPr>
            <a:r>
              <a:rPr lang="en-US" sz="1200" b="1" dirty="0">
                <a:solidFill>
                  <a:srgbClr val="200020"/>
                </a:solidFill>
                <a:latin typeface="Manrope" pitchFamily="34" charset="0"/>
                <a:ea typeface="Manrope" pitchFamily="34" charset="-122"/>
                <a:cs typeface="Manrope" pitchFamily="34" charset="-120"/>
              </a:rPr>
              <a:t>Objetos de datos</a:t>
            </a:r>
            <a:endParaRPr lang="en-US" sz="1200" dirty="0"/>
          </a:p>
        </p:txBody>
      </p:sp>
      <p:sp>
        <p:nvSpPr>
          <p:cNvPr id="18" name="Shape 13"/>
          <p:cNvSpPr/>
          <p:nvPr/>
        </p:nvSpPr>
        <p:spPr>
          <a:xfrm>
            <a:off x="5042297" y="1905000"/>
            <a:ext cx="762000" cy="762000"/>
          </a:xfrm>
          <a:prstGeom prst="roundRect">
            <a:avLst>
              <a:gd name="adj" fmla="val 25000"/>
            </a:avLst>
          </a:prstGeom>
          <a:solidFill>
            <a:srgbClr val="DA0081"/>
          </a:solidFill>
          <a:ln/>
        </p:spPr>
      </p:sp>
      <p:pic>
        <p:nvPicPr>
          <p:cNvPr id="19" name="Image 3" descr="preencoded.png">    </p:cNvPr>
          <p:cNvPicPr>
            <a:picLocks noChangeAspect="1"/>
          </p:cNvPicPr>
          <p:nvPr/>
        </p:nvPicPr>
        <p:blipFill>
          <a:blip r:embed="rId4"/>
          <a:stretch>
            <a:fillRect/>
          </a:stretch>
        </p:blipFill>
        <p:spPr>
          <a:xfrm>
            <a:off x="5263277" y="2125980"/>
            <a:ext cx="320040" cy="320040"/>
          </a:xfrm>
          <a:prstGeom prst="rect">
            <a:avLst/>
          </a:prstGeom>
        </p:spPr>
      </p:pic>
      <p:sp>
        <p:nvSpPr>
          <p:cNvPr id="20" name="Text 14"/>
          <p:cNvSpPr txBox="1"/>
          <p:nvPr/>
        </p:nvSpPr>
        <p:spPr>
          <a:xfrm>
            <a:off x="4798219" y="2781300"/>
            <a:ext cx="1250156" cy="190500"/>
          </a:xfrm>
          <a:prstGeom prst="rect">
            <a:avLst/>
          </a:prstGeom>
          <a:noFill/>
          <a:ln/>
        </p:spPr>
        <p:txBody>
          <a:bodyPr wrap="square" lIns="0" tIns="0" rIns="0" bIns="0" rtlCol="0" anchor="t"/>
          <a:lstStyle/>
          <a:p>
            <a:pPr algn="ctr" indent="0" marL="0">
              <a:lnSpc>
                <a:spcPct val="100000"/>
              </a:lnSpc>
              <a:buNone/>
            </a:pPr>
            <a:r>
              <a:rPr lang="en-US" sz="1050" b="1" dirty="0">
                <a:solidFill>
                  <a:srgbClr val="DA0081"/>
                </a:solidFill>
                <a:latin typeface="Manrope" pitchFamily="34" charset="0"/>
                <a:ea typeface="Manrope" pitchFamily="34" charset="-122"/>
                <a:cs typeface="Manrope" pitchFamily="34" charset="-120"/>
              </a:rPr>
              <a:t>04</a:t>
            </a:r>
            <a:endParaRPr lang="en-US" sz="1050" dirty="0"/>
          </a:p>
        </p:txBody>
      </p:sp>
      <p:sp>
        <p:nvSpPr>
          <p:cNvPr id="21" name="Text 15"/>
          <p:cNvSpPr txBox="1"/>
          <p:nvPr/>
        </p:nvSpPr>
        <p:spPr>
          <a:xfrm>
            <a:off x="4798219" y="2990850"/>
            <a:ext cx="1250156" cy="457200"/>
          </a:xfrm>
          <a:prstGeom prst="rect">
            <a:avLst/>
          </a:prstGeom>
          <a:noFill/>
          <a:ln/>
        </p:spPr>
        <p:txBody>
          <a:bodyPr wrap="square" lIns="0" tIns="0" rIns="0" bIns="0" rtlCol="0" anchor="t"/>
          <a:lstStyle/>
          <a:p>
            <a:pPr algn="ctr" indent="0" marL="0">
              <a:lnSpc>
                <a:spcPct val="105000"/>
              </a:lnSpc>
              <a:buNone/>
            </a:pPr>
            <a:r>
              <a:rPr lang="en-US" sz="1200" b="1" dirty="0">
                <a:solidFill>
                  <a:srgbClr val="200020"/>
                </a:solidFill>
                <a:latin typeface="Manrope" pitchFamily="34" charset="0"/>
                <a:ea typeface="Manrope" pitchFamily="34" charset="-122"/>
                <a:cs typeface="Manrope" pitchFamily="34" charset="-120"/>
              </a:rPr>
              <a:t>Integraciones: BD y APIs</a:t>
            </a:r>
            <a:endParaRPr lang="en-US" sz="1200" dirty="0"/>
          </a:p>
        </p:txBody>
      </p:sp>
      <p:sp>
        <p:nvSpPr>
          <p:cNvPr id="22" name="Shape 16"/>
          <p:cNvSpPr/>
          <p:nvPr/>
        </p:nvSpPr>
        <p:spPr>
          <a:xfrm>
            <a:off x="6387703" y="1905000"/>
            <a:ext cx="762000" cy="762000"/>
          </a:xfrm>
          <a:prstGeom prst="roundRect">
            <a:avLst>
              <a:gd name="adj" fmla="val 25000"/>
            </a:avLst>
          </a:prstGeom>
          <a:solidFill>
            <a:srgbClr val="DA0081"/>
          </a:solidFill>
          <a:ln/>
        </p:spPr>
      </p:sp>
      <p:pic>
        <p:nvPicPr>
          <p:cNvPr id="23" name="Image 4" descr="preencoded.png">    </p:cNvPr>
          <p:cNvPicPr>
            <a:picLocks noChangeAspect="1"/>
          </p:cNvPicPr>
          <p:nvPr/>
        </p:nvPicPr>
        <p:blipFill>
          <a:blip r:embed="rId5"/>
          <a:stretch>
            <a:fillRect/>
          </a:stretch>
        </p:blipFill>
        <p:spPr>
          <a:xfrm>
            <a:off x="6608683" y="2125980"/>
            <a:ext cx="320040" cy="320040"/>
          </a:xfrm>
          <a:prstGeom prst="rect">
            <a:avLst/>
          </a:prstGeom>
        </p:spPr>
      </p:pic>
      <p:sp>
        <p:nvSpPr>
          <p:cNvPr id="24" name="Text 17"/>
          <p:cNvSpPr txBox="1"/>
          <p:nvPr/>
        </p:nvSpPr>
        <p:spPr>
          <a:xfrm>
            <a:off x="6143625" y="2781300"/>
            <a:ext cx="1250156" cy="190500"/>
          </a:xfrm>
          <a:prstGeom prst="rect">
            <a:avLst/>
          </a:prstGeom>
          <a:noFill/>
          <a:ln/>
        </p:spPr>
        <p:txBody>
          <a:bodyPr wrap="square" lIns="0" tIns="0" rIns="0" bIns="0" rtlCol="0" anchor="t"/>
          <a:lstStyle/>
          <a:p>
            <a:pPr algn="ctr" indent="0" marL="0">
              <a:lnSpc>
                <a:spcPct val="100000"/>
              </a:lnSpc>
              <a:buNone/>
            </a:pPr>
            <a:r>
              <a:rPr lang="en-US" sz="1050" b="1" dirty="0">
                <a:solidFill>
                  <a:srgbClr val="DA0081"/>
                </a:solidFill>
                <a:latin typeface="Manrope" pitchFamily="34" charset="0"/>
                <a:ea typeface="Manrope" pitchFamily="34" charset="-122"/>
                <a:cs typeface="Manrope" pitchFamily="34" charset="-120"/>
              </a:rPr>
              <a:t>05</a:t>
            </a:r>
            <a:endParaRPr lang="en-US" sz="1050" dirty="0"/>
          </a:p>
        </p:txBody>
      </p:sp>
      <p:sp>
        <p:nvSpPr>
          <p:cNvPr id="25" name="Text 18"/>
          <p:cNvSpPr txBox="1"/>
          <p:nvPr/>
        </p:nvSpPr>
        <p:spPr>
          <a:xfrm>
            <a:off x="6143625" y="2990850"/>
            <a:ext cx="1250156" cy="457200"/>
          </a:xfrm>
          <a:prstGeom prst="rect">
            <a:avLst/>
          </a:prstGeom>
          <a:noFill/>
          <a:ln/>
        </p:spPr>
        <p:txBody>
          <a:bodyPr wrap="square" lIns="0" tIns="0" rIns="0" bIns="0" rtlCol="0" anchor="t"/>
          <a:lstStyle/>
          <a:p>
            <a:pPr algn="ctr" indent="0" marL="0">
              <a:lnSpc>
                <a:spcPct val="105000"/>
              </a:lnSpc>
              <a:buNone/>
            </a:pPr>
            <a:r>
              <a:rPr lang="en-US" sz="1200" b="1" dirty="0">
                <a:solidFill>
                  <a:srgbClr val="200020"/>
                </a:solidFill>
                <a:latin typeface="Manrope" pitchFamily="34" charset="0"/>
                <a:ea typeface="Manrope" pitchFamily="34" charset="-122"/>
                <a:cs typeface="Manrope" pitchFamily="34" charset="-120"/>
              </a:rPr>
              <a:t>Lógica de negocio</a:t>
            </a:r>
            <a:endParaRPr lang="en-US" sz="1200" dirty="0"/>
          </a:p>
        </p:txBody>
      </p:sp>
      <p:sp>
        <p:nvSpPr>
          <p:cNvPr id="26" name="Shape 19"/>
          <p:cNvSpPr/>
          <p:nvPr/>
        </p:nvSpPr>
        <p:spPr>
          <a:xfrm>
            <a:off x="7733109" y="1905000"/>
            <a:ext cx="762000" cy="762000"/>
          </a:xfrm>
          <a:prstGeom prst="roundRect">
            <a:avLst>
              <a:gd name="adj" fmla="val 25000"/>
            </a:avLst>
          </a:prstGeom>
          <a:solidFill>
            <a:srgbClr val="DA0081"/>
          </a:solidFill>
          <a:ln/>
        </p:spPr>
      </p:sp>
      <p:pic>
        <p:nvPicPr>
          <p:cNvPr id="27" name="Image 5" descr="preencoded.png">    </p:cNvPr>
          <p:cNvPicPr>
            <a:picLocks noChangeAspect="1"/>
          </p:cNvPicPr>
          <p:nvPr/>
        </p:nvPicPr>
        <p:blipFill>
          <a:blip r:embed="rId6"/>
          <a:stretch>
            <a:fillRect/>
          </a:stretch>
        </p:blipFill>
        <p:spPr>
          <a:xfrm>
            <a:off x="7954089" y="2125980"/>
            <a:ext cx="320040" cy="320040"/>
          </a:xfrm>
          <a:prstGeom prst="rect">
            <a:avLst/>
          </a:prstGeom>
        </p:spPr>
      </p:pic>
      <p:sp>
        <p:nvSpPr>
          <p:cNvPr id="28" name="Text 20"/>
          <p:cNvSpPr txBox="1"/>
          <p:nvPr/>
        </p:nvSpPr>
        <p:spPr>
          <a:xfrm>
            <a:off x="7489031" y="2781300"/>
            <a:ext cx="1250156" cy="190500"/>
          </a:xfrm>
          <a:prstGeom prst="rect">
            <a:avLst/>
          </a:prstGeom>
          <a:noFill/>
          <a:ln/>
        </p:spPr>
        <p:txBody>
          <a:bodyPr wrap="square" lIns="0" tIns="0" rIns="0" bIns="0" rtlCol="0" anchor="t"/>
          <a:lstStyle/>
          <a:p>
            <a:pPr algn="ctr" indent="0" marL="0">
              <a:lnSpc>
                <a:spcPct val="100000"/>
              </a:lnSpc>
              <a:buNone/>
            </a:pPr>
            <a:r>
              <a:rPr lang="en-US" sz="1050" b="1" dirty="0">
                <a:solidFill>
                  <a:srgbClr val="DA0081"/>
                </a:solidFill>
                <a:latin typeface="Manrope" pitchFamily="34" charset="0"/>
                <a:ea typeface="Manrope" pitchFamily="34" charset="-122"/>
                <a:cs typeface="Manrope" pitchFamily="34" charset="-120"/>
              </a:rPr>
              <a:t>06</a:t>
            </a:r>
            <a:endParaRPr lang="en-US" sz="1050" dirty="0"/>
          </a:p>
        </p:txBody>
      </p:sp>
      <p:sp>
        <p:nvSpPr>
          <p:cNvPr id="29" name="Text 21"/>
          <p:cNvSpPr txBox="1"/>
          <p:nvPr/>
        </p:nvSpPr>
        <p:spPr>
          <a:xfrm>
            <a:off x="7489031" y="2990850"/>
            <a:ext cx="1250156" cy="457200"/>
          </a:xfrm>
          <a:prstGeom prst="rect">
            <a:avLst/>
          </a:prstGeom>
          <a:noFill/>
          <a:ln/>
        </p:spPr>
        <p:txBody>
          <a:bodyPr wrap="square" lIns="0" tIns="0" rIns="0" bIns="0" rtlCol="0" anchor="t"/>
          <a:lstStyle/>
          <a:p>
            <a:pPr algn="ctr" indent="0" marL="0">
              <a:lnSpc>
                <a:spcPct val="105000"/>
              </a:lnSpc>
              <a:buNone/>
            </a:pPr>
            <a:r>
              <a:rPr lang="en-US" sz="1200" b="1" dirty="0">
                <a:solidFill>
                  <a:srgbClr val="200020"/>
                </a:solidFill>
                <a:latin typeface="Manrope" pitchFamily="34" charset="0"/>
                <a:ea typeface="Manrope" pitchFamily="34" charset="-122"/>
                <a:cs typeface="Manrope" pitchFamily="34" charset="-120"/>
              </a:rPr>
              <a:t>Cuidar la mensajería</a:t>
            </a:r>
            <a:endParaRPr lang="en-US" sz="1200" dirty="0"/>
          </a:p>
        </p:txBody>
      </p:sp>
      <p:sp>
        <p:nvSpPr>
          <p:cNvPr id="30" name="Shape 22"/>
          <p:cNvSpPr/>
          <p:nvPr/>
        </p:nvSpPr>
        <p:spPr>
          <a:xfrm>
            <a:off x="9078516" y="1905000"/>
            <a:ext cx="762000" cy="762000"/>
          </a:xfrm>
          <a:prstGeom prst="roundRect">
            <a:avLst>
              <a:gd name="adj" fmla="val 25000"/>
            </a:avLst>
          </a:prstGeom>
          <a:solidFill>
            <a:srgbClr val="F1BFDA"/>
          </a:solidFill>
          <a:ln/>
        </p:spPr>
      </p:sp>
      <p:pic>
        <p:nvPicPr>
          <p:cNvPr id="31" name="Image 6" descr="preencoded.png">    </p:cNvPr>
          <p:cNvPicPr>
            <a:picLocks noChangeAspect="1"/>
          </p:cNvPicPr>
          <p:nvPr/>
        </p:nvPicPr>
        <p:blipFill>
          <a:blip r:embed="rId7"/>
          <a:stretch>
            <a:fillRect/>
          </a:stretch>
        </p:blipFill>
        <p:spPr>
          <a:xfrm>
            <a:off x="9299496" y="2125980"/>
            <a:ext cx="320040" cy="320040"/>
          </a:xfrm>
          <a:prstGeom prst="rect">
            <a:avLst/>
          </a:prstGeom>
        </p:spPr>
      </p:pic>
      <p:sp>
        <p:nvSpPr>
          <p:cNvPr id="32" name="Text 23"/>
          <p:cNvSpPr txBox="1"/>
          <p:nvPr/>
        </p:nvSpPr>
        <p:spPr>
          <a:xfrm>
            <a:off x="8834438" y="2781300"/>
            <a:ext cx="1250156" cy="190500"/>
          </a:xfrm>
          <a:prstGeom prst="rect">
            <a:avLst/>
          </a:prstGeom>
          <a:noFill/>
          <a:ln/>
        </p:spPr>
        <p:txBody>
          <a:bodyPr wrap="square" lIns="0" tIns="0" rIns="0" bIns="0" rtlCol="0" anchor="t"/>
          <a:lstStyle/>
          <a:p>
            <a:pPr algn="ctr" indent="0" marL="0">
              <a:lnSpc>
                <a:spcPct val="100000"/>
              </a:lnSpc>
              <a:buNone/>
            </a:pPr>
            <a:r>
              <a:rPr lang="en-US" sz="1050" b="1" dirty="0">
                <a:solidFill>
                  <a:srgbClr val="DA0081"/>
                </a:solidFill>
                <a:latin typeface="Manrope" pitchFamily="34" charset="0"/>
                <a:ea typeface="Manrope" pitchFamily="34" charset="-122"/>
                <a:cs typeface="Manrope" pitchFamily="34" charset="-120"/>
              </a:rPr>
              <a:t>07</a:t>
            </a:r>
            <a:endParaRPr lang="en-US" sz="1050" dirty="0"/>
          </a:p>
        </p:txBody>
      </p:sp>
      <p:sp>
        <p:nvSpPr>
          <p:cNvPr id="33" name="Text 24"/>
          <p:cNvSpPr txBox="1"/>
          <p:nvPr/>
        </p:nvSpPr>
        <p:spPr>
          <a:xfrm>
            <a:off x="8834438" y="2990850"/>
            <a:ext cx="1250156" cy="457200"/>
          </a:xfrm>
          <a:prstGeom prst="rect">
            <a:avLst/>
          </a:prstGeom>
          <a:noFill/>
          <a:ln/>
        </p:spPr>
        <p:txBody>
          <a:bodyPr wrap="square" lIns="0" tIns="0" rIns="0" bIns="0" rtlCol="0" anchor="t"/>
          <a:lstStyle/>
          <a:p>
            <a:pPr algn="ctr" indent="0" marL="0">
              <a:lnSpc>
                <a:spcPct val="105000"/>
              </a:lnSpc>
              <a:buNone/>
            </a:pPr>
            <a:r>
              <a:rPr lang="en-US" sz="1200" b="1" dirty="0">
                <a:solidFill>
                  <a:srgbClr val="200020"/>
                </a:solidFill>
                <a:latin typeface="Manrope" pitchFamily="34" charset="0"/>
                <a:ea typeface="Manrope" pitchFamily="34" charset="-122"/>
                <a:cs typeface="Manrope" pitchFamily="34" charset="-120"/>
              </a:rPr>
              <a:t>Ambientes de prueba</a:t>
            </a:r>
            <a:endParaRPr lang="en-US" sz="1200" dirty="0"/>
          </a:p>
        </p:txBody>
      </p:sp>
      <p:sp>
        <p:nvSpPr>
          <p:cNvPr id="34" name="Shape 25"/>
          <p:cNvSpPr/>
          <p:nvPr/>
        </p:nvSpPr>
        <p:spPr>
          <a:xfrm>
            <a:off x="10423922" y="1905000"/>
            <a:ext cx="762000" cy="762000"/>
          </a:xfrm>
          <a:prstGeom prst="roundRect">
            <a:avLst>
              <a:gd name="adj" fmla="val 25000"/>
            </a:avLst>
          </a:prstGeom>
          <a:solidFill>
            <a:srgbClr val="F1BFDA"/>
          </a:solidFill>
          <a:ln/>
        </p:spPr>
      </p:sp>
      <p:pic>
        <p:nvPicPr>
          <p:cNvPr id="35" name="Image 7" descr="preencoded.png">    </p:cNvPr>
          <p:cNvPicPr>
            <a:picLocks noChangeAspect="1"/>
          </p:cNvPicPr>
          <p:nvPr/>
        </p:nvPicPr>
        <p:blipFill>
          <a:blip r:embed="rId8"/>
          <a:stretch>
            <a:fillRect/>
          </a:stretch>
        </p:blipFill>
        <p:spPr>
          <a:xfrm>
            <a:off x="10644902" y="2125980"/>
            <a:ext cx="320040" cy="320040"/>
          </a:xfrm>
          <a:prstGeom prst="rect">
            <a:avLst/>
          </a:prstGeom>
        </p:spPr>
      </p:pic>
      <p:sp>
        <p:nvSpPr>
          <p:cNvPr id="36" name="Text 26"/>
          <p:cNvSpPr txBox="1"/>
          <p:nvPr/>
        </p:nvSpPr>
        <p:spPr>
          <a:xfrm>
            <a:off x="10179844" y="2781300"/>
            <a:ext cx="1250156" cy="190500"/>
          </a:xfrm>
          <a:prstGeom prst="rect">
            <a:avLst/>
          </a:prstGeom>
          <a:noFill/>
          <a:ln/>
        </p:spPr>
        <p:txBody>
          <a:bodyPr wrap="square" lIns="0" tIns="0" rIns="0" bIns="0" rtlCol="0" anchor="t"/>
          <a:lstStyle/>
          <a:p>
            <a:pPr algn="ctr" indent="0" marL="0">
              <a:lnSpc>
                <a:spcPct val="100000"/>
              </a:lnSpc>
              <a:buNone/>
            </a:pPr>
            <a:r>
              <a:rPr lang="en-US" sz="1050" b="1" dirty="0">
                <a:solidFill>
                  <a:srgbClr val="DA0081"/>
                </a:solidFill>
                <a:latin typeface="Manrope" pitchFamily="34" charset="0"/>
                <a:ea typeface="Manrope" pitchFamily="34" charset="-122"/>
                <a:cs typeface="Manrope" pitchFamily="34" charset="-120"/>
              </a:rPr>
              <a:t>08</a:t>
            </a:r>
            <a:endParaRPr lang="en-US" sz="1050" dirty="0"/>
          </a:p>
        </p:txBody>
      </p:sp>
      <p:sp>
        <p:nvSpPr>
          <p:cNvPr id="37" name="Text 27"/>
          <p:cNvSpPr txBox="1"/>
          <p:nvPr/>
        </p:nvSpPr>
        <p:spPr>
          <a:xfrm>
            <a:off x="10179844" y="2990850"/>
            <a:ext cx="1250156" cy="457200"/>
          </a:xfrm>
          <a:prstGeom prst="rect">
            <a:avLst/>
          </a:prstGeom>
          <a:noFill/>
          <a:ln/>
        </p:spPr>
        <p:txBody>
          <a:bodyPr wrap="square" lIns="0" tIns="0" rIns="0" bIns="0" rtlCol="0" anchor="t"/>
          <a:lstStyle/>
          <a:p>
            <a:pPr algn="ctr" indent="0" marL="0">
              <a:lnSpc>
                <a:spcPct val="105000"/>
              </a:lnSpc>
              <a:buNone/>
            </a:pPr>
            <a:r>
              <a:rPr lang="en-US" sz="1200" b="1" dirty="0">
                <a:solidFill>
                  <a:srgbClr val="200020"/>
                </a:solidFill>
                <a:latin typeface="Manrope" pitchFamily="34" charset="0"/>
                <a:ea typeface="Manrope" pitchFamily="34" charset="-122"/>
                <a:cs typeface="Manrope" pitchFamily="34" charset="-120"/>
              </a:rPr>
              <a:t>Producción</a:t>
            </a:r>
            <a:endParaRPr lang="en-US" sz="1200" dirty="0"/>
          </a:p>
        </p:txBody>
      </p:sp>
      <p:sp>
        <p:nvSpPr>
          <p:cNvPr id="38" name="Shape 28"/>
          <p:cNvSpPr/>
          <p:nvPr/>
        </p:nvSpPr>
        <p:spPr>
          <a:xfrm>
            <a:off x="762000" y="3905250"/>
            <a:ext cx="10668000" cy="1809750"/>
          </a:xfrm>
          <a:prstGeom prst="roundRect">
            <a:avLst>
              <a:gd name="adj" fmla="val 8421"/>
            </a:avLst>
          </a:prstGeom>
          <a:solidFill>
            <a:srgbClr val="FFFFFF"/>
          </a:solidFill>
          <a:ln/>
        </p:spPr>
      </p:sp>
      <p:sp>
        <p:nvSpPr>
          <p:cNvPr id="39" name="Shape 29"/>
          <p:cNvSpPr/>
          <p:nvPr/>
        </p:nvSpPr>
        <p:spPr>
          <a:xfrm>
            <a:off x="1104900" y="4267200"/>
            <a:ext cx="1619250" cy="266700"/>
          </a:xfrm>
          <a:prstGeom prst="roundRect">
            <a:avLst>
              <a:gd name="adj" fmla="val 25000"/>
            </a:avLst>
          </a:prstGeom>
          <a:solidFill>
            <a:srgbClr val="F1BFDA"/>
          </a:solidFill>
          <a:ln/>
        </p:spPr>
      </p:sp>
      <p:sp>
        <p:nvSpPr>
          <p:cNvPr id="40" name="Text 30"/>
          <p:cNvSpPr txBox="1"/>
          <p:nvPr/>
        </p:nvSpPr>
        <p:spPr>
          <a:xfrm>
            <a:off x="1104900" y="4267200"/>
            <a:ext cx="1619250" cy="266700"/>
          </a:xfrm>
          <a:prstGeom prst="rect">
            <a:avLst/>
          </a:prstGeom>
          <a:noFill/>
          <a:ln/>
        </p:spPr>
        <p:txBody>
          <a:bodyPr wrap="square" lIns="0" tIns="0" rIns="0" bIns="0" rtlCol="0" anchor="ctr"/>
          <a:lstStyle/>
          <a:p>
            <a:pPr algn="ctr" indent="0" marL="0">
              <a:lnSpc>
                <a:spcPct val="100000"/>
              </a:lnSpc>
              <a:buNone/>
            </a:pPr>
            <a:r>
              <a:rPr lang="en-US" sz="980" b="1" dirty="0">
                <a:solidFill>
                  <a:srgbClr val="200020"/>
                </a:solidFill>
                <a:latin typeface="Manrope" pitchFamily="34" charset="0"/>
                <a:ea typeface="Manrope" pitchFamily="34" charset="-122"/>
                <a:cs typeface="Manrope" pitchFamily="34" charset="-120"/>
              </a:rPr>
              <a:t>Canary deployment</a:t>
            </a:r>
            <a:endParaRPr lang="en-US" sz="980" dirty="0"/>
          </a:p>
        </p:txBody>
      </p:sp>
      <p:sp>
        <p:nvSpPr>
          <p:cNvPr id="41" name="Text 31"/>
          <p:cNvSpPr txBox="1"/>
          <p:nvPr/>
        </p:nvSpPr>
        <p:spPr>
          <a:xfrm>
            <a:off x="1104900" y="4667250"/>
            <a:ext cx="2476500" cy="666750"/>
          </a:xfrm>
          <a:prstGeom prst="rect">
            <a:avLst/>
          </a:prstGeom>
          <a:noFill/>
          <a:ln/>
        </p:spPr>
        <p:txBody>
          <a:bodyPr wrap="square" lIns="0" tIns="0" rIns="0" bIns="0" rtlCol="0" anchor="t"/>
          <a:lstStyle/>
          <a:p>
            <a:pPr algn="l" indent="0" marL="0">
              <a:lnSpc>
                <a:spcPct val="100000"/>
              </a:lnSpc>
              <a:buNone/>
            </a:pPr>
            <a:r>
              <a:rPr lang="en-US" sz="1650" b="1" dirty="0">
                <a:solidFill>
                  <a:srgbClr val="200020"/>
                </a:solidFill>
                <a:latin typeface="Manrope" pitchFamily="34" charset="0"/>
                <a:ea typeface="Manrope" pitchFamily="34" charset="-122"/>
                <a:cs typeface="Manrope" pitchFamily="34" charset="-120"/>
              </a:rPr>
              <a:t>Liberación gradual del tráfico</a:t>
            </a:r>
            <a:endParaRPr lang="en-US" sz="1650" dirty="0"/>
          </a:p>
        </p:txBody>
      </p:sp>
      <p:sp>
        <p:nvSpPr>
          <p:cNvPr id="42" name="Shape 32"/>
          <p:cNvSpPr/>
          <p:nvPr/>
        </p:nvSpPr>
        <p:spPr>
          <a:xfrm>
            <a:off x="3905250" y="4305300"/>
            <a:ext cx="7181850" cy="723900"/>
          </a:xfrm>
          <a:prstGeom prst="roundRect">
            <a:avLst>
              <a:gd name="adj" fmla="val 15789"/>
            </a:avLst>
          </a:prstGeom>
          <a:solidFill>
            <a:srgbClr val="200020"/>
          </a:solidFill>
          <a:ln/>
        </p:spPr>
      </p:sp>
      <p:sp>
        <p:nvSpPr>
          <p:cNvPr id="43" name="Shape 33"/>
          <p:cNvSpPr/>
          <p:nvPr/>
        </p:nvSpPr>
        <p:spPr>
          <a:xfrm>
            <a:off x="3905250" y="4305300"/>
            <a:ext cx="857250" cy="723900"/>
          </a:xfrm>
          <a:prstGeom prst="roundRect">
            <a:avLst>
              <a:gd name="adj" fmla="val 15789"/>
            </a:avLst>
          </a:prstGeom>
          <a:solidFill>
            <a:srgbClr val="DA0081"/>
          </a:solidFill>
          <a:ln/>
        </p:spPr>
      </p:sp>
      <p:sp>
        <p:nvSpPr>
          <p:cNvPr id="44" name="Shape 34"/>
          <p:cNvSpPr/>
          <p:nvPr/>
        </p:nvSpPr>
        <p:spPr>
          <a:xfrm>
            <a:off x="4476750" y="4305300"/>
            <a:ext cx="285750" cy="723900"/>
          </a:xfrm>
          <a:prstGeom prst="rect">
            <a:avLst/>
          </a:prstGeom>
          <a:solidFill>
            <a:srgbClr val="DA0081"/>
          </a:solidFill>
          <a:ln/>
        </p:spPr>
      </p:sp>
      <p:sp>
        <p:nvSpPr>
          <p:cNvPr id="45" name="Text 35"/>
          <p:cNvSpPr txBox="1"/>
          <p:nvPr/>
        </p:nvSpPr>
        <p:spPr>
          <a:xfrm>
            <a:off x="3905250" y="4305300"/>
            <a:ext cx="857250" cy="723900"/>
          </a:xfrm>
          <a:prstGeom prst="rect">
            <a:avLst/>
          </a:prstGeom>
          <a:noFill/>
          <a:ln/>
        </p:spPr>
        <p:txBody>
          <a:bodyPr wrap="square" lIns="0" tIns="0" rIns="0" bIns="0" rtlCol="0" anchor="ctr"/>
          <a:lstStyle/>
          <a:p>
            <a:pPr algn="ctr" indent="0" marL="0">
              <a:lnSpc>
                <a:spcPct val="100000"/>
              </a:lnSpc>
              <a:buNone/>
            </a:pPr>
            <a:r>
              <a:rPr lang="en-US" sz="1350" b="1" dirty="0">
                <a:solidFill>
                  <a:srgbClr val="FFFFFF"/>
                </a:solidFill>
                <a:latin typeface="Manrope" pitchFamily="34" charset="0"/>
                <a:ea typeface="Manrope" pitchFamily="34" charset="-122"/>
                <a:cs typeface="Manrope" pitchFamily="34" charset="-120"/>
              </a:rPr>
              <a:t>10%</a:t>
            </a:r>
            <a:endParaRPr lang="en-US" sz="1350" dirty="0"/>
          </a:p>
        </p:txBody>
      </p:sp>
      <p:sp>
        <p:nvSpPr>
          <p:cNvPr id="46" name="Text 36"/>
          <p:cNvSpPr txBox="1"/>
          <p:nvPr/>
        </p:nvSpPr>
        <p:spPr>
          <a:xfrm>
            <a:off x="4991100" y="4305300"/>
            <a:ext cx="1905000" cy="723900"/>
          </a:xfrm>
          <a:prstGeom prst="rect">
            <a:avLst/>
          </a:prstGeom>
          <a:noFill/>
          <a:ln/>
        </p:spPr>
        <p:txBody>
          <a:bodyPr wrap="square" lIns="0" tIns="0" rIns="0" bIns="0" rtlCol="0" anchor="ctr"/>
          <a:lstStyle/>
          <a:p>
            <a:pPr algn="l" indent="0" marL="0">
              <a:lnSpc>
                <a:spcPct val="100000"/>
              </a:lnSpc>
              <a:buNone/>
            </a:pPr>
            <a:r>
              <a:rPr lang="en-US" sz="1350" b="1" dirty="0">
                <a:solidFill>
                  <a:srgbClr val="ECE7F5"/>
                </a:solidFill>
                <a:latin typeface="Manrope" pitchFamily="34" charset="0"/>
                <a:ea typeface="Manrope" pitchFamily="34" charset="-122"/>
                <a:cs typeface="Manrope" pitchFamily="34" charset="-120"/>
              </a:rPr>
              <a:t>90%</a:t>
            </a:r>
            <a:endParaRPr lang="en-US" sz="1350" dirty="0"/>
          </a:p>
        </p:txBody>
      </p:sp>
      <p:sp>
        <p:nvSpPr>
          <p:cNvPr id="47" name="Text 37"/>
          <p:cNvSpPr txBox="1"/>
          <p:nvPr/>
        </p:nvSpPr>
        <p:spPr>
          <a:xfrm>
            <a:off x="3905250" y="5143500"/>
            <a:ext cx="2857500" cy="209550"/>
          </a:xfrm>
          <a:prstGeom prst="rect">
            <a:avLst/>
          </a:prstGeom>
          <a:noFill/>
          <a:ln/>
        </p:spPr>
        <p:txBody>
          <a:bodyPr wrap="square" lIns="0" tIns="0" rIns="0" bIns="0" rtlCol="0" anchor="t"/>
          <a:lstStyle/>
          <a:p>
            <a:pPr algn="l" indent="0" marL="0">
              <a:lnSpc>
                <a:spcPct val="100000"/>
              </a:lnSpc>
              <a:buNone/>
            </a:pPr>
            <a:r>
              <a:rPr lang="en-US" sz="1130" b="1" dirty="0">
                <a:solidFill>
                  <a:srgbClr val="DA0081"/>
                </a:solidFill>
                <a:latin typeface="Manrope" pitchFamily="34" charset="0"/>
                <a:ea typeface="Manrope" pitchFamily="34" charset="-122"/>
                <a:cs typeface="Manrope" pitchFamily="34" charset="-120"/>
              </a:rPr>
              <a:t>■ Servicio migrado</a:t>
            </a:r>
            <a:endParaRPr lang="en-US" sz="1130" dirty="0"/>
          </a:p>
        </p:txBody>
      </p:sp>
      <p:sp>
        <p:nvSpPr>
          <p:cNvPr id="48" name="Text 38"/>
          <p:cNvSpPr txBox="1"/>
          <p:nvPr/>
        </p:nvSpPr>
        <p:spPr>
          <a:xfrm>
            <a:off x="8229600" y="5143500"/>
            <a:ext cx="2857500" cy="209550"/>
          </a:xfrm>
          <a:prstGeom prst="rect">
            <a:avLst/>
          </a:prstGeom>
          <a:noFill/>
          <a:ln/>
        </p:spPr>
        <p:txBody>
          <a:bodyPr wrap="square" lIns="0" tIns="0" rIns="0" bIns="0" rtlCol="0" anchor="t"/>
          <a:lstStyle/>
          <a:p>
            <a:pPr algn="r" indent="0" marL="0">
              <a:lnSpc>
                <a:spcPct val="100000"/>
              </a:lnSpc>
              <a:buNone/>
            </a:pPr>
            <a:r>
              <a:rPr lang="en-US" sz="1130" b="1" dirty="0">
                <a:solidFill>
                  <a:srgbClr val="200020"/>
                </a:solidFill>
                <a:latin typeface="Manrope" pitchFamily="34" charset="0"/>
                <a:ea typeface="Manrope" pitchFamily="34" charset="-122"/>
                <a:cs typeface="Manrope" pitchFamily="34" charset="-120"/>
              </a:rPr>
              <a:t>Camino antiguo ■</a:t>
            </a:r>
            <a:endParaRPr lang="en-US" sz="1130" dirty="0"/>
          </a:p>
        </p:txBody>
      </p:sp>
      <p:sp>
        <p:nvSpPr>
          <p:cNvPr id="25" name="Slide Number Placeholder 0"/>
          <p:cNvSpPr>
            <a:spLocks noGrp="1"/>
          </p:cNvSpPr>
          <p:nvPr>
            <p:ph type="sldNum" sz="quarter" idx="4294967295"/>
          </p:nvPr>
        </p:nvSpPr>
        <p:spPr>
          <a:xfrm>
            <a:off x="9525000" y="6477000"/>
            <a:ext cx="47625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5A4A6A"/>
                </a:solidFill>
                <a:latin typeface="Manrope"/>
                <a:ea typeface="Manrope"/>
                <a:cs typeface="Manrope"/>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62000" y="657225"/>
            <a:ext cx="95250" cy="95250"/>
          </a:xfrm>
          <a:prstGeom prst="roundRect">
            <a:avLst>
              <a:gd name="adj" fmla="val 20000"/>
            </a:avLst>
          </a:prstGeom>
          <a:solidFill>
            <a:srgbClr val="DA0081"/>
          </a:solidFill>
          <a:ln/>
        </p:spPr>
      </p:sp>
      <p:sp>
        <p:nvSpPr>
          <p:cNvPr id="3" name="Text 1"/>
          <p:cNvSpPr txBox="1"/>
          <p:nvPr/>
        </p:nvSpPr>
        <p:spPr>
          <a:xfrm>
            <a:off x="952500" y="609600"/>
            <a:ext cx="7620000" cy="190500"/>
          </a:xfrm>
          <a:prstGeom prst="rect">
            <a:avLst/>
          </a:prstGeom>
          <a:noFill/>
          <a:ln/>
        </p:spPr>
        <p:txBody>
          <a:bodyPr wrap="square" lIns="0" tIns="0" rIns="0" bIns="0" rtlCol="0" anchor="ctr"/>
          <a:lstStyle/>
          <a:p>
            <a:pPr algn="l" indent="0" marL="0">
              <a:lnSpc>
                <a:spcPct val="100000"/>
              </a:lnSpc>
              <a:buNone/>
            </a:pPr>
            <a:r>
              <a:rPr lang="en-US" sz="1130" b="1" spc="200" kern="0" dirty="0">
                <a:solidFill>
                  <a:srgbClr val="DA0081"/>
                </a:solidFill>
                <a:latin typeface="Manrope" pitchFamily="34" charset="0"/>
                <a:ea typeface="Manrope" pitchFamily="34" charset="-122"/>
                <a:cs typeface="Manrope" pitchFamily="34" charset="-120"/>
              </a:rPr>
              <a:t>05 · GENERACIÓN DE VALOR</a:t>
            </a:r>
            <a:endParaRPr lang="en-US" sz="1130" dirty="0"/>
          </a:p>
        </p:txBody>
      </p:sp>
      <p:sp>
        <p:nvSpPr>
          <p:cNvPr id="4" name="Text 2"/>
          <p:cNvSpPr txBox="1"/>
          <p:nvPr/>
        </p:nvSpPr>
        <p:spPr>
          <a:xfrm>
            <a:off x="762000" y="876300"/>
            <a:ext cx="9525000" cy="1047750"/>
          </a:xfrm>
          <a:prstGeom prst="rect">
            <a:avLst/>
          </a:prstGeom>
          <a:noFill/>
          <a:ln/>
        </p:spPr>
        <p:txBody>
          <a:bodyPr wrap="square" lIns="0" tIns="0" rIns="0" bIns="0" rtlCol="0" anchor="t"/>
          <a:lstStyle/>
          <a:p>
            <a:pPr algn="l" indent="0" marL="0">
              <a:lnSpc>
                <a:spcPct val="95000"/>
              </a:lnSpc>
              <a:buNone/>
            </a:pPr>
            <a:r>
              <a:rPr lang="en-US" sz="3150" b="1" dirty="0">
                <a:solidFill>
                  <a:srgbClr val="200020"/>
                </a:solidFill>
                <a:latin typeface="Manrope" pitchFamily="34" charset="0"/>
                <a:ea typeface="Manrope" pitchFamily="34" charset="-122"/>
                <a:cs typeface="Manrope" pitchFamily="34" charset="-120"/>
              </a:rPr>
              <a:t>Generación de valor</a:t>
            </a:r>
            <a:endParaRPr lang="en-US" sz="3150" dirty="0"/>
          </a:p>
        </p:txBody>
      </p:sp>
      <p:sp>
        <p:nvSpPr>
          <p:cNvPr id="5" name="Shape 3"/>
          <p:cNvSpPr/>
          <p:nvPr/>
        </p:nvSpPr>
        <p:spPr>
          <a:xfrm>
            <a:off x="762000" y="1600200"/>
            <a:ext cx="10668000" cy="4724400"/>
          </a:xfrm>
          <a:prstGeom prst="roundRect">
            <a:avLst>
              <a:gd name="adj" fmla="val 3226"/>
            </a:avLst>
          </a:prstGeom>
          <a:solidFill>
            <a:srgbClr val="FFFFFF"/>
          </a:solidFill>
          <a:ln/>
        </p:spPr>
      </p:sp>
      <p:pic>
        <p:nvPicPr>
          <p:cNvPr id="6" name="Image 0" descr="Arquitectura: J.A.R.V.I.S aprovisiona GitHub y Azure Pipelines; repositorios de IaC, microservicios, pruebas y performance; AI Agent ToolKit entiende el legado Java EE, migra funcionalidades a Spring Boot y genera documentación OpenAPI/AsyncAPI; despliegue en ECS sobre AWS.">    </p:cNvPr>
          <p:cNvPicPr>
            <a:picLocks noChangeAspect="1"/>
          </p:cNvPicPr>
          <p:nvPr/>
        </p:nvPicPr>
        <p:blipFill>
          <a:blip r:embed="rId1"/>
          <a:stretch>
            <a:fillRect/>
          </a:stretch>
        </p:blipFill>
        <p:spPr>
          <a:xfrm>
            <a:off x="1593517" y="1695450"/>
            <a:ext cx="9004967" cy="4533900"/>
          </a:xfrm>
          <a:prstGeom prst="rect">
            <a:avLst/>
          </a:prstGeom>
        </p:spPr>
      </p:pic>
      <p:sp>
        <p:nvSpPr>
          <p:cNvPr id="25" name="Slide Number Placeholder 0"/>
          <p:cNvSpPr>
            <a:spLocks noGrp="1"/>
          </p:cNvSpPr>
          <p:nvPr>
            <p:ph type="sldNum" sz="quarter" idx="4294967295"/>
          </p:nvPr>
        </p:nvSpPr>
        <p:spPr>
          <a:xfrm>
            <a:off x="9525000" y="6477000"/>
            <a:ext cx="47625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5A4A6A"/>
                </a:solidFill>
                <a:latin typeface="Manrope"/>
                <a:ea typeface="Manrope"/>
                <a:cs typeface="Manrope"/>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62000" y="657225"/>
            <a:ext cx="95250" cy="95250"/>
          </a:xfrm>
          <a:prstGeom prst="roundRect">
            <a:avLst>
              <a:gd name="adj" fmla="val 20000"/>
            </a:avLst>
          </a:prstGeom>
          <a:solidFill>
            <a:srgbClr val="DA0081"/>
          </a:solidFill>
          <a:ln/>
        </p:spPr>
      </p:sp>
      <p:sp>
        <p:nvSpPr>
          <p:cNvPr id="3" name="Text 1"/>
          <p:cNvSpPr txBox="1"/>
          <p:nvPr/>
        </p:nvSpPr>
        <p:spPr>
          <a:xfrm>
            <a:off x="952500" y="609600"/>
            <a:ext cx="7620000" cy="190500"/>
          </a:xfrm>
          <a:prstGeom prst="rect">
            <a:avLst/>
          </a:prstGeom>
          <a:noFill/>
          <a:ln/>
        </p:spPr>
        <p:txBody>
          <a:bodyPr wrap="square" lIns="0" tIns="0" rIns="0" bIns="0" rtlCol="0" anchor="ctr"/>
          <a:lstStyle/>
          <a:p>
            <a:pPr algn="l" indent="0" marL="0">
              <a:lnSpc>
                <a:spcPct val="100000"/>
              </a:lnSpc>
              <a:buNone/>
            </a:pPr>
            <a:r>
              <a:rPr lang="en-US" sz="1130" b="1" spc="200" kern="0" dirty="0">
                <a:solidFill>
                  <a:srgbClr val="DA0081"/>
                </a:solidFill>
                <a:latin typeface="Manrope" pitchFamily="34" charset="0"/>
                <a:ea typeface="Manrope" pitchFamily="34" charset="-122"/>
                <a:cs typeface="Manrope" pitchFamily="34" charset="-120"/>
              </a:rPr>
              <a:t>05 · SOLUCIÓN PROPUESTA</a:t>
            </a:r>
            <a:endParaRPr lang="en-US" sz="1130" dirty="0"/>
          </a:p>
        </p:txBody>
      </p:sp>
      <p:sp>
        <p:nvSpPr>
          <p:cNvPr id="4" name="Text 2"/>
          <p:cNvSpPr txBox="1"/>
          <p:nvPr/>
        </p:nvSpPr>
        <p:spPr>
          <a:xfrm>
            <a:off x="762000" y="876300"/>
            <a:ext cx="9525000" cy="1047750"/>
          </a:xfrm>
          <a:prstGeom prst="rect">
            <a:avLst/>
          </a:prstGeom>
          <a:noFill/>
          <a:ln/>
        </p:spPr>
        <p:txBody>
          <a:bodyPr wrap="square" lIns="0" tIns="0" rIns="0" bIns="0" rtlCol="0" anchor="t"/>
          <a:lstStyle/>
          <a:p>
            <a:pPr algn="l" indent="0" marL="0">
              <a:lnSpc>
                <a:spcPct val="95000"/>
              </a:lnSpc>
              <a:buNone/>
            </a:pPr>
            <a:r>
              <a:rPr lang="en-US" sz="3150" b="1" dirty="0">
                <a:solidFill>
                  <a:srgbClr val="200020"/>
                </a:solidFill>
                <a:latin typeface="Manrope" pitchFamily="34" charset="0"/>
                <a:ea typeface="Manrope" pitchFamily="34" charset="-122"/>
                <a:cs typeface="Manrope" pitchFamily="34" charset="-120"/>
              </a:rPr>
              <a:t>Automatizar </a:t>
            </a:r>
            <a:pPr algn="l" indent="0" marL="0">
              <a:lnSpc>
                <a:spcPct val="95000"/>
              </a:lnSpc>
              <a:buNone/>
            </a:pPr>
            <a:r>
              <a:rPr lang="en-US" sz="3150" b="1" dirty="0">
                <a:solidFill>
                  <a:srgbClr val="DA0081"/>
                </a:solidFill>
                <a:latin typeface="Manrope" pitchFamily="34" charset="0"/>
                <a:ea typeface="Manrope" pitchFamily="34" charset="-122"/>
                <a:cs typeface="Manrope" pitchFamily="34" charset="-120"/>
              </a:rPr>
              <a:t>el proceso</a:t>
            </a:r>
            <a:pPr algn="l" indent="0" marL="0">
              <a:lnSpc>
                <a:spcPct val="95000"/>
              </a:lnSpc>
              <a:buNone/>
            </a:pPr>
            <a:r>
              <a:rPr lang="en-US" sz="3150" b="1" dirty="0">
                <a:solidFill>
                  <a:srgbClr val="200020"/>
                </a:solidFill>
                <a:latin typeface="Manrope" pitchFamily="34" charset="0"/>
                <a:ea typeface="Manrope" pitchFamily="34" charset="-122"/>
                <a:cs typeface="Manrope" pitchFamily="34" charset="-120"/>
              </a:rPr>
              <a:t>, no delegar un prompt</a:t>
            </a:r>
            <a:endParaRPr lang="en-US" sz="3150" dirty="0"/>
          </a:p>
        </p:txBody>
      </p:sp>
      <p:sp>
        <p:nvSpPr>
          <p:cNvPr id="5" name="Shape 3"/>
          <p:cNvSpPr/>
          <p:nvPr/>
        </p:nvSpPr>
        <p:spPr>
          <a:xfrm>
            <a:off x="762000" y="1866900"/>
            <a:ext cx="4476750" cy="4000500"/>
          </a:xfrm>
          <a:prstGeom prst="roundRect">
            <a:avLst>
              <a:gd name="adj" fmla="val 3810"/>
            </a:avLst>
          </a:prstGeom>
          <a:ln w="25400">
            <a:solidFill>
              <a:srgbClr val="F1BFDA"/>
            </a:solidFill>
            <a:prstDash val="dash"/>
          </a:ln>
        </p:spPr>
      </p:sp>
      <p:sp>
        <p:nvSpPr>
          <p:cNvPr id="6" name="Shape 4"/>
          <p:cNvSpPr/>
          <p:nvPr/>
        </p:nvSpPr>
        <p:spPr>
          <a:xfrm>
            <a:off x="1104900" y="2209800"/>
            <a:ext cx="495300" cy="495300"/>
          </a:xfrm>
          <a:prstGeom prst="roundRect">
            <a:avLst>
              <a:gd name="adj" fmla="val 26923"/>
            </a:avLst>
          </a:prstGeom>
          <a:solidFill>
            <a:srgbClr val="F8D9CF"/>
          </a:solidFill>
          <a:ln/>
        </p:spPr>
      </p:sp>
      <p:pic>
        <p:nvPicPr>
          <p:cNvPr id="7" name="Image 0" descr="preencoded.png">    </p:cNvPr>
          <p:cNvPicPr>
            <a:picLocks noChangeAspect="1"/>
          </p:cNvPicPr>
          <p:nvPr/>
        </p:nvPicPr>
        <p:blipFill>
          <a:blip r:embed="rId1"/>
          <a:stretch>
            <a:fillRect/>
          </a:stretch>
        </p:blipFill>
        <p:spPr>
          <a:xfrm>
            <a:off x="1228725" y="2333625"/>
            <a:ext cx="247650" cy="247650"/>
          </a:xfrm>
          <a:prstGeom prst="rect">
            <a:avLst/>
          </a:prstGeom>
        </p:spPr>
      </p:pic>
      <p:sp>
        <p:nvSpPr>
          <p:cNvPr id="8" name="Text 5"/>
          <p:cNvSpPr txBox="1"/>
          <p:nvPr/>
        </p:nvSpPr>
        <p:spPr>
          <a:xfrm>
            <a:off x="1752600" y="2209800"/>
            <a:ext cx="2381250" cy="495300"/>
          </a:xfrm>
          <a:prstGeom prst="rect">
            <a:avLst/>
          </a:prstGeom>
          <a:noFill/>
          <a:ln/>
        </p:spPr>
        <p:txBody>
          <a:bodyPr wrap="square" lIns="0" tIns="0" rIns="0" bIns="0" rtlCol="0" anchor="ctr"/>
          <a:lstStyle/>
          <a:p>
            <a:pPr algn="l" indent="0" marL="0">
              <a:lnSpc>
                <a:spcPct val="100000"/>
              </a:lnSpc>
              <a:buNone/>
            </a:pPr>
            <a:r>
              <a:rPr lang="en-US" sz="1650" b="1" dirty="0">
                <a:solidFill>
                  <a:srgbClr val="200020"/>
                </a:solidFill>
                <a:latin typeface="Manrope" pitchFamily="34" charset="0"/>
                <a:ea typeface="Manrope" pitchFamily="34" charset="-122"/>
                <a:cs typeface="Manrope" pitchFamily="34" charset="-120"/>
              </a:rPr>
              <a:t>La apuesta</a:t>
            </a:r>
            <a:endParaRPr lang="en-US" sz="1650" dirty="0"/>
          </a:p>
        </p:txBody>
      </p:sp>
      <p:sp>
        <p:nvSpPr>
          <p:cNvPr id="9" name="Shape 6"/>
          <p:cNvSpPr/>
          <p:nvPr/>
        </p:nvSpPr>
        <p:spPr>
          <a:xfrm>
            <a:off x="1104900" y="2990850"/>
            <a:ext cx="3790950" cy="571500"/>
          </a:xfrm>
          <a:prstGeom prst="roundRect">
            <a:avLst>
              <a:gd name="adj" fmla="val 20000"/>
            </a:avLst>
          </a:prstGeom>
          <a:solidFill>
            <a:srgbClr val="FFFFFF"/>
          </a:solidFill>
          <a:ln/>
        </p:spPr>
      </p:sp>
      <p:sp>
        <p:nvSpPr>
          <p:cNvPr id="10" name="Text 7"/>
          <p:cNvSpPr txBox="1"/>
          <p:nvPr/>
        </p:nvSpPr>
        <p:spPr>
          <a:xfrm>
            <a:off x="1257300" y="2990850"/>
            <a:ext cx="3619500" cy="571500"/>
          </a:xfrm>
          <a:prstGeom prst="rect">
            <a:avLst/>
          </a:prstGeom>
          <a:noFill/>
          <a:ln/>
        </p:spPr>
        <p:txBody>
          <a:bodyPr wrap="square" lIns="0" tIns="0" rIns="0" bIns="0" rtlCol="0" anchor="ctr"/>
          <a:lstStyle/>
          <a:p>
            <a:pPr indent="0" marL="0">
              <a:buNone/>
            </a:pPr>
            <a:r>
              <a:rPr lang="en-US" sz="1200" dirty="0">
                <a:solidFill>
                  <a:srgbClr val="8A7A8A"/>
                </a:solidFill>
                <a:latin typeface="Courier New" pitchFamily="34" charset="0"/>
                <a:ea typeface="Courier New" pitchFamily="34" charset="-122"/>
                <a:cs typeface="Courier New" pitchFamily="34" charset="-120"/>
              </a:rPr>
              <a:t>&gt; </a:t>
            </a:r>
            <a:pPr indent="0" marL="0">
              <a:buNone/>
            </a:pPr>
            <a:r>
              <a:rPr lang="en-US" sz="1200" dirty="0">
                <a:solidFill>
                  <a:srgbClr val="200020"/>
                </a:solidFill>
                <a:latin typeface="Courier New" pitchFamily="34" charset="0"/>
                <a:ea typeface="Courier New" pitchFamily="34" charset="-122"/>
                <a:cs typeface="Courier New" pitchFamily="34" charset="-120"/>
              </a:rPr>
              <a:t>“Por favor, migra el componente X”</a:t>
            </a:r>
            <a:endParaRPr lang="en-US" sz="1200" dirty="0"/>
          </a:p>
        </p:txBody>
      </p:sp>
      <p:sp>
        <p:nvSpPr>
          <p:cNvPr id="11" name="Text 8"/>
          <p:cNvSpPr txBox="1"/>
          <p:nvPr/>
        </p:nvSpPr>
        <p:spPr>
          <a:xfrm>
            <a:off x="1104900" y="3905250"/>
            <a:ext cx="228600" cy="266700"/>
          </a:xfrm>
          <a:prstGeom prst="rect">
            <a:avLst/>
          </a:prstGeom>
          <a:noFill/>
          <a:ln/>
        </p:spPr>
        <p:txBody>
          <a:bodyPr wrap="square" lIns="0" tIns="0" rIns="0" bIns="0" rtlCol="0" anchor="ctr"/>
          <a:lstStyle/>
          <a:p>
            <a:pPr algn="l" indent="0" marL="0">
              <a:lnSpc>
                <a:spcPct val="100000"/>
              </a:lnSpc>
              <a:buNone/>
            </a:pPr>
            <a:r>
              <a:rPr lang="en-US" sz="1350" b="1" dirty="0">
                <a:solidFill>
                  <a:srgbClr val="DC410F"/>
                </a:solidFill>
                <a:latin typeface="Manrope" pitchFamily="34" charset="0"/>
                <a:ea typeface="Manrope" pitchFamily="34" charset="-122"/>
                <a:cs typeface="Manrope" pitchFamily="34" charset="-120"/>
              </a:rPr>
              <a:t>✕</a:t>
            </a:r>
            <a:endParaRPr lang="en-US" sz="1350" dirty="0"/>
          </a:p>
        </p:txBody>
      </p:sp>
      <p:sp>
        <p:nvSpPr>
          <p:cNvPr id="12" name="Text 9"/>
          <p:cNvSpPr txBox="1"/>
          <p:nvPr/>
        </p:nvSpPr>
        <p:spPr>
          <a:xfrm>
            <a:off x="1409700" y="3905250"/>
            <a:ext cx="3238500" cy="266700"/>
          </a:xfrm>
          <a:prstGeom prst="rect">
            <a:avLst/>
          </a:prstGeom>
          <a:noFill/>
          <a:ln/>
        </p:spPr>
        <p:txBody>
          <a:bodyPr wrap="square" lIns="0" tIns="0" rIns="0" bIns="0" rtlCol="0" anchor="ctr"/>
          <a:lstStyle/>
          <a:p>
            <a:pPr algn="l" indent="0" marL="0">
              <a:lnSpc>
                <a:spcPct val="100000"/>
              </a:lnSpc>
              <a:buNone/>
            </a:pPr>
            <a:r>
              <a:rPr lang="en-US" sz="1350" b="1" dirty="0">
                <a:solidFill>
                  <a:srgbClr val="200020"/>
                </a:solidFill>
                <a:latin typeface="Manrope" pitchFamily="34" charset="0"/>
                <a:ea typeface="Manrope" pitchFamily="34" charset="-122"/>
                <a:cs typeface="Manrope" pitchFamily="34" charset="-120"/>
              </a:rPr>
              <a:t>Resultado impredecible</a:t>
            </a:r>
            <a:endParaRPr lang="en-US" sz="1350" dirty="0"/>
          </a:p>
        </p:txBody>
      </p:sp>
      <p:sp>
        <p:nvSpPr>
          <p:cNvPr id="13" name="Text 10"/>
          <p:cNvSpPr txBox="1"/>
          <p:nvPr/>
        </p:nvSpPr>
        <p:spPr>
          <a:xfrm>
            <a:off x="1104900" y="4324350"/>
            <a:ext cx="228600" cy="266700"/>
          </a:xfrm>
          <a:prstGeom prst="rect">
            <a:avLst/>
          </a:prstGeom>
          <a:noFill/>
          <a:ln/>
        </p:spPr>
        <p:txBody>
          <a:bodyPr wrap="square" lIns="0" tIns="0" rIns="0" bIns="0" rtlCol="0" anchor="ctr"/>
          <a:lstStyle/>
          <a:p>
            <a:pPr algn="l" indent="0" marL="0">
              <a:lnSpc>
                <a:spcPct val="100000"/>
              </a:lnSpc>
              <a:buNone/>
            </a:pPr>
            <a:r>
              <a:rPr lang="en-US" sz="1350" b="1" dirty="0">
                <a:solidFill>
                  <a:srgbClr val="DC410F"/>
                </a:solidFill>
                <a:latin typeface="Manrope" pitchFamily="34" charset="0"/>
                <a:ea typeface="Manrope" pitchFamily="34" charset="-122"/>
                <a:cs typeface="Manrope" pitchFamily="34" charset="-120"/>
              </a:rPr>
              <a:t>✕</a:t>
            </a:r>
            <a:endParaRPr lang="en-US" sz="1350" dirty="0"/>
          </a:p>
        </p:txBody>
      </p:sp>
      <p:sp>
        <p:nvSpPr>
          <p:cNvPr id="14" name="Text 11"/>
          <p:cNvSpPr txBox="1"/>
          <p:nvPr/>
        </p:nvSpPr>
        <p:spPr>
          <a:xfrm>
            <a:off x="1409700" y="4324350"/>
            <a:ext cx="3238500" cy="266700"/>
          </a:xfrm>
          <a:prstGeom prst="rect">
            <a:avLst/>
          </a:prstGeom>
          <a:noFill/>
          <a:ln/>
        </p:spPr>
        <p:txBody>
          <a:bodyPr wrap="square" lIns="0" tIns="0" rIns="0" bIns="0" rtlCol="0" anchor="ctr"/>
          <a:lstStyle/>
          <a:p>
            <a:pPr algn="l" indent="0" marL="0">
              <a:lnSpc>
                <a:spcPct val="100000"/>
              </a:lnSpc>
              <a:buNone/>
            </a:pPr>
            <a:r>
              <a:rPr lang="en-US" sz="1350" b="1" dirty="0">
                <a:solidFill>
                  <a:srgbClr val="200020"/>
                </a:solidFill>
                <a:latin typeface="Manrope" pitchFamily="34" charset="0"/>
                <a:ea typeface="Manrope" pitchFamily="34" charset="-122"/>
                <a:cs typeface="Manrope" pitchFamily="34" charset="-120"/>
              </a:rPr>
              <a:t>Sin orden ni estándar</a:t>
            </a:r>
            <a:endParaRPr lang="en-US" sz="1350" dirty="0"/>
          </a:p>
        </p:txBody>
      </p:sp>
      <p:sp>
        <p:nvSpPr>
          <p:cNvPr id="15" name="Text 12"/>
          <p:cNvSpPr txBox="1"/>
          <p:nvPr/>
        </p:nvSpPr>
        <p:spPr>
          <a:xfrm>
            <a:off x="1104900" y="4743450"/>
            <a:ext cx="228600" cy="266700"/>
          </a:xfrm>
          <a:prstGeom prst="rect">
            <a:avLst/>
          </a:prstGeom>
          <a:noFill/>
          <a:ln/>
        </p:spPr>
        <p:txBody>
          <a:bodyPr wrap="square" lIns="0" tIns="0" rIns="0" bIns="0" rtlCol="0" anchor="ctr"/>
          <a:lstStyle/>
          <a:p>
            <a:pPr algn="l" indent="0" marL="0">
              <a:lnSpc>
                <a:spcPct val="100000"/>
              </a:lnSpc>
              <a:buNone/>
            </a:pPr>
            <a:r>
              <a:rPr lang="en-US" sz="1350" b="1" dirty="0">
                <a:solidFill>
                  <a:srgbClr val="DC410F"/>
                </a:solidFill>
                <a:latin typeface="Manrope" pitchFamily="34" charset="0"/>
                <a:ea typeface="Manrope" pitchFamily="34" charset="-122"/>
                <a:cs typeface="Manrope" pitchFamily="34" charset="-120"/>
              </a:rPr>
              <a:t>✕</a:t>
            </a:r>
            <a:endParaRPr lang="en-US" sz="1350" dirty="0"/>
          </a:p>
        </p:txBody>
      </p:sp>
      <p:sp>
        <p:nvSpPr>
          <p:cNvPr id="16" name="Text 13"/>
          <p:cNvSpPr txBox="1"/>
          <p:nvPr/>
        </p:nvSpPr>
        <p:spPr>
          <a:xfrm>
            <a:off x="1409700" y="4743450"/>
            <a:ext cx="3238500" cy="266700"/>
          </a:xfrm>
          <a:prstGeom prst="rect">
            <a:avLst/>
          </a:prstGeom>
          <a:noFill/>
          <a:ln/>
        </p:spPr>
        <p:txBody>
          <a:bodyPr wrap="square" lIns="0" tIns="0" rIns="0" bIns="0" rtlCol="0" anchor="ctr"/>
          <a:lstStyle/>
          <a:p>
            <a:pPr algn="l" indent="0" marL="0">
              <a:lnSpc>
                <a:spcPct val="100000"/>
              </a:lnSpc>
              <a:buNone/>
            </a:pPr>
            <a:r>
              <a:rPr lang="en-US" sz="1350" b="1" dirty="0">
                <a:solidFill>
                  <a:srgbClr val="200020"/>
                </a:solidFill>
                <a:latin typeface="Manrope" pitchFamily="34" charset="0"/>
                <a:ea typeface="Manrope" pitchFamily="34" charset="-122"/>
                <a:cs typeface="Manrope" pitchFamily="34" charset="-120"/>
              </a:rPr>
              <a:t>Difícil de repetir</a:t>
            </a:r>
            <a:endParaRPr lang="en-US" sz="1350" dirty="0"/>
          </a:p>
        </p:txBody>
      </p:sp>
      <p:pic>
        <p:nvPicPr>
          <p:cNvPr id="17" name="Image 1" descr="preencoded.png">    </p:cNvPr>
          <p:cNvPicPr>
            <a:picLocks noChangeAspect="1"/>
          </p:cNvPicPr>
          <p:nvPr/>
        </p:nvPicPr>
        <p:blipFill>
          <a:blip r:embed="rId2"/>
          <a:stretch>
            <a:fillRect/>
          </a:stretch>
        </p:blipFill>
        <p:spPr>
          <a:xfrm>
            <a:off x="5353050" y="3657600"/>
            <a:ext cx="419100" cy="419100"/>
          </a:xfrm>
          <a:prstGeom prst="rect">
            <a:avLst/>
          </a:prstGeom>
        </p:spPr>
      </p:pic>
      <p:sp>
        <p:nvSpPr>
          <p:cNvPr id="18" name="Shape 14"/>
          <p:cNvSpPr/>
          <p:nvPr/>
        </p:nvSpPr>
        <p:spPr>
          <a:xfrm>
            <a:off x="5905500" y="1866900"/>
            <a:ext cx="5524500" cy="4000500"/>
          </a:xfrm>
          <a:prstGeom prst="roundRect">
            <a:avLst>
              <a:gd name="adj" fmla="val 3810"/>
            </a:avLst>
          </a:prstGeom>
          <a:solidFill>
            <a:srgbClr val="200020"/>
          </a:solidFill>
          <a:ln/>
        </p:spPr>
      </p:sp>
      <p:sp>
        <p:nvSpPr>
          <p:cNvPr id="19" name="Shape 15"/>
          <p:cNvSpPr/>
          <p:nvPr/>
        </p:nvSpPr>
        <p:spPr>
          <a:xfrm>
            <a:off x="6248400" y="2209800"/>
            <a:ext cx="495300" cy="495300"/>
          </a:xfrm>
          <a:prstGeom prst="roundRect">
            <a:avLst>
              <a:gd name="adj" fmla="val 26923"/>
            </a:avLst>
          </a:prstGeom>
          <a:solidFill>
            <a:srgbClr val="DA0081"/>
          </a:solidFill>
          <a:ln/>
        </p:spPr>
      </p:sp>
      <p:pic>
        <p:nvPicPr>
          <p:cNvPr id="20" name="Image 2" descr="preencoded.png">    </p:cNvPr>
          <p:cNvPicPr>
            <a:picLocks noChangeAspect="1"/>
          </p:cNvPicPr>
          <p:nvPr/>
        </p:nvPicPr>
        <p:blipFill>
          <a:blip r:embed="rId3"/>
          <a:stretch>
            <a:fillRect/>
          </a:stretch>
        </p:blipFill>
        <p:spPr>
          <a:xfrm>
            <a:off x="6372225" y="2333625"/>
            <a:ext cx="247650" cy="247650"/>
          </a:xfrm>
          <a:prstGeom prst="rect">
            <a:avLst/>
          </a:prstGeom>
        </p:spPr>
      </p:pic>
      <p:sp>
        <p:nvSpPr>
          <p:cNvPr id="21" name="Text 16"/>
          <p:cNvSpPr txBox="1"/>
          <p:nvPr/>
        </p:nvSpPr>
        <p:spPr>
          <a:xfrm>
            <a:off x="6896100" y="2209800"/>
            <a:ext cx="3810000" cy="495300"/>
          </a:xfrm>
          <a:prstGeom prst="rect">
            <a:avLst/>
          </a:prstGeom>
          <a:noFill/>
          <a:ln/>
        </p:spPr>
        <p:txBody>
          <a:bodyPr wrap="square" lIns="0" tIns="0" rIns="0" bIns="0" rtlCol="0" anchor="ctr"/>
          <a:lstStyle/>
          <a:p>
            <a:pPr algn="l" indent="0" marL="0">
              <a:lnSpc>
                <a:spcPct val="100000"/>
              </a:lnSpc>
              <a:buNone/>
            </a:pPr>
            <a:r>
              <a:rPr lang="en-US" sz="1650" b="1" dirty="0">
                <a:solidFill>
                  <a:srgbClr val="ECE7F5"/>
                </a:solidFill>
                <a:latin typeface="Manrope" pitchFamily="34" charset="0"/>
                <a:ea typeface="Manrope" pitchFamily="34" charset="-122"/>
                <a:cs typeface="Manrope" pitchFamily="34" charset="-120"/>
              </a:rPr>
              <a:t>El proceso automatizado</a:t>
            </a:r>
            <a:endParaRPr lang="en-US" sz="1650" dirty="0"/>
          </a:p>
        </p:txBody>
      </p:sp>
      <p:sp>
        <p:nvSpPr>
          <p:cNvPr id="22" name="Text 17"/>
          <p:cNvSpPr txBox="1"/>
          <p:nvPr/>
        </p:nvSpPr>
        <p:spPr>
          <a:xfrm>
            <a:off x="6248400" y="2895600"/>
            <a:ext cx="4857750" cy="666750"/>
          </a:xfrm>
          <a:prstGeom prst="rect">
            <a:avLst/>
          </a:prstGeom>
          <a:noFill/>
          <a:ln/>
        </p:spPr>
        <p:txBody>
          <a:bodyPr wrap="square" lIns="0" tIns="0" rIns="0" bIns="0" rtlCol="0" anchor="t"/>
          <a:lstStyle/>
          <a:p>
            <a:pPr algn="l" indent="0" marL="0">
              <a:lnSpc>
                <a:spcPct val="115000"/>
              </a:lnSpc>
              <a:buNone/>
            </a:pPr>
            <a:r>
              <a:rPr lang="en-US" sz="1280" dirty="0">
                <a:solidFill>
                  <a:srgbClr val="C8BDD8"/>
                </a:solidFill>
                <a:latin typeface="Manrope" pitchFamily="34" charset="0"/>
                <a:ea typeface="Manrope" pitchFamily="34" charset="-122"/>
                <a:cs typeface="Manrope" pitchFamily="34" charset="-120"/>
              </a:rPr>
              <a:t>Describimos el proceso que un developer seguía y lo ejecutamos como una secuencia de pasos diseñados y en el orden correcto.</a:t>
            </a:r>
            <a:endParaRPr lang="en-US" sz="1280" dirty="0"/>
          </a:p>
        </p:txBody>
      </p:sp>
      <p:sp>
        <p:nvSpPr>
          <p:cNvPr id="23" name="Shape 18"/>
          <p:cNvSpPr/>
          <p:nvPr/>
        </p:nvSpPr>
        <p:spPr>
          <a:xfrm>
            <a:off x="6248400" y="3771900"/>
            <a:ext cx="1543050" cy="1143000"/>
          </a:xfrm>
          <a:prstGeom prst="roundRect">
            <a:avLst>
              <a:gd name="adj" fmla="val 11667"/>
            </a:avLst>
          </a:prstGeom>
          <a:solidFill>
            <a:srgbClr val="2E0F2E"/>
          </a:solidFill>
          <a:ln w="12700">
            <a:solidFill>
              <a:srgbClr val="4A2A4A"/>
            </a:solidFill>
            <a:prstDash val="solid"/>
          </a:ln>
        </p:spPr>
      </p:sp>
      <p:pic>
        <p:nvPicPr>
          <p:cNvPr id="24" name="Image 3" descr="preencoded.png">    </p:cNvPr>
          <p:cNvPicPr>
            <a:picLocks noChangeAspect="1"/>
          </p:cNvPicPr>
          <p:nvPr/>
        </p:nvPicPr>
        <p:blipFill>
          <a:blip r:embed="rId4"/>
          <a:stretch>
            <a:fillRect/>
          </a:stretch>
        </p:blipFill>
        <p:spPr>
          <a:xfrm>
            <a:off x="6848475" y="3981450"/>
            <a:ext cx="342900" cy="342900"/>
          </a:xfrm>
          <a:prstGeom prst="rect">
            <a:avLst/>
          </a:prstGeom>
        </p:spPr>
      </p:pic>
      <p:sp>
        <p:nvSpPr>
          <p:cNvPr id="25" name="Text 19"/>
          <p:cNvSpPr txBox="1"/>
          <p:nvPr/>
        </p:nvSpPr>
        <p:spPr>
          <a:xfrm>
            <a:off x="6248400" y="4457700"/>
            <a:ext cx="1543050" cy="247650"/>
          </a:xfrm>
          <a:prstGeom prst="rect">
            <a:avLst/>
          </a:prstGeom>
          <a:noFill/>
          <a:ln/>
        </p:spPr>
        <p:txBody>
          <a:bodyPr wrap="square" lIns="0" tIns="0" rIns="0" bIns="0" rtlCol="0" anchor="t"/>
          <a:lstStyle/>
          <a:p>
            <a:pPr algn="ctr" indent="0" marL="0">
              <a:lnSpc>
                <a:spcPct val="100000"/>
              </a:lnSpc>
              <a:buNone/>
            </a:pPr>
            <a:r>
              <a:rPr lang="en-US" sz="1350" b="1" dirty="0">
                <a:solidFill>
                  <a:srgbClr val="ECE7F5"/>
                </a:solidFill>
                <a:latin typeface="Manrope" pitchFamily="34" charset="0"/>
                <a:ea typeface="Manrope" pitchFamily="34" charset="-122"/>
                <a:cs typeface="Manrope" pitchFamily="34" charset="-120"/>
              </a:rPr>
              <a:t>Skills</a:t>
            </a:r>
            <a:endParaRPr lang="en-US" sz="1350" dirty="0"/>
          </a:p>
        </p:txBody>
      </p:sp>
      <p:sp>
        <p:nvSpPr>
          <p:cNvPr id="26" name="Shape 20"/>
          <p:cNvSpPr/>
          <p:nvPr/>
        </p:nvSpPr>
        <p:spPr>
          <a:xfrm>
            <a:off x="7905750" y="3771900"/>
            <a:ext cx="1543050" cy="1143000"/>
          </a:xfrm>
          <a:prstGeom prst="roundRect">
            <a:avLst>
              <a:gd name="adj" fmla="val 11667"/>
            </a:avLst>
          </a:prstGeom>
          <a:solidFill>
            <a:srgbClr val="2E0F2E"/>
          </a:solidFill>
          <a:ln w="12700">
            <a:solidFill>
              <a:srgbClr val="4A2A4A"/>
            </a:solidFill>
            <a:prstDash val="solid"/>
          </a:ln>
        </p:spPr>
      </p:sp>
      <p:pic>
        <p:nvPicPr>
          <p:cNvPr id="27" name="Image 4" descr="preencoded.png">    </p:cNvPr>
          <p:cNvPicPr>
            <a:picLocks noChangeAspect="1"/>
          </p:cNvPicPr>
          <p:nvPr/>
        </p:nvPicPr>
        <p:blipFill>
          <a:blip r:embed="rId5"/>
          <a:stretch>
            <a:fillRect/>
          </a:stretch>
        </p:blipFill>
        <p:spPr>
          <a:xfrm>
            <a:off x="8505825" y="3981450"/>
            <a:ext cx="342900" cy="342900"/>
          </a:xfrm>
          <a:prstGeom prst="rect">
            <a:avLst/>
          </a:prstGeom>
        </p:spPr>
      </p:pic>
      <p:sp>
        <p:nvSpPr>
          <p:cNvPr id="28" name="Text 21"/>
          <p:cNvSpPr txBox="1"/>
          <p:nvPr/>
        </p:nvSpPr>
        <p:spPr>
          <a:xfrm>
            <a:off x="7905750" y="4457700"/>
            <a:ext cx="1543050" cy="247650"/>
          </a:xfrm>
          <a:prstGeom prst="rect">
            <a:avLst/>
          </a:prstGeom>
          <a:noFill/>
          <a:ln/>
        </p:spPr>
        <p:txBody>
          <a:bodyPr wrap="square" lIns="0" tIns="0" rIns="0" bIns="0" rtlCol="0" anchor="t"/>
          <a:lstStyle/>
          <a:p>
            <a:pPr algn="ctr" indent="0" marL="0">
              <a:lnSpc>
                <a:spcPct val="100000"/>
              </a:lnSpc>
              <a:buNone/>
            </a:pPr>
            <a:r>
              <a:rPr lang="en-US" sz="1350" b="1" dirty="0">
                <a:solidFill>
                  <a:srgbClr val="ECE7F5"/>
                </a:solidFill>
                <a:latin typeface="Manrope" pitchFamily="34" charset="0"/>
                <a:ea typeface="Manrope" pitchFamily="34" charset="-122"/>
                <a:cs typeface="Manrope" pitchFamily="34" charset="-120"/>
              </a:rPr>
              <a:t>Prompts</a:t>
            </a:r>
            <a:endParaRPr lang="en-US" sz="1350" dirty="0"/>
          </a:p>
        </p:txBody>
      </p:sp>
      <p:sp>
        <p:nvSpPr>
          <p:cNvPr id="29" name="Shape 22"/>
          <p:cNvSpPr/>
          <p:nvPr/>
        </p:nvSpPr>
        <p:spPr>
          <a:xfrm>
            <a:off x="9563100" y="3771900"/>
            <a:ext cx="1543050" cy="1143000"/>
          </a:xfrm>
          <a:prstGeom prst="roundRect">
            <a:avLst>
              <a:gd name="adj" fmla="val 11667"/>
            </a:avLst>
          </a:prstGeom>
          <a:solidFill>
            <a:srgbClr val="2E0F2E"/>
          </a:solidFill>
          <a:ln w="12700">
            <a:solidFill>
              <a:srgbClr val="4A2A4A"/>
            </a:solidFill>
            <a:prstDash val="solid"/>
          </a:ln>
        </p:spPr>
      </p:sp>
      <p:pic>
        <p:nvPicPr>
          <p:cNvPr id="30" name="Image 5" descr="preencoded.png">    </p:cNvPr>
          <p:cNvPicPr>
            <a:picLocks noChangeAspect="1"/>
          </p:cNvPicPr>
          <p:nvPr/>
        </p:nvPicPr>
        <p:blipFill>
          <a:blip r:embed="rId6"/>
          <a:stretch>
            <a:fillRect/>
          </a:stretch>
        </p:blipFill>
        <p:spPr>
          <a:xfrm>
            <a:off x="10163175" y="3981450"/>
            <a:ext cx="342900" cy="342900"/>
          </a:xfrm>
          <a:prstGeom prst="rect">
            <a:avLst/>
          </a:prstGeom>
        </p:spPr>
      </p:pic>
      <p:sp>
        <p:nvSpPr>
          <p:cNvPr id="31" name="Text 23"/>
          <p:cNvSpPr txBox="1"/>
          <p:nvPr/>
        </p:nvSpPr>
        <p:spPr>
          <a:xfrm>
            <a:off x="9563100" y="4457700"/>
            <a:ext cx="1543050" cy="247650"/>
          </a:xfrm>
          <a:prstGeom prst="rect">
            <a:avLst/>
          </a:prstGeom>
          <a:noFill/>
          <a:ln/>
        </p:spPr>
        <p:txBody>
          <a:bodyPr wrap="square" lIns="0" tIns="0" rIns="0" bIns="0" rtlCol="0" anchor="t"/>
          <a:lstStyle/>
          <a:p>
            <a:pPr algn="ctr" indent="0" marL="0">
              <a:lnSpc>
                <a:spcPct val="100000"/>
              </a:lnSpc>
              <a:buNone/>
            </a:pPr>
            <a:r>
              <a:rPr lang="en-US" sz="1350" b="1" dirty="0">
                <a:solidFill>
                  <a:srgbClr val="ECE7F5"/>
                </a:solidFill>
                <a:latin typeface="Manrope" pitchFamily="34" charset="0"/>
                <a:ea typeface="Manrope" pitchFamily="34" charset="-122"/>
                <a:cs typeface="Manrope" pitchFamily="34" charset="-120"/>
              </a:rPr>
              <a:t>MCPs</a:t>
            </a:r>
            <a:endParaRPr lang="en-US" sz="1350" dirty="0"/>
          </a:p>
        </p:txBody>
      </p:sp>
      <p:pic>
        <p:nvPicPr>
          <p:cNvPr id="32" name="Image 6" descr="preencoded.png">    </p:cNvPr>
          <p:cNvPicPr>
            <a:picLocks noChangeAspect="1"/>
          </p:cNvPicPr>
          <p:nvPr/>
        </p:nvPicPr>
        <p:blipFill>
          <a:blip r:embed="rId7"/>
          <a:stretch>
            <a:fillRect/>
          </a:stretch>
        </p:blipFill>
        <p:spPr>
          <a:xfrm>
            <a:off x="6248400" y="5200650"/>
            <a:ext cx="266700" cy="266700"/>
          </a:xfrm>
          <a:prstGeom prst="rect">
            <a:avLst/>
          </a:prstGeom>
        </p:spPr>
      </p:pic>
      <p:sp>
        <p:nvSpPr>
          <p:cNvPr id="33" name="Text 24"/>
          <p:cNvSpPr txBox="1"/>
          <p:nvPr/>
        </p:nvSpPr>
        <p:spPr>
          <a:xfrm>
            <a:off x="6629400" y="5200650"/>
            <a:ext cx="4381500" cy="266700"/>
          </a:xfrm>
          <a:prstGeom prst="rect">
            <a:avLst/>
          </a:prstGeom>
          <a:noFill/>
          <a:ln/>
        </p:spPr>
        <p:txBody>
          <a:bodyPr wrap="square" lIns="0" tIns="0" rIns="0" bIns="0" rtlCol="0" anchor="ctr"/>
          <a:lstStyle/>
          <a:p>
            <a:pPr algn="l" indent="0" marL="0">
              <a:lnSpc>
                <a:spcPct val="100000"/>
              </a:lnSpc>
              <a:buNone/>
            </a:pPr>
            <a:r>
              <a:rPr lang="en-US" sz="1350" b="1" dirty="0">
                <a:solidFill>
                  <a:srgbClr val="ECE7F5"/>
                </a:solidFill>
                <a:latin typeface="Manrope" pitchFamily="34" charset="0"/>
                <a:ea typeface="Manrope" pitchFamily="34" charset="-122"/>
                <a:cs typeface="Manrope" pitchFamily="34" charset="-120"/>
              </a:rPr>
              <a:t>Alta probabilidad de éxito, no una “apuesta”</a:t>
            </a:r>
            <a:endParaRPr lang="en-US" sz="1350" dirty="0"/>
          </a:p>
        </p:txBody>
      </p:sp>
      <p:sp>
        <p:nvSpPr>
          <p:cNvPr id="25" name="Slide Number Placeholder 0"/>
          <p:cNvSpPr>
            <a:spLocks noGrp="1"/>
          </p:cNvSpPr>
          <p:nvPr>
            <p:ph type="sldNum" sz="quarter" idx="4294967295"/>
          </p:nvPr>
        </p:nvSpPr>
        <p:spPr>
          <a:xfrm>
            <a:off x="9525000" y="6477000"/>
            <a:ext cx="47625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5A4A6A"/>
                </a:solidFill>
                <a:latin typeface="Manrope"/>
                <a:ea typeface="Manrope"/>
                <a:cs typeface="Manrope"/>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62000" y="657225"/>
            <a:ext cx="95250" cy="95250"/>
          </a:xfrm>
          <a:prstGeom prst="roundRect">
            <a:avLst>
              <a:gd name="adj" fmla="val 20000"/>
            </a:avLst>
          </a:prstGeom>
          <a:solidFill>
            <a:srgbClr val="DA0081"/>
          </a:solidFill>
          <a:ln/>
        </p:spPr>
      </p:sp>
      <p:sp>
        <p:nvSpPr>
          <p:cNvPr id="3" name="Text 1"/>
          <p:cNvSpPr txBox="1"/>
          <p:nvPr/>
        </p:nvSpPr>
        <p:spPr>
          <a:xfrm>
            <a:off x="952500" y="609600"/>
            <a:ext cx="7620000" cy="190500"/>
          </a:xfrm>
          <a:prstGeom prst="rect">
            <a:avLst/>
          </a:prstGeom>
          <a:noFill/>
          <a:ln/>
        </p:spPr>
        <p:txBody>
          <a:bodyPr wrap="square" lIns="0" tIns="0" rIns="0" bIns="0" rtlCol="0" anchor="ctr"/>
          <a:lstStyle/>
          <a:p>
            <a:pPr algn="l" indent="0" marL="0">
              <a:lnSpc>
                <a:spcPct val="100000"/>
              </a:lnSpc>
              <a:buNone/>
            </a:pPr>
            <a:r>
              <a:rPr lang="en-US" sz="1130" b="1" spc="200" kern="0" dirty="0">
                <a:solidFill>
                  <a:srgbClr val="DA0081"/>
                </a:solidFill>
                <a:latin typeface="Manrope" pitchFamily="34" charset="0"/>
                <a:ea typeface="Manrope" pitchFamily="34" charset="-122"/>
                <a:cs typeface="Manrope" pitchFamily="34" charset="-120"/>
              </a:rPr>
              <a:t>05 · ¿POR QUÉ KIRO?</a:t>
            </a:r>
            <a:endParaRPr lang="en-US" sz="1130" dirty="0"/>
          </a:p>
        </p:txBody>
      </p:sp>
      <p:sp>
        <p:nvSpPr>
          <p:cNvPr id="4" name="Text 2"/>
          <p:cNvSpPr txBox="1"/>
          <p:nvPr/>
        </p:nvSpPr>
        <p:spPr>
          <a:xfrm>
            <a:off x="762000" y="876300"/>
            <a:ext cx="9525000" cy="1047750"/>
          </a:xfrm>
          <a:prstGeom prst="rect">
            <a:avLst/>
          </a:prstGeom>
          <a:noFill/>
          <a:ln/>
        </p:spPr>
        <p:txBody>
          <a:bodyPr wrap="square" lIns="0" tIns="0" rIns="0" bIns="0" rtlCol="0" anchor="t"/>
          <a:lstStyle/>
          <a:p>
            <a:pPr algn="l" indent="0" marL="0">
              <a:lnSpc>
                <a:spcPct val="95000"/>
              </a:lnSpc>
              <a:buNone/>
            </a:pPr>
            <a:r>
              <a:rPr lang="en-US" sz="3150" b="1" dirty="0">
                <a:solidFill>
                  <a:srgbClr val="ECE7F5"/>
                </a:solidFill>
                <a:latin typeface="Manrope" pitchFamily="34" charset="0"/>
                <a:ea typeface="Manrope" pitchFamily="34" charset="-122"/>
                <a:cs typeface="Manrope" pitchFamily="34" charset="-120"/>
              </a:rPr>
              <a:t>Una herramienta agéntica </a:t>
            </a:r>
            <a:pPr algn="l" indent="0" marL="0">
              <a:lnSpc>
                <a:spcPct val="95000"/>
              </a:lnSpc>
              <a:buNone/>
            </a:pPr>
            <a:r>
              <a:rPr lang="en-US" sz="3150" b="1" dirty="0">
                <a:solidFill>
                  <a:srgbClr val="DA0081"/>
                </a:solidFill>
                <a:latin typeface="Manrope" pitchFamily="34" charset="0"/>
                <a:ea typeface="Manrope" pitchFamily="34" charset="-122"/>
                <a:cs typeface="Manrope" pitchFamily="34" charset="-120"/>
              </a:rPr>
              <a:t>rápida, sencilla y clara</a:t>
            </a:r>
            <a:pPr algn="l" indent="0" marL="0">
              <a:lnSpc>
                <a:spcPct val="95000"/>
              </a:lnSpc>
              <a:buNone/>
            </a:pPr>
            <a:r>
              <a:rPr lang="en-US" sz="3150" b="1" dirty="0">
                <a:solidFill>
                  <a:srgbClr val="ECE7F5"/>
                </a:solidFill>
                <a:latin typeface="Manrope" pitchFamily="34" charset="0"/>
                <a:ea typeface="Manrope" pitchFamily="34" charset="-122"/>
                <a:cs typeface="Manrope" pitchFamily="34" charset="-120"/>
              </a:rPr>
              <a:t> para el developer</a:t>
            </a:r>
            <a:endParaRPr lang="en-US" sz="3150" dirty="0"/>
          </a:p>
        </p:txBody>
      </p:sp>
      <p:sp>
        <p:nvSpPr>
          <p:cNvPr id="5" name="Shape 3"/>
          <p:cNvSpPr/>
          <p:nvPr/>
        </p:nvSpPr>
        <p:spPr>
          <a:xfrm>
            <a:off x="762000" y="2438400"/>
            <a:ext cx="2381250" cy="723900"/>
          </a:xfrm>
          <a:prstGeom prst="roundRect">
            <a:avLst>
              <a:gd name="adj" fmla="val 18421"/>
            </a:avLst>
          </a:prstGeom>
          <a:solidFill>
            <a:srgbClr val="2E0F2E"/>
          </a:solidFill>
          <a:ln w="12700">
            <a:solidFill>
              <a:srgbClr val="4A2A4A"/>
            </a:solidFill>
            <a:prstDash val="solid"/>
          </a:ln>
        </p:spPr>
      </p:sp>
      <p:sp>
        <p:nvSpPr>
          <p:cNvPr id="6" name="Text 4"/>
          <p:cNvSpPr txBox="1"/>
          <p:nvPr/>
        </p:nvSpPr>
        <p:spPr>
          <a:xfrm>
            <a:off x="990600" y="2590800"/>
            <a:ext cx="2095500" cy="228600"/>
          </a:xfrm>
          <a:prstGeom prst="rect">
            <a:avLst/>
          </a:prstGeom>
          <a:noFill/>
          <a:ln/>
        </p:spPr>
        <p:txBody>
          <a:bodyPr wrap="square" lIns="0" tIns="0" rIns="0" bIns="0" rtlCol="0" anchor="t"/>
          <a:lstStyle/>
          <a:p>
            <a:pPr algn="l" indent="0" marL="0">
              <a:lnSpc>
                <a:spcPct val="100000"/>
              </a:lnSpc>
              <a:buNone/>
            </a:pPr>
            <a:r>
              <a:rPr lang="en-US" sz="1350" b="1" dirty="0">
                <a:solidFill>
                  <a:srgbClr val="ECE7F5"/>
                </a:solidFill>
                <a:latin typeface="Manrope" pitchFamily="34" charset="0"/>
                <a:ea typeface="Manrope" pitchFamily="34" charset="-122"/>
                <a:cs typeface="Manrope" pitchFamily="34" charset="-120"/>
              </a:rPr>
              <a:t>Código legacy</a:t>
            </a:r>
            <a:endParaRPr lang="en-US" sz="1350" dirty="0"/>
          </a:p>
        </p:txBody>
      </p:sp>
      <p:sp>
        <p:nvSpPr>
          <p:cNvPr id="7" name="Text 5"/>
          <p:cNvSpPr txBox="1"/>
          <p:nvPr/>
        </p:nvSpPr>
        <p:spPr>
          <a:xfrm>
            <a:off x="990600" y="2838450"/>
            <a:ext cx="2095500" cy="190500"/>
          </a:xfrm>
          <a:prstGeom prst="rect">
            <a:avLst/>
          </a:prstGeom>
          <a:noFill/>
          <a:ln/>
        </p:spPr>
        <p:txBody>
          <a:bodyPr wrap="square" lIns="0" tIns="0" rIns="0" bIns="0" rtlCol="0" anchor="t"/>
          <a:lstStyle/>
          <a:p>
            <a:pPr algn="l" indent="0" marL="0">
              <a:lnSpc>
                <a:spcPct val="100000"/>
              </a:lnSpc>
              <a:buNone/>
            </a:pPr>
            <a:r>
              <a:rPr lang="en-US" sz="1050" dirty="0">
                <a:solidFill>
                  <a:srgbClr val="C8BDD8"/>
                </a:solidFill>
                <a:latin typeface="Manrope" pitchFamily="34" charset="0"/>
                <a:ea typeface="Manrope" pitchFamily="34" charset="-122"/>
                <a:cs typeface="Manrope" pitchFamily="34" charset="-120"/>
              </a:rPr>
              <a:t>Servicio a migrar</a:t>
            </a:r>
            <a:endParaRPr lang="en-US" sz="1050" dirty="0"/>
          </a:p>
        </p:txBody>
      </p:sp>
      <p:sp>
        <p:nvSpPr>
          <p:cNvPr id="8" name="Shape 6"/>
          <p:cNvSpPr/>
          <p:nvPr/>
        </p:nvSpPr>
        <p:spPr>
          <a:xfrm>
            <a:off x="3143250" y="2800350"/>
            <a:ext cx="1200150" cy="1162050"/>
          </a:xfrm>
          <a:prstGeom prst="line">
            <a:avLst/>
          </a:prstGeom>
          <a:noFill/>
          <a:ln w="31750">
            <a:solidFill>
              <a:srgbClr val="DA0081"/>
            </a:solidFill>
            <a:prstDash val="solid"/>
            <a:tailEnd type="triangle"/>
          </a:ln>
        </p:spPr>
      </p:sp>
      <p:sp>
        <p:nvSpPr>
          <p:cNvPr id="9" name="Shape 7"/>
          <p:cNvSpPr/>
          <p:nvPr/>
        </p:nvSpPr>
        <p:spPr>
          <a:xfrm>
            <a:off x="762000" y="3600450"/>
            <a:ext cx="2381250" cy="723900"/>
          </a:xfrm>
          <a:prstGeom prst="roundRect">
            <a:avLst>
              <a:gd name="adj" fmla="val 18421"/>
            </a:avLst>
          </a:prstGeom>
          <a:solidFill>
            <a:srgbClr val="2E0F2E"/>
          </a:solidFill>
          <a:ln w="12700">
            <a:solidFill>
              <a:srgbClr val="4A2A4A"/>
            </a:solidFill>
            <a:prstDash val="solid"/>
          </a:ln>
        </p:spPr>
      </p:sp>
      <p:sp>
        <p:nvSpPr>
          <p:cNvPr id="10" name="Text 8"/>
          <p:cNvSpPr txBox="1"/>
          <p:nvPr/>
        </p:nvSpPr>
        <p:spPr>
          <a:xfrm>
            <a:off x="990600" y="3752850"/>
            <a:ext cx="2095500" cy="228600"/>
          </a:xfrm>
          <a:prstGeom prst="rect">
            <a:avLst/>
          </a:prstGeom>
          <a:noFill/>
          <a:ln/>
        </p:spPr>
        <p:txBody>
          <a:bodyPr wrap="square" lIns="0" tIns="0" rIns="0" bIns="0" rtlCol="0" anchor="t"/>
          <a:lstStyle/>
          <a:p>
            <a:pPr algn="l" indent="0" marL="0">
              <a:lnSpc>
                <a:spcPct val="100000"/>
              </a:lnSpc>
              <a:buNone/>
            </a:pPr>
            <a:r>
              <a:rPr lang="en-US" sz="1350" b="1" dirty="0">
                <a:solidFill>
                  <a:srgbClr val="ECE7F5"/>
                </a:solidFill>
                <a:latin typeface="Manrope" pitchFamily="34" charset="0"/>
                <a:ea typeface="Manrope" pitchFamily="34" charset="-122"/>
                <a:cs typeface="Manrope" pitchFamily="34" charset="-120"/>
              </a:rPr>
              <a:t>Skills + Prompts</a:t>
            </a:r>
            <a:endParaRPr lang="en-US" sz="1350" dirty="0"/>
          </a:p>
        </p:txBody>
      </p:sp>
      <p:sp>
        <p:nvSpPr>
          <p:cNvPr id="11" name="Text 9"/>
          <p:cNvSpPr txBox="1"/>
          <p:nvPr/>
        </p:nvSpPr>
        <p:spPr>
          <a:xfrm>
            <a:off x="990600" y="4000500"/>
            <a:ext cx="2095500" cy="190500"/>
          </a:xfrm>
          <a:prstGeom prst="rect">
            <a:avLst/>
          </a:prstGeom>
          <a:noFill/>
          <a:ln/>
        </p:spPr>
        <p:txBody>
          <a:bodyPr wrap="square" lIns="0" tIns="0" rIns="0" bIns="0" rtlCol="0" anchor="t"/>
          <a:lstStyle/>
          <a:p>
            <a:pPr algn="l" indent="0" marL="0">
              <a:lnSpc>
                <a:spcPct val="100000"/>
              </a:lnSpc>
              <a:buNone/>
            </a:pPr>
            <a:r>
              <a:rPr lang="en-US" sz="1050" dirty="0">
                <a:solidFill>
                  <a:srgbClr val="C8BDD8"/>
                </a:solidFill>
                <a:latin typeface="Manrope" pitchFamily="34" charset="0"/>
                <a:ea typeface="Manrope" pitchFamily="34" charset="-122"/>
                <a:cs typeface="Manrope" pitchFamily="34" charset="-120"/>
              </a:rPr>
              <a:t>El proceso descrito</a:t>
            </a:r>
            <a:endParaRPr lang="en-US" sz="1050" dirty="0"/>
          </a:p>
        </p:txBody>
      </p:sp>
      <p:sp>
        <p:nvSpPr>
          <p:cNvPr id="12" name="Shape 10"/>
          <p:cNvSpPr/>
          <p:nvPr/>
        </p:nvSpPr>
        <p:spPr>
          <a:xfrm>
            <a:off x="3143250" y="3962400"/>
            <a:ext cx="1200150" cy="95"/>
          </a:xfrm>
          <a:prstGeom prst="line">
            <a:avLst/>
          </a:prstGeom>
          <a:noFill/>
          <a:ln w="31750">
            <a:solidFill>
              <a:srgbClr val="DA0081"/>
            </a:solidFill>
            <a:prstDash val="solid"/>
            <a:tailEnd type="triangle"/>
          </a:ln>
        </p:spPr>
      </p:sp>
      <p:sp>
        <p:nvSpPr>
          <p:cNvPr id="13" name="Shape 11"/>
          <p:cNvSpPr/>
          <p:nvPr/>
        </p:nvSpPr>
        <p:spPr>
          <a:xfrm>
            <a:off x="762000" y="4762500"/>
            <a:ext cx="2381250" cy="723900"/>
          </a:xfrm>
          <a:prstGeom prst="roundRect">
            <a:avLst>
              <a:gd name="adj" fmla="val 18421"/>
            </a:avLst>
          </a:prstGeom>
          <a:solidFill>
            <a:srgbClr val="2E0F2E"/>
          </a:solidFill>
          <a:ln w="12700">
            <a:solidFill>
              <a:srgbClr val="4A2A4A"/>
            </a:solidFill>
            <a:prstDash val="solid"/>
          </a:ln>
        </p:spPr>
      </p:sp>
      <p:sp>
        <p:nvSpPr>
          <p:cNvPr id="14" name="Text 12"/>
          <p:cNvSpPr txBox="1"/>
          <p:nvPr/>
        </p:nvSpPr>
        <p:spPr>
          <a:xfrm>
            <a:off x="990600" y="4914900"/>
            <a:ext cx="2095500" cy="228600"/>
          </a:xfrm>
          <a:prstGeom prst="rect">
            <a:avLst/>
          </a:prstGeom>
          <a:noFill/>
          <a:ln/>
        </p:spPr>
        <p:txBody>
          <a:bodyPr wrap="square" lIns="0" tIns="0" rIns="0" bIns="0" rtlCol="0" anchor="t"/>
          <a:lstStyle/>
          <a:p>
            <a:pPr algn="l" indent="0" marL="0">
              <a:lnSpc>
                <a:spcPct val="100000"/>
              </a:lnSpc>
              <a:buNone/>
            </a:pPr>
            <a:r>
              <a:rPr lang="en-US" sz="1350" b="1" dirty="0">
                <a:solidFill>
                  <a:srgbClr val="ECE7F5"/>
                </a:solidFill>
                <a:latin typeface="Manrope" pitchFamily="34" charset="0"/>
                <a:ea typeface="Manrope" pitchFamily="34" charset="-122"/>
                <a:cs typeface="Manrope" pitchFamily="34" charset="-120"/>
              </a:rPr>
              <a:t>MCPs</a:t>
            </a:r>
            <a:endParaRPr lang="en-US" sz="1350" dirty="0"/>
          </a:p>
        </p:txBody>
      </p:sp>
      <p:sp>
        <p:nvSpPr>
          <p:cNvPr id="15" name="Text 13"/>
          <p:cNvSpPr txBox="1"/>
          <p:nvPr/>
        </p:nvSpPr>
        <p:spPr>
          <a:xfrm>
            <a:off x="990600" y="5162550"/>
            <a:ext cx="2095500" cy="190500"/>
          </a:xfrm>
          <a:prstGeom prst="rect">
            <a:avLst/>
          </a:prstGeom>
          <a:noFill/>
          <a:ln/>
        </p:spPr>
        <p:txBody>
          <a:bodyPr wrap="square" lIns="0" tIns="0" rIns="0" bIns="0" rtlCol="0" anchor="t"/>
          <a:lstStyle/>
          <a:p>
            <a:pPr algn="l" indent="0" marL="0">
              <a:lnSpc>
                <a:spcPct val="100000"/>
              </a:lnSpc>
              <a:buNone/>
            </a:pPr>
            <a:r>
              <a:rPr lang="en-US" sz="1050" dirty="0">
                <a:solidFill>
                  <a:srgbClr val="C8BDD8"/>
                </a:solidFill>
                <a:latin typeface="Manrope" pitchFamily="34" charset="0"/>
                <a:ea typeface="Manrope" pitchFamily="34" charset="-122"/>
                <a:cs typeface="Manrope" pitchFamily="34" charset="-120"/>
              </a:rPr>
              <a:t>Herramientas y datos</a:t>
            </a:r>
            <a:endParaRPr lang="en-US" sz="1050" dirty="0"/>
          </a:p>
        </p:txBody>
      </p:sp>
      <p:sp>
        <p:nvSpPr>
          <p:cNvPr id="16" name="Shape 14"/>
          <p:cNvSpPr/>
          <p:nvPr/>
        </p:nvSpPr>
        <p:spPr>
          <a:xfrm flipV="1">
            <a:off x="3143250" y="3962400"/>
            <a:ext cx="1200150" cy="1162050"/>
          </a:xfrm>
          <a:prstGeom prst="line">
            <a:avLst/>
          </a:prstGeom>
          <a:noFill/>
          <a:ln w="31750">
            <a:solidFill>
              <a:srgbClr val="DA0081"/>
            </a:solidFill>
            <a:prstDash val="solid"/>
            <a:tailEnd type="triangle"/>
          </a:ln>
        </p:spPr>
      </p:sp>
      <p:sp>
        <p:nvSpPr>
          <p:cNvPr id="17" name="Shape 15"/>
          <p:cNvSpPr/>
          <p:nvPr/>
        </p:nvSpPr>
        <p:spPr>
          <a:xfrm>
            <a:off x="4381500" y="3105150"/>
            <a:ext cx="2190750" cy="1714500"/>
          </a:xfrm>
          <a:prstGeom prst="roundRect">
            <a:avLst>
              <a:gd name="adj" fmla="val 20000"/>
            </a:avLst>
          </a:prstGeom>
          <a:solidFill>
            <a:srgbClr val="DA0081"/>
          </a:solidFill>
          <a:ln/>
        </p:spPr>
      </p:sp>
      <p:sp>
        <p:nvSpPr>
          <p:cNvPr id="18" name="Shape 16"/>
          <p:cNvSpPr/>
          <p:nvPr/>
        </p:nvSpPr>
        <p:spPr>
          <a:xfrm>
            <a:off x="6343650" y="3009900"/>
            <a:ext cx="171450" cy="171450"/>
          </a:xfrm>
          <a:prstGeom prst="roundRect">
            <a:avLst>
              <a:gd name="adj" fmla="val 22222"/>
            </a:avLst>
          </a:prstGeom>
          <a:solidFill>
            <a:srgbClr val="ECE7F5"/>
          </a:solidFill>
          <a:ln/>
        </p:spPr>
      </p:sp>
      <p:pic>
        <p:nvPicPr>
          <p:cNvPr id="19" name="Image 0" descr="/home/claude/pptx/kiro.png">    </p:cNvPr>
          <p:cNvPicPr>
            <a:picLocks noChangeAspect="1"/>
          </p:cNvPicPr>
          <p:nvPr/>
        </p:nvPicPr>
        <p:blipFill>
          <a:blip r:embed="rId1"/>
          <a:stretch>
            <a:fillRect/>
          </a:stretch>
        </p:blipFill>
        <p:spPr>
          <a:xfrm>
            <a:off x="5210175" y="3257550"/>
            <a:ext cx="533400" cy="533400"/>
          </a:xfrm>
          <a:prstGeom prst="rect">
            <a:avLst/>
          </a:prstGeom>
        </p:spPr>
      </p:pic>
      <p:sp>
        <p:nvSpPr>
          <p:cNvPr id="20" name="Text 17"/>
          <p:cNvSpPr txBox="1"/>
          <p:nvPr/>
        </p:nvSpPr>
        <p:spPr>
          <a:xfrm>
            <a:off x="4381500" y="3829050"/>
            <a:ext cx="2190750" cy="419100"/>
          </a:xfrm>
          <a:prstGeom prst="rect">
            <a:avLst/>
          </a:prstGeom>
          <a:noFill/>
          <a:ln/>
        </p:spPr>
        <p:txBody>
          <a:bodyPr wrap="square" lIns="0" tIns="0" rIns="0" bIns="0" rtlCol="0" anchor="t"/>
          <a:lstStyle/>
          <a:p>
            <a:pPr algn="ctr" indent="0" marL="0">
              <a:lnSpc>
                <a:spcPct val="100000"/>
              </a:lnSpc>
              <a:buNone/>
            </a:pPr>
            <a:r>
              <a:rPr lang="en-US" sz="2400" b="1" dirty="0">
                <a:solidFill>
                  <a:srgbClr val="FFFFFF"/>
                </a:solidFill>
                <a:latin typeface="Manrope" pitchFamily="34" charset="0"/>
                <a:ea typeface="Manrope" pitchFamily="34" charset="-122"/>
                <a:cs typeface="Manrope" pitchFamily="34" charset="-120"/>
              </a:rPr>
              <a:t>Kiro</a:t>
            </a:r>
            <a:endParaRPr lang="en-US" sz="2400" dirty="0"/>
          </a:p>
        </p:txBody>
      </p:sp>
      <p:sp>
        <p:nvSpPr>
          <p:cNvPr id="21" name="Text 18"/>
          <p:cNvSpPr txBox="1"/>
          <p:nvPr/>
        </p:nvSpPr>
        <p:spPr>
          <a:xfrm>
            <a:off x="4381500" y="4267200"/>
            <a:ext cx="2190750" cy="228600"/>
          </a:xfrm>
          <a:prstGeom prst="rect">
            <a:avLst/>
          </a:prstGeom>
          <a:noFill/>
          <a:ln/>
        </p:spPr>
        <p:txBody>
          <a:bodyPr wrap="square" lIns="0" tIns="0" rIns="0" bIns="0" rtlCol="0" anchor="t"/>
          <a:lstStyle/>
          <a:p>
            <a:pPr algn="ctr" indent="0" marL="0">
              <a:lnSpc>
                <a:spcPct val="100000"/>
              </a:lnSpc>
              <a:buNone/>
            </a:pPr>
            <a:r>
              <a:rPr lang="en-US" sz="1130" b="1" dirty="0">
                <a:solidFill>
                  <a:srgbClr val="FFFFFF"/>
                </a:solidFill>
                <a:latin typeface="Manrope" pitchFamily="34" charset="0"/>
                <a:ea typeface="Manrope" pitchFamily="34" charset="-122"/>
                <a:cs typeface="Manrope" pitchFamily="34" charset="-120"/>
              </a:rPr>
              <a:t>Agente de migración</a:t>
            </a:r>
            <a:endParaRPr lang="en-US" sz="1130" dirty="0"/>
          </a:p>
        </p:txBody>
      </p:sp>
      <p:sp>
        <p:nvSpPr>
          <p:cNvPr id="22" name="Shape 19"/>
          <p:cNvSpPr/>
          <p:nvPr/>
        </p:nvSpPr>
        <p:spPr>
          <a:xfrm>
            <a:off x="6591300" y="3962400"/>
            <a:ext cx="685800" cy="95"/>
          </a:xfrm>
          <a:prstGeom prst="line">
            <a:avLst/>
          </a:prstGeom>
          <a:noFill/>
          <a:ln w="31750">
            <a:solidFill>
              <a:srgbClr val="DA0081"/>
            </a:solidFill>
            <a:prstDash val="solid"/>
            <a:tailEnd type="triangle"/>
          </a:ln>
        </p:spPr>
      </p:sp>
      <p:sp>
        <p:nvSpPr>
          <p:cNvPr id="23" name="Shape 20"/>
          <p:cNvSpPr/>
          <p:nvPr/>
        </p:nvSpPr>
        <p:spPr>
          <a:xfrm>
            <a:off x="7334250" y="2438400"/>
            <a:ext cx="2476500" cy="3048000"/>
          </a:xfrm>
          <a:prstGeom prst="roundRect">
            <a:avLst>
              <a:gd name="adj" fmla="val 6923"/>
            </a:avLst>
          </a:prstGeom>
          <a:solidFill>
            <a:srgbClr val="2E0F2E"/>
          </a:solidFill>
          <a:ln w="12700">
            <a:solidFill>
              <a:srgbClr val="4A2A4A"/>
            </a:solidFill>
            <a:prstDash val="solid"/>
          </a:ln>
        </p:spPr>
      </p:sp>
      <p:sp>
        <p:nvSpPr>
          <p:cNvPr id="24" name="Text 21"/>
          <p:cNvSpPr txBox="1"/>
          <p:nvPr/>
        </p:nvSpPr>
        <p:spPr>
          <a:xfrm>
            <a:off x="7543800" y="2647950"/>
            <a:ext cx="2095500" cy="190500"/>
          </a:xfrm>
          <a:prstGeom prst="rect">
            <a:avLst/>
          </a:prstGeom>
          <a:noFill/>
          <a:ln/>
        </p:spPr>
        <p:txBody>
          <a:bodyPr wrap="square" lIns="0" tIns="0" rIns="0" bIns="0" rtlCol="0" anchor="t"/>
          <a:lstStyle/>
          <a:p>
            <a:pPr algn="l" indent="0" marL="0">
              <a:lnSpc>
                <a:spcPct val="100000"/>
              </a:lnSpc>
              <a:buNone/>
            </a:pPr>
            <a:r>
              <a:rPr lang="en-US" sz="980" b="1" spc="150" kern="0" dirty="0">
                <a:solidFill>
                  <a:srgbClr val="E992BE"/>
                </a:solidFill>
                <a:latin typeface="Manrope" pitchFamily="34" charset="0"/>
                <a:ea typeface="Manrope" pitchFamily="34" charset="-122"/>
                <a:cs typeface="Manrope" pitchFamily="34" charset="-120"/>
              </a:rPr>
              <a:t>SECUENCIA ORDENADA</a:t>
            </a:r>
            <a:endParaRPr lang="en-US" sz="980" dirty="0"/>
          </a:p>
        </p:txBody>
      </p:sp>
      <p:sp>
        <p:nvSpPr>
          <p:cNvPr id="25" name="Shape 22"/>
          <p:cNvSpPr/>
          <p:nvPr/>
        </p:nvSpPr>
        <p:spPr>
          <a:xfrm>
            <a:off x="7543800" y="3009900"/>
            <a:ext cx="247650" cy="247650"/>
          </a:xfrm>
          <a:prstGeom prst="roundRect">
            <a:avLst>
              <a:gd name="adj" fmla="val 23077"/>
            </a:avLst>
          </a:prstGeom>
          <a:solidFill>
            <a:srgbClr val="DA0081"/>
          </a:solidFill>
          <a:ln/>
        </p:spPr>
      </p:sp>
      <p:sp>
        <p:nvSpPr>
          <p:cNvPr id="26" name="Text 23"/>
          <p:cNvSpPr txBox="1"/>
          <p:nvPr/>
        </p:nvSpPr>
        <p:spPr>
          <a:xfrm>
            <a:off x="7543800" y="3009900"/>
            <a:ext cx="247650" cy="247650"/>
          </a:xfrm>
          <a:prstGeom prst="rect">
            <a:avLst/>
          </a:prstGeom>
          <a:noFill/>
          <a:ln/>
        </p:spPr>
        <p:txBody>
          <a:bodyPr wrap="square" lIns="0" tIns="0" rIns="0" bIns="0" rtlCol="0" anchor="ctr"/>
          <a:lstStyle/>
          <a:p>
            <a:pPr algn="ctr" indent="0" marL="0">
              <a:lnSpc>
                <a:spcPct val="100000"/>
              </a:lnSpc>
              <a:buNone/>
            </a:pPr>
            <a:r>
              <a:rPr lang="en-US" sz="980" b="1" dirty="0">
                <a:solidFill>
                  <a:srgbClr val="FFFFFF"/>
                </a:solidFill>
                <a:latin typeface="Manrope" pitchFamily="34" charset="0"/>
                <a:ea typeface="Manrope" pitchFamily="34" charset="-122"/>
                <a:cs typeface="Manrope" pitchFamily="34" charset="-120"/>
              </a:rPr>
              <a:t>1</a:t>
            </a:r>
            <a:endParaRPr lang="en-US" sz="980" dirty="0"/>
          </a:p>
        </p:txBody>
      </p:sp>
      <p:sp>
        <p:nvSpPr>
          <p:cNvPr id="27" name="Text 24"/>
          <p:cNvSpPr txBox="1"/>
          <p:nvPr/>
        </p:nvSpPr>
        <p:spPr>
          <a:xfrm>
            <a:off x="7905750" y="3009900"/>
            <a:ext cx="1809750" cy="247650"/>
          </a:xfrm>
          <a:prstGeom prst="rect">
            <a:avLst/>
          </a:prstGeom>
          <a:noFill/>
          <a:ln/>
        </p:spPr>
        <p:txBody>
          <a:bodyPr wrap="square" lIns="0" tIns="0" rIns="0" bIns="0" rtlCol="0" anchor="ctr"/>
          <a:lstStyle/>
          <a:p>
            <a:pPr algn="l" indent="0" marL="0">
              <a:lnSpc>
                <a:spcPct val="100000"/>
              </a:lnSpc>
              <a:buNone/>
            </a:pPr>
            <a:r>
              <a:rPr lang="en-US" sz="1200" b="1" dirty="0">
                <a:solidFill>
                  <a:srgbClr val="ECE7F5"/>
                </a:solidFill>
                <a:latin typeface="Manrope" pitchFamily="34" charset="0"/>
                <a:ea typeface="Manrope" pitchFamily="34" charset="-122"/>
                <a:cs typeface="Manrope" pitchFamily="34" charset="-120"/>
              </a:rPr>
              <a:t>Generar contexto</a:t>
            </a:r>
            <a:endParaRPr lang="en-US" sz="1200" dirty="0"/>
          </a:p>
        </p:txBody>
      </p:sp>
      <p:sp>
        <p:nvSpPr>
          <p:cNvPr id="28" name="Shape 25"/>
          <p:cNvSpPr/>
          <p:nvPr/>
        </p:nvSpPr>
        <p:spPr>
          <a:xfrm>
            <a:off x="7543800" y="3486150"/>
            <a:ext cx="247650" cy="247650"/>
          </a:xfrm>
          <a:prstGeom prst="roundRect">
            <a:avLst>
              <a:gd name="adj" fmla="val 23077"/>
            </a:avLst>
          </a:prstGeom>
          <a:solidFill>
            <a:srgbClr val="DA0081"/>
          </a:solidFill>
          <a:ln/>
        </p:spPr>
      </p:sp>
      <p:sp>
        <p:nvSpPr>
          <p:cNvPr id="29" name="Text 26"/>
          <p:cNvSpPr txBox="1"/>
          <p:nvPr/>
        </p:nvSpPr>
        <p:spPr>
          <a:xfrm>
            <a:off x="7543800" y="3486150"/>
            <a:ext cx="247650" cy="247650"/>
          </a:xfrm>
          <a:prstGeom prst="rect">
            <a:avLst/>
          </a:prstGeom>
          <a:noFill/>
          <a:ln/>
        </p:spPr>
        <p:txBody>
          <a:bodyPr wrap="square" lIns="0" tIns="0" rIns="0" bIns="0" rtlCol="0" anchor="ctr"/>
          <a:lstStyle/>
          <a:p>
            <a:pPr algn="ctr" indent="0" marL="0">
              <a:lnSpc>
                <a:spcPct val="100000"/>
              </a:lnSpc>
              <a:buNone/>
            </a:pPr>
            <a:r>
              <a:rPr lang="en-US" sz="980" b="1" dirty="0">
                <a:solidFill>
                  <a:srgbClr val="FFFFFF"/>
                </a:solidFill>
                <a:latin typeface="Manrope" pitchFamily="34" charset="0"/>
                <a:ea typeface="Manrope" pitchFamily="34" charset="-122"/>
                <a:cs typeface="Manrope" pitchFamily="34" charset="-120"/>
              </a:rPr>
              <a:t>2</a:t>
            </a:r>
            <a:endParaRPr lang="en-US" sz="980" dirty="0"/>
          </a:p>
        </p:txBody>
      </p:sp>
      <p:sp>
        <p:nvSpPr>
          <p:cNvPr id="30" name="Text 27"/>
          <p:cNvSpPr txBox="1"/>
          <p:nvPr/>
        </p:nvSpPr>
        <p:spPr>
          <a:xfrm>
            <a:off x="7905750" y="3486150"/>
            <a:ext cx="1809750" cy="247650"/>
          </a:xfrm>
          <a:prstGeom prst="rect">
            <a:avLst/>
          </a:prstGeom>
          <a:noFill/>
          <a:ln/>
        </p:spPr>
        <p:txBody>
          <a:bodyPr wrap="square" lIns="0" tIns="0" rIns="0" bIns="0" rtlCol="0" anchor="ctr"/>
          <a:lstStyle/>
          <a:p>
            <a:pPr algn="l" indent="0" marL="0">
              <a:lnSpc>
                <a:spcPct val="100000"/>
              </a:lnSpc>
              <a:buNone/>
            </a:pPr>
            <a:r>
              <a:rPr lang="en-US" sz="1200" b="1" dirty="0">
                <a:solidFill>
                  <a:srgbClr val="ECE7F5"/>
                </a:solidFill>
                <a:latin typeface="Manrope" pitchFamily="34" charset="0"/>
                <a:ea typeface="Manrope" pitchFamily="34" charset="-122"/>
                <a:cs typeface="Manrope" pitchFamily="34" charset="-120"/>
              </a:rPr>
              <a:t>Proyecto base</a:t>
            </a:r>
            <a:endParaRPr lang="en-US" sz="1200" dirty="0"/>
          </a:p>
        </p:txBody>
      </p:sp>
      <p:sp>
        <p:nvSpPr>
          <p:cNvPr id="31" name="Shape 28"/>
          <p:cNvSpPr/>
          <p:nvPr/>
        </p:nvSpPr>
        <p:spPr>
          <a:xfrm>
            <a:off x="7543800" y="3962400"/>
            <a:ext cx="247650" cy="247650"/>
          </a:xfrm>
          <a:prstGeom prst="roundRect">
            <a:avLst>
              <a:gd name="adj" fmla="val 23077"/>
            </a:avLst>
          </a:prstGeom>
          <a:solidFill>
            <a:srgbClr val="DA0081"/>
          </a:solidFill>
          <a:ln/>
        </p:spPr>
      </p:sp>
      <p:sp>
        <p:nvSpPr>
          <p:cNvPr id="32" name="Text 29"/>
          <p:cNvSpPr txBox="1"/>
          <p:nvPr/>
        </p:nvSpPr>
        <p:spPr>
          <a:xfrm>
            <a:off x="7543800" y="3962400"/>
            <a:ext cx="247650" cy="247650"/>
          </a:xfrm>
          <a:prstGeom prst="rect">
            <a:avLst/>
          </a:prstGeom>
          <a:noFill/>
          <a:ln/>
        </p:spPr>
        <p:txBody>
          <a:bodyPr wrap="square" lIns="0" tIns="0" rIns="0" bIns="0" rtlCol="0" anchor="ctr"/>
          <a:lstStyle/>
          <a:p>
            <a:pPr algn="ctr" indent="0" marL="0">
              <a:lnSpc>
                <a:spcPct val="100000"/>
              </a:lnSpc>
              <a:buNone/>
            </a:pPr>
            <a:r>
              <a:rPr lang="en-US" sz="980" b="1" dirty="0">
                <a:solidFill>
                  <a:srgbClr val="FFFFFF"/>
                </a:solidFill>
                <a:latin typeface="Manrope" pitchFamily="34" charset="0"/>
                <a:ea typeface="Manrope" pitchFamily="34" charset="-122"/>
                <a:cs typeface="Manrope" pitchFamily="34" charset="-120"/>
              </a:rPr>
              <a:t>3</a:t>
            </a:r>
            <a:endParaRPr lang="en-US" sz="980" dirty="0"/>
          </a:p>
        </p:txBody>
      </p:sp>
      <p:sp>
        <p:nvSpPr>
          <p:cNvPr id="33" name="Text 30"/>
          <p:cNvSpPr txBox="1"/>
          <p:nvPr/>
        </p:nvSpPr>
        <p:spPr>
          <a:xfrm>
            <a:off x="7905750" y="3962400"/>
            <a:ext cx="1809750" cy="247650"/>
          </a:xfrm>
          <a:prstGeom prst="rect">
            <a:avLst/>
          </a:prstGeom>
          <a:noFill/>
          <a:ln/>
        </p:spPr>
        <p:txBody>
          <a:bodyPr wrap="square" lIns="0" tIns="0" rIns="0" bIns="0" rtlCol="0" anchor="ctr"/>
          <a:lstStyle/>
          <a:p>
            <a:pPr algn="l" indent="0" marL="0">
              <a:lnSpc>
                <a:spcPct val="100000"/>
              </a:lnSpc>
              <a:buNone/>
            </a:pPr>
            <a:r>
              <a:rPr lang="en-US" sz="1200" b="1" dirty="0">
                <a:solidFill>
                  <a:srgbClr val="ECE7F5"/>
                </a:solidFill>
                <a:latin typeface="Manrope" pitchFamily="34" charset="0"/>
                <a:ea typeface="Manrope" pitchFamily="34" charset="-122"/>
                <a:cs typeface="Manrope" pitchFamily="34" charset="-120"/>
              </a:rPr>
              <a:t>Módulos estándar</a:t>
            </a:r>
            <a:endParaRPr lang="en-US" sz="1200" dirty="0"/>
          </a:p>
        </p:txBody>
      </p:sp>
      <p:sp>
        <p:nvSpPr>
          <p:cNvPr id="34" name="Shape 31"/>
          <p:cNvSpPr/>
          <p:nvPr/>
        </p:nvSpPr>
        <p:spPr>
          <a:xfrm>
            <a:off x="7543800" y="4438650"/>
            <a:ext cx="247650" cy="247650"/>
          </a:xfrm>
          <a:prstGeom prst="roundRect">
            <a:avLst>
              <a:gd name="adj" fmla="val 23077"/>
            </a:avLst>
          </a:prstGeom>
          <a:solidFill>
            <a:srgbClr val="DA0081"/>
          </a:solidFill>
          <a:ln/>
        </p:spPr>
      </p:sp>
      <p:sp>
        <p:nvSpPr>
          <p:cNvPr id="35" name="Text 32"/>
          <p:cNvSpPr txBox="1"/>
          <p:nvPr/>
        </p:nvSpPr>
        <p:spPr>
          <a:xfrm>
            <a:off x="7543800" y="4438650"/>
            <a:ext cx="247650" cy="247650"/>
          </a:xfrm>
          <a:prstGeom prst="rect">
            <a:avLst/>
          </a:prstGeom>
          <a:noFill/>
          <a:ln/>
        </p:spPr>
        <p:txBody>
          <a:bodyPr wrap="square" lIns="0" tIns="0" rIns="0" bIns="0" rtlCol="0" anchor="ctr"/>
          <a:lstStyle/>
          <a:p>
            <a:pPr algn="ctr" indent="0" marL="0">
              <a:lnSpc>
                <a:spcPct val="100000"/>
              </a:lnSpc>
              <a:buNone/>
            </a:pPr>
            <a:r>
              <a:rPr lang="en-US" sz="980" b="1" dirty="0">
                <a:solidFill>
                  <a:srgbClr val="FFFFFF"/>
                </a:solidFill>
                <a:latin typeface="Manrope" pitchFamily="34" charset="0"/>
                <a:ea typeface="Manrope" pitchFamily="34" charset="-122"/>
                <a:cs typeface="Manrope" pitchFamily="34" charset="-120"/>
              </a:rPr>
              <a:t>4</a:t>
            </a:r>
            <a:endParaRPr lang="en-US" sz="980" dirty="0"/>
          </a:p>
        </p:txBody>
      </p:sp>
      <p:sp>
        <p:nvSpPr>
          <p:cNvPr id="36" name="Text 33"/>
          <p:cNvSpPr txBox="1"/>
          <p:nvPr/>
        </p:nvSpPr>
        <p:spPr>
          <a:xfrm>
            <a:off x="7905750" y="4438650"/>
            <a:ext cx="1809750" cy="247650"/>
          </a:xfrm>
          <a:prstGeom prst="rect">
            <a:avLst/>
          </a:prstGeom>
          <a:noFill/>
          <a:ln/>
        </p:spPr>
        <p:txBody>
          <a:bodyPr wrap="square" lIns="0" tIns="0" rIns="0" bIns="0" rtlCol="0" anchor="ctr"/>
          <a:lstStyle/>
          <a:p>
            <a:pPr algn="l" indent="0" marL="0">
              <a:lnSpc>
                <a:spcPct val="100000"/>
              </a:lnSpc>
              <a:buNone/>
            </a:pPr>
            <a:r>
              <a:rPr lang="en-US" sz="1200" b="1" dirty="0">
                <a:solidFill>
                  <a:srgbClr val="ECE7F5"/>
                </a:solidFill>
                <a:latin typeface="Manrope" pitchFamily="34" charset="0"/>
                <a:ea typeface="Manrope" pitchFamily="34" charset="-122"/>
                <a:cs typeface="Manrope" pitchFamily="34" charset="-120"/>
              </a:rPr>
              <a:t>Datos e integraciones</a:t>
            </a:r>
            <a:endParaRPr lang="en-US" sz="1200" dirty="0"/>
          </a:p>
        </p:txBody>
      </p:sp>
      <p:sp>
        <p:nvSpPr>
          <p:cNvPr id="37" name="Shape 34"/>
          <p:cNvSpPr/>
          <p:nvPr/>
        </p:nvSpPr>
        <p:spPr>
          <a:xfrm>
            <a:off x="7543800" y="4914900"/>
            <a:ext cx="247650" cy="247650"/>
          </a:xfrm>
          <a:prstGeom prst="roundRect">
            <a:avLst>
              <a:gd name="adj" fmla="val 23077"/>
            </a:avLst>
          </a:prstGeom>
          <a:solidFill>
            <a:srgbClr val="DA0081"/>
          </a:solidFill>
          <a:ln/>
        </p:spPr>
      </p:sp>
      <p:sp>
        <p:nvSpPr>
          <p:cNvPr id="38" name="Text 35"/>
          <p:cNvSpPr txBox="1"/>
          <p:nvPr/>
        </p:nvSpPr>
        <p:spPr>
          <a:xfrm>
            <a:off x="7543800" y="4914900"/>
            <a:ext cx="247650" cy="247650"/>
          </a:xfrm>
          <a:prstGeom prst="rect">
            <a:avLst/>
          </a:prstGeom>
          <a:noFill/>
          <a:ln/>
        </p:spPr>
        <p:txBody>
          <a:bodyPr wrap="square" lIns="0" tIns="0" rIns="0" bIns="0" rtlCol="0" anchor="ctr"/>
          <a:lstStyle/>
          <a:p>
            <a:pPr algn="ctr" indent="0" marL="0">
              <a:lnSpc>
                <a:spcPct val="100000"/>
              </a:lnSpc>
              <a:buNone/>
            </a:pPr>
            <a:r>
              <a:rPr lang="en-US" sz="980" b="1" dirty="0">
                <a:solidFill>
                  <a:srgbClr val="FFFFFF"/>
                </a:solidFill>
                <a:latin typeface="Manrope" pitchFamily="34" charset="0"/>
                <a:ea typeface="Manrope" pitchFamily="34" charset="-122"/>
                <a:cs typeface="Manrope" pitchFamily="34" charset="-120"/>
              </a:rPr>
              <a:t>5</a:t>
            </a:r>
            <a:endParaRPr lang="en-US" sz="980" dirty="0"/>
          </a:p>
        </p:txBody>
      </p:sp>
      <p:sp>
        <p:nvSpPr>
          <p:cNvPr id="39" name="Text 36"/>
          <p:cNvSpPr txBox="1"/>
          <p:nvPr/>
        </p:nvSpPr>
        <p:spPr>
          <a:xfrm>
            <a:off x="7905750" y="4914900"/>
            <a:ext cx="1809750" cy="247650"/>
          </a:xfrm>
          <a:prstGeom prst="rect">
            <a:avLst/>
          </a:prstGeom>
          <a:noFill/>
          <a:ln/>
        </p:spPr>
        <p:txBody>
          <a:bodyPr wrap="square" lIns="0" tIns="0" rIns="0" bIns="0" rtlCol="0" anchor="ctr"/>
          <a:lstStyle/>
          <a:p>
            <a:pPr algn="l" indent="0" marL="0">
              <a:lnSpc>
                <a:spcPct val="100000"/>
              </a:lnSpc>
              <a:buNone/>
            </a:pPr>
            <a:r>
              <a:rPr lang="en-US" sz="1200" b="1" dirty="0">
                <a:solidFill>
                  <a:srgbClr val="ECE7F5"/>
                </a:solidFill>
                <a:latin typeface="Manrope" pitchFamily="34" charset="0"/>
                <a:ea typeface="Manrope" pitchFamily="34" charset="-122"/>
                <a:cs typeface="Manrope" pitchFamily="34" charset="-120"/>
              </a:rPr>
              <a:t>Lógica y mensajería</a:t>
            </a:r>
            <a:endParaRPr lang="en-US" sz="1200" dirty="0"/>
          </a:p>
        </p:txBody>
      </p:sp>
      <p:sp>
        <p:nvSpPr>
          <p:cNvPr id="40" name="Shape 37"/>
          <p:cNvSpPr/>
          <p:nvPr/>
        </p:nvSpPr>
        <p:spPr>
          <a:xfrm>
            <a:off x="9829800" y="3962400"/>
            <a:ext cx="419100" cy="95"/>
          </a:xfrm>
          <a:prstGeom prst="line">
            <a:avLst/>
          </a:prstGeom>
          <a:noFill/>
          <a:ln w="31750">
            <a:solidFill>
              <a:srgbClr val="DA0081"/>
            </a:solidFill>
            <a:prstDash val="solid"/>
            <a:tailEnd type="triangle"/>
          </a:ln>
        </p:spPr>
      </p:sp>
      <p:sp>
        <p:nvSpPr>
          <p:cNvPr id="41" name="Shape 38"/>
          <p:cNvSpPr/>
          <p:nvPr/>
        </p:nvSpPr>
        <p:spPr>
          <a:xfrm>
            <a:off x="10287000" y="3295650"/>
            <a:ext cx="1143000" cy="1333500"/>
          </a:xfrm>
          <a:prstGeom prst="roundRect">
            <a:avLst>
              <a:gd name="adj" fmla="val 20000"/>
            </a:avLst>
          </a:prstGeom>
          <a:solidFill>
            <a:srgbClr val="ECE7F5"/>
          </a:solidFill>
          <a:ln/>
        </p:spPr>
      </p:sp>
      <p:pic>
        <p:nvPicPr>
          <p:cNvPr id="42" name="Image 1" descr="preencoded.png">    </p:cNvPr>
          <p:cNvPicPr>
            <a:picLocks noChangeAspect="1"/>
          </p:cNvPicPr>
          <p:nvPr/>
        </p:nvPicPr>
        <p:blipFill>
          <a:blip r:embed="rId2"/>
          <a:stretch>
            <a:fillRect/>
          </a:stretch>
        </p:blipFill>
        <p:spPr>
          <a:xfrm>
            <a:off x="10629900" y="3467100"/>
            <a:ext cx="457200" cy="457200"/>
          </a:xfrm>
          <a:prstGeom prst="rect">
            <a:avLst/>
          </a:prstGeom>
        </p:spPr>
      </p:pic>
      <p:sp>
        <p:nvSpPr>
          <p:cNvPr id="43" name="Text 39"/>
          <p:cNvSpPr txBox="1"/>
          <p:nvPr/>
        </p:nvSpPr>
        <p:spPr>
          <a:xfrm>
            <a:off x="10325100" y="4019550"/>
            <a:ext cx="1066800" cy="476250"/>
          </a:xfrm>
          <a:prstGeom prst="rect">
            <a:avLst/>
          </a:prstGeom>
          <a:noFill/>
          <a:ln/>
        </p:spPr>
        <p:txBody>
          <a:bodyPr wrap="square" lIns="0" tIns="0" rIns="0" bIns="0" rtlCol="0" anchor="t"/>
          <a:lstStyle/>
          <a:p>
            <a:pPr algn="ctr" indent="0" marL="0">
              <a:lnSpc>
                <a:spcPct val="100000"/>
              </a:lnSpc>
              <a:buNone/>
            </a:pPr>
            <a:r>
              <a:rPr lang="en-US" sz="1050" b="1" dirty="0">
                <a:solidFill>
                  <a:srgbClr val="200020"/>
                </a:solidFill>
                <a:latin typeface="Manrope" pitchFamily="34" charset="0"/>
                <a:ea typeface="Manrope" pitchFamily="34" charset="-122"/>
                <a:cs typeface="Manrope" pitchFamily="34" charset="-120"/>
              </a:rPr>
              <a:t>Servicio migrado</a:t>
            </a:r>
            <a:endParaRPr lang="en-US" sz="1050" dirty="0"/>
          </a:p>
        </p:txBody>
      </p:sp>
      <p:sp>
        <p:nvSpPr>
          <p:cNvPr id="44" name="Text 40"/>
          <p:cNvSpPr txBox="1"/>
          <p:nvPr/>
        </p:nvSpPr>
        <p:spPr>
          <a:xfrm>
            <a:off x="762000" y="5715000"/>
            <a:ext cx="7620000" cy="190500"/>
          </a:xfrm>
          <a:prstGeom prst="rect">
            <a:avLst/>
          </a:prstGeom>
          <a:noFill/>
          <a:ln/>
        </p:spPr>
        <p:txBody>
          <a:bodyPr wrap="square" lIns="0" tIns="0" rIns="0" bIns="0" rtlCol="0" anchor="t"/>
          <a:lstStyle/>
          <a:p>
            <a:pPr algn="l" indent="0" marL="0">
              <a:lnSpc>
                <a:spcPct val="100000"/>
              </a:lnSpc>
              <a:buNone/>
            </a:pPr>
            <a:r>
              <a:rPr lang="en-US" sz="980" dirty="0">
                <a:solidFill>
                  <a:srgbClr val="C8BDD8"/>
                </a:solidFill>
                <a:latin typeface="Manrope" pitchFamily="34" charset="0"/>
                <a:ea typeface="Manrope" pitchFamily="34" charset="-122"/>
                <a:cs typeface="Manrope" pitchFamily="34" charset="-120"/>
              </a:rPr>
              <a:t>Secuencia ilustrativa: refleja el orden del proceso manual automatizado.</a:t>
            </a:r>
            <a:endParaRPr lang="en-US" sz="980" dirty="0"/>
          </a:p>
        </p:txBody>
      </p:sp>
      <p:sp>
        <p:nvSpPr>
          <p:cNvPr id="25" name="Slide Number Placeholder 0"/>
          <p:cNvSpPr>
            <a:spLocks noGrp="1"/>
          </p:cNvSpPr>
          <p:nvPr>
            <p:ph type="sldNum" sz="quarter" idx="4294967295"/>
          </p:nvPr>
        </p:nvSpPr>
        <p:spPr>
          <a:xfrm>
            <a:off x="9525000" y="6477000"/>
            <a:ext cx="47625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9A889A"/>
                </a:solidFill>
                <a:latin typeface="Manrope"/>
                <a:ea typeface="Manrope"/>
                <a:cs typeface="Manrope"/>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762000" y="657225"/>
            <a:ext cx="95250" cy="95250"/>
          </a:xfrm>
          <a:prstGeom prst="roundRect">
            <a:avLst>
              <a:gd name="adj" fmla="val 20000"/>
            </a:avLst>
          </a:prstGeom>
          <a:solidFill>
            <a:srgbClr val="DA0081"/>
          </a:solidFill>
          <a:ln/>
        </p:spPr>
      </p:sp>
      <p:sp>
        <p:nvSpPr>
          <p:cNvPr id="3" name="Text 1"/>
          <p:cNvSpPr txBox="1"/>
          <p:nvPr/>
        </p:nvSpPr>
        <p:spPr>
          <a:xfrm>
            <a:off x="952500" y="609600"/>
            <a:ext cx="7620000" cy="190500"/>
          </a:xfrm>
          <a:prstGeom prst="rect">
            <a:avLst/>
          </a:prstGeom>
          <a:noFill/>
          <a:ln/>
        </p:spPr>
        <p:txBody>
          <a:bodyPr wrap="square" lIns="0" tIns="0" rIns="0" bIns="0" rtlCol="0" anchor="ctr"/>
          <a:lstStyle/>
          <a:p>
            <a:pPr algn="l" indent="0" marL="0">
              <a:lnSpc>
                <a:spcPct val="100000"/>
              </a:lnSpc>
              <a:buNone/>
            </a:pPr>
            <a:r>
              <a:rPr lang="en-US" sz="1130" b="1" spc="200" kern="0" dirty="0">
                <a:solidFill>
                  <a:srgbClr val="DA0081"/>
                </a:solidFill>
                <a:latin typeface="Manrope" pitchFamily="34" charset="0"/>
                <a:ea typeface="Manrope" pitchFamily="34" charset="-122"/>
                <a:cs typeface="Manrope" pitchFamily="34" charset="-120"/>
              </a:rPr>
              <a:t>05 · COMPONENTES DEL TOOLKIT</a:t>
            </a:r>
            <a:endParaRPr lang="en-US" sz="1130" dirty="0"/>
          </a:p>
        </p:txBody>
      </p:sp>
      <p:sp>
        <p:nvSpPr>
          <p:cNvPr id="4" name="Text 2"/>
          <p:cNvSpPr txBox="1"/>
          <p:nvPr/>
        </p:nvSpPr>
        <p:spPr>
          <a:xfrm>
            <a:off x="762000" y="876300"/>
            <a:ext cx="9525000" cy="1047750"/>
          </a:xfrm>
          <a:prstGeom prst="rect">
            <a:avLst/>
          </a:prstGeom>
          <a:noFill/>
          <a:ln/>
        </p:spPr>
        <p:txBody>
          <a:bodyPr wrap="square" lIns="0" tIns="0" rIns="0" bIns="0" rtlCol="0" anchor="t"/>
          <a:lstStyle/>
          <a:p>
            <a:pPr algn="l" indent="0" marL="0">
              <a:lnSpc>
                <a:spcPct val="95000"/>
              </a:lnSpc>
              <a:buNone/>
            </a:pPr>
            <a:r>
              <a:rPr lang="en-US" sz="3150" b="1" dirty="0">
                <a:solidFill>
                  <a:srgbClr val="200020"/>
                </a:solidFill>
                <a:latin typeface="Manrope" pitchFamily="34" charset="0"/>
                <a:ea typeface="Manrope" pitchFamily="34" charset="-122"/>
                <a:cs typeface="Manrope" pitchFamily="34" charset="-120"/>
              </a:rPr>
              <a:t>Componentes del ToolKit</a:t>
            </a:r>
            <a:endParaRPr lang="en-US" sz="3150" dirty="0"/>
          </a:p>
        </p:txBody>
      </p:sp>
      <p:sp>
        <p:nvSpPr>
          <p:cNvPr id="5" name="Shape 3"/>
          <p:cNvSpPr/>
          <p:nvPr/>
        </p:nvSpPr>
        <p:spPr>
          <a:xfrm>
            <a:off x="762000" y="1600200"/>
            <a:ext cx="10668000" cy="4724400"/>
          </a:xfrm>
          <a:prstGeom prst="roundRect">
            <a:avLst>
              <a:gd name="adj" fmla="val 3226"/>
            </a:avLst>
          </a:prstGeom>
          <a:solidFill>
            <a:srgbClr val="FFFFFF"/>
          </a:solidFill>
          <a:ln/>
        </p:spPr>
      </p:sp>
      <p:pic>
        <p:nvPicPr>
          <p:cNvPr id="6" name="Image 0" descr="Componentes del AI Agent ToolKit: developers usan herramientas agénticas locales (Kiro, Claude, AWS Transform) con proveedores LLM (OpenAI, DeepSeek, Anthropic Claude, Amazon Bedrock); el ToolKit se compone de Prompts, Skills, Steerings y MCPs que orquestan un proceso de migración paso a paso.">    </p:cNvPr>
          <p:cNvPicPr>
            <a:picLocks noChangeAspect="1"/>
          </p:cNvPicPr>
          <p:nvPr/>
        </p:nvPicPr>
        <p:blipFill>
          <a:blip r:embed="rId1"/>
          <a:stretch>
            <a:fillRect/>
          </a:stretch>
        </p:blipFill>
        <p:spPr>
          <a:xfrm>
            <a:off x="2087345" y="1695450"/>
            <a:ext cx="8017310" cy="4533900"/>
          </a:xfrm>
          <a:prstGeom prst="rect">
            <a:avLst/>
          </a:prstGeom>
        </p:spPr>
      </p:pic>
      <p:sp>
        <p:nvSpPr>
          <p:cNvPr id="25" name="Slide Number Placeholder 0"/>
          <p:cNvSpPr>
            <a:spLocks noGrp="1"/>
          </p:cNvSpPr>
          <p:nvPr>
            <p:ph type="sldNum" sz="quarter" idx="4294967295"/>
          </p:nvPr>
        </p:nvSpPr>
        <p:spPr>
          <a:xfrm>
            <a:off x="9525000" y="6477000"/>
            <a:ext cx="47625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5A4A6A"/>
                </a:solidFill>
                <a:latin typeface="Manrope"/>
                <a:ea typeface="Manrope"/>
                <a:cs typeface="Manrope"/>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62000" y="657225"/>
            <a:ext cx="95250" cy="95250"/>
          </a:xfrm>
          <a:prstGeom prst="roundRect">
            <a:avLst>
              <a:gd name="adj" fmla="val 20000"/>
            </a:avLst>
          </a:prstGeom>
          <a:solidFill>
            <a:srgbClr val="DA0081"/>
          </a:solidFill>
          <a:ln/>
        </p:spPr>
      </p:sp>
      <p:sp>
        <p:nvSpPr>
          <p:cNvPr id="3" name="Text 1"/>
          <p:cNvSpPr txBox="1"/>
          <p:nvPr/>
        </p:nvSpPr>
        <p:spPr>
          <a:xfrm>
            <a:off x="952500" y="609600"/>
            <a:ext cx="7620000" cy="190500"/>
          </a:xfrm>
          <a:prstGeom prst="rect">
            <a:avLst/>
          </a:prstGeom>
          <a:noFill/>
          <a:ln/>
        </p:spPr>
        <p:txBody>
          <a:bodyPr wrap="square" lIns="0" tIns="0" rIns="0" bIns="0" rtlCol="0" anchor="ctr"/>
          <a:lstStyle/>
          <a:p>
            <a:pPr algn="l" indent="0" marL="0">
              <a:lnSpc>
                <a:spcPct val="100000"/>
              </a:lnSpc>
              <a:buNone/>
            </a:pPr>
            <a:r>
              <a:rPr lang="en-US" sz="1130" b="1" spc="200" kern="0" dirty="0">
                <a:solidFill>
                  <a:srgbClr val="DA0081"/>
                </a:solidFill>
                <a:latin typeface="Manrope" pitchFamily="34" charset="0"/>
                <a:ea typeface="Manrope" pitchFamily="34" charset="-122"/>
                <a:cs typeface="Manrope" pitchFamily="34" charset="-120"/>
              </a:rPr>
              <a:t>05 · CLAVES DE LA PROPUESTA</a:t>
            </a:r>
            <a:endParaRPr lang="en-US" sz="1130" dirty="0"/>
          </a:p>
        </p:txBody>
      </p:sp>
      <p:sp>
        <p:nvSpPr>
          <p:cNvPr id="4" name="Text 2"/>
          <p:cNvSpPr txBox="1"/>
          <p:nvPr/>
        </p:nvSpPr>
        <p:spPr>
          <a:xfrm>
            <a:off x="762000" y="876300"/>
            <a:ext cx="9525000" cy="1047750"/>
          </a:xfrm>
          <a:prstGeom prst="rect">
            <a:avLst/>
          </a:prstGeom>
          <a:noFill/>
          <a:ln/>
        </p:spPr>
        <p:txBody>
          <a:bodyPr wrap="square" lIns="0" tIns="0" rIns="0" bIns="0" rtlCol="0" anchor="t"/>
          <a:lstStyle/>
          <a:p>
            <a:pPr algn="l" indent="0" marL="0">
              <a:lnSpc>
                <a:spcPct val="95000"/>
              </a:lnSpc>
              <a:buNone/>
            </a:pPr>
            <a:r>
              <a:rPr lang="en-US" sz="3150" b="1" dirty="0">
                <a:solidFill>
                  <a:srgbClr val="200020"/>
                </a:solidFill>
                <a:latin typeface="Manrope" pitchFamily="34" charset="0"/>
                <a:ea typeface="Manrope" pitchFamily="34" charset="-122"/>
                <a:cs typeface="Manrope" pitchFamily="34" charset="-120"/>
              </a:rPr>
              <a:t>Que la IA haga </a:t>
            </a:r>
            <a:pPr algn="l" indent="0" marL="0">
              <a:lnSpc>
                <a:spcPct val="95000"/>
              </a:lnSpc>
              <a:buNone/>
            </a:pPr>
            <a:r>
              <a:rPr lang="en-US" sz="3150" b="1" dirty="0">
                <a:solidFill>
                  <a:srgbClr val="DA0081"/>
                </a:solidFill>
                <a:latin typeface="Manrope" pitchFamily="34" charset="0"/>
                <a:ea typeface="Manrope" pitchFamily="34" charset="-122"/>
                <a:cs typeface="Manrope" pitchFamily="34" charset="-120"/>
              </a:rPr>
              <a:t>solo</a:t>
            </a:r>
            <a:pPr algn="l" indent="0" marL="0">
              <a:lnSpc>
                <a:spcPct val="95000"/>
              </a:lnSpc>
              <a:buNone/>
            </a:pPr>
            <a:r>
              <a:rPr lang="en-US" sz="3150" b="1" dirty="0">
                <a:solidFill>
                  <a:srgbClr val="200020"/>
                </a:solidFill>
                <a:latin typeface="Manrope" pitchFamily="34" charset="0"/>
                <a:ea typeface="Manrope" pitchFamily="34" charset="-122"/>
                <a:cs typeface="Manrope" pitchFamily="34" charset="-120"/>
              </a:rPr>
              <a:t> lo que debe hacer la IA</a:t>
            </a:r>
            <a:endParaRPr lang="en-US" sz="3150" dirty="0"/>
          </a:p>
        </p:txBody>
      </p:sp>
      <p:sp>
        <p:nvSpPr>
          <p:cNvPr id="5" name="Text 3"/>
          <p:cNvSpPr txBox="1"/>
          <p:nvPr/>
        </p:nvSpPr>
        <p:spPr>
          <a:xfrm>
            <a:off x="762000" y="1771650"/>
            <a:ext cx="4762500" cy="190500"/>
          </a:xfrm>
          <a:prstGeom prst="rect">
            <a:avLst/>
          </a:prstGeom>
          <a:noFill/>
          <a:ln/>
        </p:spPr>
        <p:txBody>
          <a:bodyPr wrap="square" lIns="0" tIns="0" rIns="0" bIns="0" rtlCol="0" anchor="t"/>
          <a:lstStyle/>
          <a:p>
            <a:pPr algn="l" indent="0" marL="0">
              <a:lnSpc>
                <a:spcPct val="100000"/>
              </a:lnSpc>
              <a:buNone/>
            </a:pPr>
            <a:r>
              <a:rPr lang="en-US" sz="980" b="1" dirty="0">
                <a:solidFill>
                  <a:srgbClr val="5A4A6A"/>
                </a:solidFill>
                <a:latin typeface="Manrope" pitchFamily="34" charset="0"/>
                <a:ea typeface="Manrope" pitchFamily="34" charset="-122"/>
                <a:cs typeface="Manrope" pitchFamily="34" charset="-120"/>
              </a:rPr>
              <a:t>■ DETERMINÍSTICO · resultado exacto</a:t>
            </a:r>
            <a:endParaRPr lang="en-US" sz="980" dirty="0"/>
          </a:p>
        </p:txBody>
      </p:sp>
      <p:sp>
        <p:nvSpPr>
          <p:cNvPr id="6" name="Text 4"/>
          <p:cNvSpPr txBox="1"/>
          <p:nvPr/>
        </p:nvSpPr>
        <p:spPr>
          <a:xfrm>
            <a:off x="6667500" y="1771650"/>
            <a:ext cx="4762500" cy="190500"/>
          </a:xfrm>
          <a:prstGeom prst="rect">
            <a:avLst/>
          </a:prstGeom>
          <a:noFill/>
          <a:ln/>
        </p:spPr>
        <p:txBody>
          <a:bodyPr wrap="square" lIns="0" tIns="0" rIns="0" bIns="0" rtlCol="0" anchor="t"/>
          <a:lstStyle/>
          <a:p>
            <a:pPr algn="r" indent="0" marL="0">
              <a:lnSpc>
                <a:spcPct val="100000"/>
              </a:lnSpc>
              <a:buNone/>
            </a:pPr>
            <a:r>
              <a:rPr lang="en-US" sz="980" b="1" dirty="0">
                <a:solidFill>
                  <a:srgbClr val="5A4A6A"/>
                </a:solidFill>
                <a:latin typeface="Manrope" pitchFamily="34" charset="0"/>
                <a:ea typeface="Manrope" pitchFamily="34" charset="-122"/>
                <a:cs typeface="Manrope" pitchFamily="34" charset="-120"/>
              </a:rPr>
              <a:t>GUIADO POR IA · con contexto ■</a:t>
            </a:r>
            <a:endParaRPr lang="en-US" sz="980" dirty="0"/>
          </a:p>
        </p:txBody>
      </p:sp>
      <p:sp>
        <p:nvSpPr>
          <p:cNvPr id="7" name="Shape 5"/>
          <p:cNvSpPr/>
          <p:nvPr/>
        </p:nvSpPr>
        <p:spPr>
          <a:xfrm>
            <a:off x="762000" y="2038350"/>
            <a:ext cx="2709863" cy="95250"/>
          </a:xfrm>
          <a:prstGeom prst="rect">
            <a:avLst/>
          </a:prstGeom>
          <a:solidFill>
            <a:srgbClr val="200020"/>
          </a:solidFill>
          <a:ln/>
        </p:spPr>
      </p:sp>
      <p:sp>
        <p:nvSpPr>
          <p:cNvPr id="8" name="Shape 6"/>
          <p:cNvSpPr/>
          <p:nvPr/>
        </p:nvSpPr>
        <p:spPr>
          <a:xfrm>
            <a:off x="762000" y="2324100"/>
            <a:ext cx="2538413" cy="3333750"/>
          </a:xfrm>
          <a:prstGeom prst="roundRect">
            <a:avLst>
              <a:gd name="adj" fmla="val 6004"/>
            </a:avLst>
          </a:prstGeom>
          <a:solidFill>
            <a:srgbClr val="FFFFFF"/>
          </a:solidFill>
          <a:ln/>
        </p:spPr>
      </p:sp>
      <p:sp>
        <p:nvSpPr>
          <p:cNvPr id="9" name="Shape 7"/>
          <p:cNvSpPr/>
          <p:nvPr/>
        </p:nvSpPr>
        <p:spPr>
          <a:xfrm>
            <a:off x="1009650" y="2609850"/>
            <a:ext cx="495300" cy="495300"/>
          </a:xfrm>
          <a:prstGeom prst="roundRect">
            <a:avLst>
              <a:gd name="adj" fmla="val 26923"/>
            </a:avLst>
          </a:prstGeom>
          <a:solidFill>
            <a:srgbClr val="200020"/>
          </a:solidFill>
          <a:ln/>
        </p:spPr>
      </p:sp>
      <p:pic>
        <p:nvPicPr>
          <p:cNvPr id="10" name="Image 0" descr="preencoded.png">    </p:cNvPr>
          <p:cNvPicPr>
            <a:picLocks noChangeAspect="1"/>
          </p:cNvPicPr>
          <p:nvPr/>
        </p:nvPicPr>
        <p:blipFill>
          <a:blip r:embed="rId1"/>
          <a:stretch>
            <a:fillRect/>
          </a:stretch>
        </p:blipFill>
        <p:spPr>
          <a:xfrm>
            <a:off x="1133475" y="2733675"/>
            <a:ext cx="247650" cy="247650"/>
          </a:xfrm>
          <a:prstGeom prst="rect">
            <a:avLst/>
          </a:prstGeom>
        </p:spPr>
      </p:pic>
      <p:sp>
        <p:nvSpPr>
          <p:cNvPr id="11" name="Text 8"/>
          <p:cNvSpPr txBox="1"/>
          <p:nvPr/>
        </p:nvSpPr>
        <p:spPr>
          <a:xfrm>
            <a:off x="1009650" y="3314700"/>
            <a:ext cx="2043113" cy="533400"/>
          </a:xfrm>
          <a:prstGeom prst="rect">
            <a:avLst/>
          </a:prstGeom>
          <a:noFill/>
          <a:ln/>
        </p:spPr>
        <p:txBody>
          <a:bodyPr wrap="square" lIns="0" tIns="0" rIns="0" bIns="0" rtlCol="0" anchor="t"/>
          <a:lstStyle/>
          <a:p>
            <a:pPr algn="l" indent="0" marL="0">
              <a:lnSpc>
                <a:spcPct val="100000"/>
              </a:lnSpc>
              <a:buNone/>
            </a:pPr>
            <a:r>
              <a:rPr lang="en-US" sz="1500" b="1" dirty="0">
                <a:solidFill>
                  <a:srgbClr val="200020"/>
                </a:solidFill>
                <a:latin typeface="Manrope" pitchFamily="34" charset="0"/>
                <a:ea typeface="Manrope" pitchFamily="34" charset="-122"/>
                <a:cs typeface="Manrope" pitchFamily="34" charset="-120"/>
              </a:rPr>
              <a:t>Generación de proyectos</a:t>
            </a:r>
            <a:endParaRPr lang="en-US" sz="1500" dirty="0"/>
          </a:p>
        </p:txBody>
      </p:sp>
      <p:sp>
        <p:nvSpPr>
          <p:cNvPr id="12" name="Text 9"/>
          <p:cNvSpPr txBox="1"/>
          <p:nvPr/>
        </p:nvSpPr>
        <p:spPr>
          <a:xfrm>
            <a:off x="1009650" y="3905250"/>
            <a:ext cx="2043113" cy="1524000"/>
          </a:xfrm>
          <a:prstGeom prst="rect">
            <a:avLst/>
          </a:prstGeom>
          <a:noFill/>
          <a:ln/>
        </p:spPr>
        <p:txBody>
          <a:bodyPr wrap="square" lIns="0" tIns="0" rIns="0" bIns="0" rtlCol="0" anchor="t"/>
          <a:lstStyle/>
          <a:p>
            <a:pPr algn="l" indent="0" marL="0">
              <a:lnSpc>
                <a:spcPct val="115000"/>
              </a:lnSpc>
              <a:buNone/>
            </a:pPr>
            <a:r>
              <a:rPr lang="en-US" sz="1200" dirty="0">
                <a:solidFill>
                  <a:srgbClr val="5A4A6A"/>
                </a:solidFill>
                <a:latin typeface="Manrope" pitchFamily="34" charset="0"/>
                <a:ea typeface="Manrope" pitchFamily="34" charset="-122"/>
                <a:cs typeface="Manrope" pitchFamily="34" charset="-120"/>
              </a:rPr>
              <a:t>Se automatiza sin IA: resultado exacto según la base que necesita el proyecto.</a:t>
            </a:r>
            <a:endParaRPr lang="en-US" sz="1200" dirty="0"/>
          </a:p>
        </p:txBody>
      </p:sp>
      <p:sp>
        <p:nvSpPr>
          <p:cNvPr id="13" name="Shape 10"/>
          <p:cNvSpPr/>
          <p:nvPr/>
        </p:nvSpPr>
        <p:spPr>
          <a:xfrm>
            <a:off x="3471863" y="2038350"/>
            <a:ext cx="2709863" cy="95250"/>
          </a:xfrm>
          <a:prstGeom prst="rect">
            <a:avLst/>
          </a:prstGeom>
          <a:solidFill>
            <a:srgbClr val="6E0055"/>
          </a:solidFill>
          <a:ln/>
        </p:spPr>
      </p:sp>
      <p:sp>
        <p:nvSpPr>
          <p:cNvPr id="14" name="Shape 11"/>
          <p:cNvSpPr/>
          <p:nvPr/>
        </p:nvSpPr>
        <p:spPr>
          <a:xfrm>
            <a:off x="3471863" y="2324100"/>
            <a:ext cx="2538413" cy="3333750"/>
          </a:xfrm>
          <a:prstGeom prst="roundRect">
            <a:avLst>
              <a:gd name="adj" fmla="val 6004"/>
            </a:avLst>
          </a:prstGeom>
          <a:solidFill>
            <a:srgbClr val="FFFFFF"/>
          </a:solidFill>
          <a:ln/>
        </p:spPr>
      </p:sp>
      <p:sp>
        <p:nvSpPr>
          <p:cNvPr id="15" name="Shape 12"/>
          <p:cNvSpPr/>
          <p:nvPr/>
        </p:nvSpPr>
        <p:spPr>
          <a:xfrm>
            <a:off x="3719512" y="2609850"/>
            <a:ext cx="495300" cy="495300"/>
          </a:xfrm>
          <a:prstGeom prst="roundRect">
            <a:avLst>
              <a:gd name="adj" fmla="val 26923"/>
            </a:avLst>
          </a:prstGeom>
          <a:solidFill>
            <a:srgbClr val="6E0055"/>
          </a:solidFill>
          <a:ln/>
        </p:spPr>
      </p:sp>
      <p:pic>
        <p:nvPicPr>
          <p:cNvPr id="16" name="Image 1" descr="preencoded.png">    </p:cNvPr>
          <p:cNvPicPr>
            <a:picLocks noChangeAspect="1"/>
          </p:cNvPicPr>
          <p:nvPr/>
        </p:nvPicPr>
        <p:blipFill>
          <a:blip r:embed="rId2"/>
          <a:stretch>
            <a:fillRect/>
          </a:stretch>
        </p:blipFill>
        <p:spPr>
          <a:xfrm>
            <a:off x="3843338" y="2733675"/>
            <a:ext cx="247650" cy="247650"/>
          </a:xfrm>
          <a:prstGeom prst="rect">
            <a:avLst/>
          </a:prstGeom>
        </p:spPr>
      </p:pic>
      <p:sp>
        <p:nvSpPr>
          <p:cNvPr id="17" name="Text 13"/>
          <p:cNvSpPr txBox="1"/>
          <p:nvPr/>
        </p:nvSpPr>
        <p:spPr>
          <a:xfrm>
            <a:off x="3719512" y="3314700"/>
            <a:ext cx="2043113" cy="533400"/>
          </a:xfrm>
          <a:prstGeom prst="rect">
            <a:avLst/>
          </a:prstGeom>
          <a:noFill/>
          <a:ln/>
        </p:spPr>
        <p:txBody>
          <a:bodyPr wrap="square" lIns="0" tIns="0" rIns="0" bIns="0" rtlCol="0" anchor="t"/>
          <a:lstStyle/>
          <a:p>
            <a:pPr algn="l" indent="0" marL="0">
              <a:lnSpc>
                <a:spcPct val="100000"/>
              </a:lnSpc>
              <a:buNone/>
            </a:pPr>
            <a:r>
              <a:rPr lang="en-US" sz="1500" b="1" dirty="0">
                <a:solidFill>
                  <a:srgbClr val="200020"/>
                </a:solidFill>
                <a:latin typeface="Manrope" pitchFamily="34" charset="0"/>
                <a:ea typeface="Manrope" pitchFamily="34" charset="-122"/>
                <a:cs typeface="Manrope" pitchFamily="34" charset="-120"/>
              </a:rPr>
              <a:t>Código estandarizado</a:t>
            </a:r>
            <a:endParaRPr lang="en-US" sz="1500" dirty="0"/>
          </a:p>
        </p:txBody>
      </p:sp>
      <p:sp>
        <p:nvSpPr>
          <p:cNvPr id="18" name="Text 14"/>
          <p:cNvSpPr txBox="1"/>
          <p:nvPr/>
        </p:nvSpPr>
        <p:spPr>
          <a:xfrm>
            <a:off x="3719512" y="3905250"/>
            <a:ext cx="2043113" cy="1524000"/>
          </a:xfrm>
          <a:prstGeom prst="rect">
            <a:avLst/>
          </a:prstGeom>
          <a:noFill/>
          <a:ln/>
        </p:spPr>
        <p:txBody>
          <a:bodyPr wrap="square" lIns="0" tIns="0" rIns="0" bIns="0" rtlCol="0" anchor="t"/>
          <a:lstStyle/>
          <a:p>
            <a:pPr algn="l" indent="0" marL="0">
              <a:lnSpc>
                <a:spcPct val="115000"/>
              </a:lnSpc>
              <a:buNone/>
            </a:pPr>
            <a:r>
              <a:rPr lang="en-US" sz="1200" dirty="0">
                <a:solidFill>
                  <a:srgbClr val="5A4A6A"/>
                </a:solidFill>
                <a:latin typeface="Manrope" pitchFamily="34" charset="0"/>
                <a:ea typeface="Manrope" pitchFamily="34" charset="-122"/>
                <a:cs typeface="Manrope" pitchFamily="34" charset="-120"/>
              </a:rPr>
              <a:t>Replicado 20 veces y funciona. ¿Por qué dejar que la IA lo haga diferente? Le indicamos cómo.</a:t>
            </a:r>
            <a:endParaRPr lang="en-US" sz="1200" dirty="0"/>
          </a:p>
        </p:txBody>
      </p:sp>
      <p:sp>
        <p:nvSpPr>
          <p:cNvPr id="19" name="Shape 15"/>
          <p:cNvSpPr/>
          <p:nvPr/>
        </p:nvSpPr>
        <p:spPr>
          <a:xfrm>
            <a:off x="6181725" y="2038350"/>
            <a:ext cx="2709863" cy="95250"/>
          </a:xfrm>
          <a:prstGeom prst="rect">
            <a:avLst/>
          </a:prstGeom>
          <a:solidFill>
            <a:srgbClr val="E366A7"/>
          </a:solidFill>
          <a:ln/>
        </p:spPr>
      </p:sp>
      <p:sp>
        <p:nvSpPr>
          <p:cNvPr id="20" name="Shape 16"/>
          <p:cNvSpPr/>
          <p:nvPr/>
        </p:nvSpPr>
        <p:spPr>
          <a:xfrm>
            <a:off x="6181725" y="2324100"/>
            <a:ext cx="2538413" cy="3333750"/>
          </a:xfrm>
          <a:prstGeom prst="roundRect">
            <a:avLst>
              <a:gd name="adj" fmla="val 6004"/>
            </a:avLst>
          </a:prstGeom>
          <a:solidFill>
            <a:srgbClr val="FFFFFF"/>
          </a:solidFill>
          <a:ln/>
        </p:spPr>
      </p:sp>
      <p:sp>
        <p:nvSpPr>
          <p:cNvPr id="21" name="Shape 17"/>
          <p:cNvSpPr/>
          <p:nvPr/>
        </p:nvSpPr>
        <p:spPr>
          <a:xfrm>
            <a:off x="6429375" y="2609850"/>
            <a:ext cx="495300" cy="495300"/>
          </a:xfrm>
          <a:prstGeom prst="roundRect">
            <a:avLst>
              <a:gd name="adj" fmla="val 26923"/>
            </a:avLst>
          </a:prstGeom>
          <a:solidFill>
            <a:srgbClr val="E366A7"/>
          </a:solidFill>
          <a:ln/>
        </p:spPr>
      </p:sp>
      <p:pic>
        <p:nvPicPr>
          <p:cNvPr id="22" name="Image 2" descr="preencoded.png">    </p:cNvPr>
          <p:cNvPicPr>
            <a:picLocks noChangeAspect="1"/>
          </p:cNvPicPr>
          <p:nvPr/>
        </p:nvPicPr>
        <p:blipFill>
          <a:blip r:embed="rId3"/>
          <a:stretch>
            <a:fillRect/>
          </a:stretch>
        </p:blipFill>
        <p:spPr>
          <a:xfrm>
            <a:off x="6553200" y="2733675"/>
            <a:ext cx="247650" cy="247650"/>
          </a:xfrm>
          <a:prstGeom prst="rect">
            <a:avLst/>
          </a:prstGeom>
        </p:spPr>
      </p:pic>
      <p:sp>
        <p:nvSpPr>
          <p:cNvPr id="23" name="Text 18"/>
          <p:cNvSpPr txBox="1"/>
          <p:nvPr/>
        </p:nvSpPr>
        <p:spPr>
          <a:xfrm>
            <a:off x="6429375" y="3314700"/>
            <a:ext cx="2043113" cy="533400"/>
          </a:xfrm>
          <a:prstGeom prst="rect">
            <a:avLst/>
          </a:prstGeom>
          <a:noFill/>
          <a:ln/>
        </p:spPr>
        <p:txBody>
          <a:bodyPr wrap="square" lIns="0" tIns="0" rIns="0" bIns="0" rtlCol="0" anchor="t"/>
          <a:lstStyle/>
          <a:p>
            <a:pPr algn="l" indent="0" marL="0">
              <a:lnSpc>
                <a:spcPct val="100000"/>
              </a:lnSpc>
              <a:buNone/>
            </a:pPr>
            <a:r>
              <a:rPr lang="en-US" sz="1500" b="1" dirty="0">
                <a:solidFill>
                  <a:srgbClr val="200020"/>
                </a:solidFill>
                <a:latin typeface="Manrope" pitchFamily="34" charset="0"/>
                <a:ea typeface="Manrope" pitchFamily="34" charset="-122"/>
                <a:cs typeface="Manrope" pitchFamily="34" charset="-120"/>
              </a:rPr>
              <a:t>Contexto es clave</a:t>
            </a:r>
            <a:endParaRPr lang="en-US" sz="1500" dirty="0"/>
          </a:p>
        </p:txBody>
      </p:sp>
      <p:sp>
        <p:nvSpPr>
          <p:cNvPr id="24" name="Text 19"/>
          <p:cNvSpPr txBox="1"/>
          <p:nvPr/>
        </p:nvSpPr>
        <p:spPr>
          <a:xfrm>
            <a:off x="6429375" y="3905250"/>
            <a:ext cx="2043113" cy="1524000"/>
          </a:xfrm>
          <a:prstGeom prst="rect">
            <a:avLst/>
          </a:prstGeom>
          <a:noFill/>
          <a:ln/>
        </p:spPr>
        <p:txBody>
          <a:bodyPr wrap="square" lIns="0" tIns="0" rIns="0" bIns="0" rtlCol="0" anchor="t"/>
          <a:lstStyle/>
          <a:p>
            <a:pPr algn="l" indent="0" marL="0">
              <a:lnSpc>
                <a:spcPct val="115000"/>
              </a:lnSpc>
              <a:buNone/>
            </a:pPr>
            <a:r>
              <a:rPr lang="en-US" sz="1200" dirty="0">
                <a:solidFill>
                  <a:srgbClr val="5A4A6A"/>
                </a:solidFill>
                <a:latin typeface="Manrope" pitchFamily="34" charset="0"/>
                <a:ea typeface="Manrope" pitchFamily="34" charset="-122"/>
                <a:cs typeface="Manrope" pitchFamily="34" charset="-120"/>
              </a:rPr>
              <a:t>Agentes y Skills generan el contexto del proyecto con una estructura preestablecida para migrar.</a:t>
            </a:r>
            <a:endParaRPr lang="en-US" sz="1200" dirty="0"/>
          </a:p>
        </p:txBody>
      </p:sp>
      <p:sp>
        <p:nvSpPr>
          <p:cNvPr id="25" name="Shape 20"/>
          <p:cNvSpPr/>
          <p:nvPr/>
        </p:nvSpPr>
        <p:spPr>
          <a:xfrm>
            <a:off x="8891588" y="2038350"/>
            <a:ext cx="2538413" cy="95250"/>
          </a:xfrm>
          <a:prstGeom prst="rect">
            <a:avLst/>
          </a:prstGeom>
          <a:solidFill>
            <a:srgbClr val="DA0081"/>
          </a:solidFill>
          <a:ln/>
        </p:spPr>
      </p:sp>
      <p:sp>
        <p:nvSpPr>
          <p:cNvPr id="26" name="Shape 21"/>
          <p:cNvSpPr/>
          <p:nvPr/>
        </p:nvSpPr>
        <p:spPr>
          <a:xfrm>
            <a:off x="8891588" y="2324100"/>
            <a:ext cx="2538413" cy="3333750"/>
          </a:xfrm>
          <a:prstGeom prst="roundRect">
            <a:avLst>
              <a:gd name="adj" fmla="val 6004"/>
            </a:avLst>
          </a:prstGeom>
          <a:solidFill>
            <a:srgbClr val="200020"/>
          </a:solidFill>
          <a:ln/>
        </p:spPr>
      </p:sp>
      <p:sp>
        <p:nvSpPr>
          <p:cNvPr id="27" name="Shape 22"/>
          <p:cNvSpPr/>
          <p:nvPr/>
        </p:nvSpPr>
        <p:spPr>
          <a:xfrm>
            <a:off x="9139238" y="2609850"/>
            <a:ext cx="495300" cy="495300"/>
          </a:xfrm>
          <a:prstGeom prst="roundRect">
            <a:avLst>
              <a:gd name="adj" fmla="val 26923"/>
            </a:avLst>
          </a:prstGeom>
          <a:solidFill>
            <a:srgbClr val="DA0081"/>
          </a:solidFill>
          <a:ln/>
        </p:spPr>
      </p:sp>
      <p:pic>
        <p:nvPicPr>
          <p:cNvPr id="28" name="Image 3" descr="preencoded.png">    </p:cNvPr>
          <p:cNvPicPr>
            <a:picLocks noChangeAspect="1"/>
          </p:cNvPicPr>
          <p:nvPr/>
        </p:nvPicPr>
        <p:blipFill>
          <a:blip r:embed="rId4"/>
          <a:stretch>
            <a:fillRect/>
          </a:stretch>
        </p:blipFill>
        <p:spPr>
          <a:xfrm>
            <a:off x="9263063" y="2733675"/>
            <a:ext cx="247650" cy="247650"/>
          </a:xfrm>
          <a:prstGeom prst="rect">
            <a:avLst/>
          </a:prstGeom>
        </p:spPr>
      </p:pic>
      <p:sp>
        <p:nvSpPr>
          <p:cNvPr id="29" name="Text 23"/>
          <p:cNvSpPr txBox="1"/>
          <p:nvPr/>
        </p:nvSpPr>
        <p:spPr>
          <a:xfrm>
            <a:off x="9139238" y="3314700"/>
            <a:ext cx="2043113" cy="533400"/>
          </a:xfrm>
          <a:prstGeom prst="rect">
            <a:avLst/>
          </a:prstGeom>
          <a:noFill/>
          <a:ln/>
        </p:spPr>
        <p:txBody>
          <a:bodyPr wrap="square" lIns="0" tIns="0" rIns="0" bIns="0" rtlCol="0" anchor="t"/>
          <a:lstStyle/>
          <a:p>
            <a:pPr algn="l" indent="0" marL="0">
              <a:lnSpc>
                <a:spcPct val="100000"/>
              </a:lnSpc>
              <a:buNone/>
            </a:pPr>
            <a:r>
              <a:rPr lang="en-US" sz="1500" b="1" dirty="0">
                <a:solidFill>
                  <a:srgbClr val="ECE7F5"/>
                </a:solidFill>
                <a:latin typeface="Manrope" pitchFamily="34" charset="0"/>
                <a:ea typeface="Manrope" pitchFamily="34" charset="-122"/>
                <a:cs typeface="Manrope" pitchFamily="34" charset="-120"/>
              </a:rPr>
              <a:t>Automatizar, no apostar</a:t>
            </a:r>
            <a:endParaRPr lang="en-US" sz="1500" dirty="0"/>
          </a:p>
        </p:txBody>
      </p:sp>
      <p:sp>
        <p:nvSpPr>
          <p:cNvPr id="30" name="Text 24"/>
          <p:cNvSpPr txBox="1"/>
          <p:nvPr/>
        </p:nvSpPr>
        <p:spPr>
          <a:xfrm>
            <a:off x="9139238" y="3905250"/>
            <a:ext cx="2043113" cy="1524000"/>
          </a:xfrm>
          <a:prstGeom prst="rect">
            <a:avLst/>
          </a:prstGeom>
          <a:noFill/>
          <a:ln/>
        </p:spPr>
        <p:txBody>
          <a:bodyPr wrap="square" lIns="0" tIns="0" rIns="0" bIns="0" rtlCol="0" anchor="t"/>
          <a:lstStyle/>
          <a:p>
            <a:pPr algn="l" indent="0" marL="0">
              <a:lnSpc>
                <a:spcPct val="115000"/>
              </a:lnSpc>
              <a:buNone/>
            </a:pPr>
            <a:r>
              <a:rPr lang="en-US" sz="1200" dirty="0">
                <a:solidFill>
                  <a:srgbClr val="C8BDD8"/>
                </a:solidFill>
                <a:latin typeface="Manrope" pitchFamily="34" charset="0"/>
                <a:ea typeface="Manrope" pitchFamily="34" charset="-122"/>
                <a:cs typeface="Manrope" pitchFamily="34" charset="-120"/>
              </a:rPr>
              <a:t>Un proceso repetible, con orden y estándares, en lugar de un resultado al azar.</a:t>
            </a:r>
            <a:endParaRPr lang="en-US" sz="1200" dirty="0"/>
          </a:p>
        </p:txBody>
      </p:sp>
      <p:sp>
        <p:nvSpPr>
          <p:cNvPr id="25" name="Slide Number Placeholder 0"/>
          <p:cNvSpPr>
            <a:spLocks noGrp="1"/>
          </p:cNvSpPr>
          <p:nvPr>
            <p:ph type="sldNum" sz="quarter" idx="4294967295"/>
          </p:nvPr>
        </p:nvSpPr>
        <p:spPr>
          <a:xfrm>
            <a:off x="9525000" y="6477000"/>
            <a:ext cx="47625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5A4A6A"/>
                </a:solidFill>
                <a:latin typeface="Manrope"/>
                <a:ea typeface="Manrope"/>
                <a:cs typeface="Manrope"/>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62000" y="657225"/>
            <a:ext cx="95250" cy="95250"/>
          </a:xfrm>
          <a:prstGeom prst="roundRect">
            <a:avLst>
              <a:gd name="adj" fmla="val 20000"/>
            </a:avLst>
          </a:prstGeom>
          <a:solidFill>
            <a:srgbClr val="DA0081"/>
          </a:solidFill>
          <a:ln/>
        </p:spPr>
      </p:sp>
      <p:sp>
        <p:nvSpPr>
          <p:cNvPr id="3" name="Text 1"/>
          <p:cNvSpPr txBox="1"/>
          <p:nvPr/>
        </p:nvSpPr>
        <p:spPr>
          <a:xfrm>
            <a:off x="952500" y="609600"/>
            <a:ext cx="7620000" cy="190500"/>
          </a:xfrm>
          <a:prstGeom prst="rect">
            <a:avLst/>
          </a:prstGeom>
          <a:noFill/>
          <a:ln/>
        </p:spPr>
        <p:txBody>
          <a:bodyPr wrap="square" lIns="0" tIns="0" rIns="0" bIns="0" rtlCol="0" anchor="ctr"/>
          <a:lstStyle/>
          <a:p>
            <a:pPr algn="l" indent="0" marL="0">
              <a:lnSpc>
                <a:spcPct val="100000"/>
              </a:lnSpc>
              <a:buNone/>
            </a:pPr>
            <a:r>
              <a:rPr lang="en-US" sz="1130" b="1" spc="200" kern="0" dirty="0">
                <a:solidFill>
                  <a:srgbClr val="DA0081"/>
                </a:solidFill>
                <a:latin typeface="Manrope" pitchFamily="34" charset="0"/>
                <a:ea typeface="Manrope" pitchFamily="34" charset="-122"/>
                <a:cs typeface="Manrope" pitchFamily="34" charset="-120"/>
              </a:rPr>
              <a:t>06 · TALLER</a:t>
            </a:r>
            <a:endParaRPr lang="en-US" sz="1130" dirty="0"/>
          </a:p>
        </p:txBody>
      </p:sp>
      <p:sp>
        <p:nvSpPr>
          <p:cNvPr id="4" name="Text 2"/>
          <p:cNvSpPr txBox="1"/>
          <p:nvPr/>
        </p:nvSpPr>
        <p:spPr>
          <a:xfrm>
            <a:off x="762000" y="876300"/>
            <a:ext cx="9525000" cy="1047750"/>
          </a:xfrm>
          <a:prstGeom prst="rect">
            <a:avLst/>
          </a:prstGeom>
          <a:noFill/>
          <a:ln/>
        </p:spPr>
        <p:txBody>
          <a:bodyPr wrap="square" lIns="0" tIns="0" rIns="0" bIns="0" rtlCol="0" anchor="t"/>
          <a:lstStyle/>
          <a:p>
            <a:pPr algn="l" indent="0" marL="0">
              <a:lnSpc>
                <a:spcPct val="95000"/>
              </a:lnSpc>
              <a:buNone/>
            </a:pPr>
            <a:r>
              <a:rPr lang="en-US" sz="3150" b="1" dirty="0">
                <a:solidFill>
                  <a:srgbClr val="200020"/>
                </a:solidFill>
                <a:latin typeface="Manrope" pitchFamily="34" charset="0"/>
                <a:ea typeface="Manrope" pitchFamily="34" charset="-122"/>
                <a:cs typeface="Manrope" pitchFamily="34" charset="-120"/>
              </a:rPr>
              <a:t>Manos a la obra</a:t>
            </a:r>
            <a:endParaRPr lang="en-US" sz="3150" dirty="0"/>
          </a:p>
        </p:txBody>
      </p:sp>
      <p:sp>
        <p:nvSpPr>
          <p:cNvPr id="5" name="Shape 3"/>
          <p:cNvSpPr/>
          <p:nvPr/>
        </p:nvSpPr>
        <p:spPr>
          <a:xfrm>
            <a:off x="762000" y="1905000"/>
            <a:ext cx="2011680" cy="3143250"/>
          </a:xfrm>
          <a:prstGeom prst="roundRect">
            <a:avLst>
              <a:gd name="adj" fmla="val 7576"/>
            </a:avLst>
          </a:prstGeom>
          <a:solidFill>
            <a:srgbClr val="FFFFFF"/>
          </a:solidFill>
          <a:ln/>
        </p:spPr>
      </p:sp>
      <p:sp>
        <p:nvSpPr>
          <p:cNvPr id="6" name="Text 4"/>
          <p:cNvSpPr txBox="1"/>
          <p:nvPr/>
        </p:nvSpPr>
        <p:spPr>
          <a:xfrm>
            <a:off x="1009650" y="2171700"/>
            <a:ext cx="1143000" cy="476250"/>
          </a:xfrm>
          <a:prstGeom prst="rect">
            <a:avLst/>
          </a:prstGeom>
          <a:noFill/>
          <a:ln/>
        </p:spPr>
        <p:txBody>
          <a:bodyPr wrap="square" lIns="0" tIns="0" rIns="0" bIns="0" rtlCol="0" anchor="t"/>
          <a:lstStyle/>
          <a:p>
            <a:pPr algn="l" indent="0" marL="0">
              <a:lnSpc>
                <a:spcPct val="100000"/>
              </a:lnSpc>
              <a:buNone/>
            </a:pPr>
            <a:r>
              <a:rPr lang="en-US" sz="3300" b="1" dirty="0">
                <a:solidFill>
                  <a:srgbClr val="DA0081"/>
                </a:solidFill>
                <a:latin typeface="Manrope" pitchFamily="34" charset="0"/>
                <a:ea typeface="Manrope" pitchFamily="34" charset="-122"/>
                <a:cs typeface="Manrope" pitchFamily="34" charset="-120"/>
              </a:rPr>
              <a:t>01</a:t>
            </a:r>
            <a:endParaRPr lang="en-US" sz="3300" dirty="0"/>
          </a:p>
        </p:txBody>
      </p:sp>
      <p:pic>
        <p:nvPicPr>
          <p:cNvPr id="7" name="Image 0" descr="/home/claude/pptx/kiro.png">    </p:cNvPr>
          <p:cNvPicPr>
            <a:picLocks noChangeAspect="1"/>
          </p:cNvPicPr>
          <p:nvPr/>
        </p:nvPicPr>
        <p:blipFill>
          <a:blip r:embed="rId1"/>
          <a:stretch>
            <a:fillRect/>
          </a:stretch>
        </p:blipFill>
        <p:spPr>
          <a:xfrm>
            <a:off x="1009650" y="2857500"/>
            <a:ext cx="495300" cy="495300"/>
          </a:xfrm>
          <a:prstGeom prst="rect">
            <a:avLst/>
          </a:prstGeom>
        </p:spPr>
      </p:pic>
      <p:sp>
        <p:nvSpPr>
          <p:cNvPr id="8" name="Text 5"/>
          <p:cNvSpPr txBox="1"/>
          <p:nvPr/>
        </p:nvSpPr>
        <p:spPr>
          <a:xfrm>
            <a:off x="1009650" y="3562350"/>
            <a:ext cx="1592580" cy="857250"/>
          </a:xfrm>
          <a:prstGeom prst="rect">
            <a:avLst/>
          </a:prstGeom>
          <a:noFill/>
          <a:ln/>
        </p:spPr>
        <p:txBody>
          <a:bodyPr wrap="square" lIns="0" tIns="0" rIns="0" bIns="0" rtlCol="0" anchor="t"/>
          <a:lstStyle/>
          <a:p>
            <a:pPr algn="l" indent="0" marL="0">
              <a:lnSpc>
                <a:spcPct val="105000"/>
              </a:lnSpc>
              <a:buNone/>
            </a:pPr>
            <a:r>
              <a:rPr lang="en-US" sz="1500" b="1" dirty="0">
                <a:solidFill>
                  <a:srgbClr val="200020"/>
                </a:solidFill>
                <a:latin typeface="Manrope" pitchFamily="34" charset="0"/>
                <a:ea typeface="Manrope" pitchFamily="34" charset="-122"/>
                <a:cs typeface="Manrope" pitchFamily="34" charset="-120"/>
              </a:rPr>
              <a:t>Instalen Kiro</a:t>
            </a:r>
            <a:endParaRPr lang="en-US" sz="1500" dirty="0"/>
          </a:p>
        </p:txBody>
      </p:sp>
      <p:sp>
        <p:nvSpPr>
          <p:cNvPr id="9" name="Shape 6"/>
          <p:cNvSpPr/>
          <p:nvPr/>
        </p:nvSpPr>
        <p:spPr>
          <a:xfrm>
            <a:off x="2926080" y="1905000"/>
            <a:ext cx="2011680" cy="3143250"/>
          </a:xfrm>
          <a:prstGeom prst="roundRect">
            <a:avLst>
              <a:gd name="adj" fmla="val 7576"/>
            </a:avLst>
          </a:prstGeom>
          <a:solidFill>
            <a:srgbClr val="FFFFFF"/>
          </a:solidFill>
          <a:ln/>
        </p:spPr>
      </p:sp>
      <p:sp>
        <p:nvSpPr>
          <p:cNvPr id="10" name="Text 7"/>
          <p:cNvSpPr txBox="1"/>
          <p:nvPr/>
        </p:nvSpPr>
        <p:spPr>
          <a:xfrm>
            <a:off x="3173730" y="2171700"/>
            <a:ext cx="1143000" cy="476250"/>
          </a:xfrm>
          <a:prstGeom prst="rect">
            <a:avLst/>
          </a:prstGeom>
          <a:noFill/>
          <a:ln/>
        </p:spPr>
        <p:txBody>
          <a:bodyPr wrap="square" lIns="0" tIns="0" rIns="0" bIns="0" rtlCol="0" anchor="t"/>
          <a:lstStyle/>
          <a:p>
            <a:pPr algn="l" indent="0" marL="0">
              <a:lnSpc>
                <a:spcPct val="100000"/>
              </a:lnSpc>
              <a:buNone/>
            </a:pPr>
            <a:r>
              <a:rPr lang="en-US" sz="3300" b="1" dirty="0">
                <a:solidFill>
                  <a:srgbClr val="DA0081"/>
                </a:solidFill>
                <a:latin typeface="Manrope" pitchFamily="34" charset="0"/>
                <a:ea typeface="Manrope" pitchFamily="34" charset="-122"/>
                <a:cs typeface="Manrope" pitchFamily="34" charset="-120"/>
              </a:rPr>
              <a:t>02</a:t>
            </a:r>
            <a:endParaRPr lang="en-US" sz="3300" dirty="0"/>
          </a:p>
        </p:txBody>
      </p:sp>
      <p:sp>
        <p:nvSpPr>
          <p:cNvPr id="11" name="Shape 8"/>
          <p:cNvSpPr/>
          <p:nvPr/>
        </p:nvSpPr>
        <p:spPr>
          <a:xfrm>
            <a:off x="3173730" y="2857500"/>
            <a:ext cx="495300" cy="495300"/>
          </a:xfrm>
          <a:prstGeom prst="roundRect">
            <a:avLst>
              <a:gd name="adj" fmla="val 26923"/>
            </a:avLst>
          </a:prstGeom>
          <a:solidFill>
            <a:srgbClr val="F1BFDA"/>
          </a:solidFill>
          <a:ln/>
        </p:spPr>
      </p:sp>
      <p:pic>
        <p:nvPicPr>
          <p:cNvPr id="12" name="Image 1" descr="preencoded.png">    </p:cNvPr>
          <p:cNvPicPr>
            <a:picLocks noChangeAspect="1"/>
          </p:cNvPicPr>
          <p:nvPr/>
        </p:nvPicPr>
        <p:blipFill>
          <a:blip r:embed="rId2"/>
          <a:stretch>
            <a:fillRect/>
          </a:stretch>
        </p:blipFill>
        <p:spPr>
          <a:xfrm>
            <a:off x="3297555" y="2981325"/>
            <a:ext cx="247650" cy="247650"/>
          </a:xfrm>
          <a:prstGeom prst="rect">
            <a:avLst/>
          </a:prstGeom>
        </p:spPr>
      </p:pic>
      <p:sp>
        <p:nvSpPr>
          <p:cNvPr id="13" name="Text 9"/>
          <p:cNvSpPr txBox="1"/>
          <p:nvPr/>
        </p:nvSpPr>
        <p:spPr>
          <a:xfrm>
            <a:off x="3173730" y="3562350"/>
            <a:ext cx="1592580" cy="857250"/>
          </a:xfrm>
          <a:prstGeom prst="rect">
            <a:avLst/>
          </a:prstGeom>
          <a:noFill/>
          <a:ln/>
        </p:spPr>
        <p:txBody>
          <a:bodyPr wrap="square" lIns="0" tIns="0" rIns="0" bIns="0" rtlCol="0" anchor="t"/>
          <a:lstStyle/>
          <a:p>
            <a:pPr algn="l" indent="0" marL="0">
              <a:lnSpc>
                <a:spcPct val="105000"/>
              </a:lnSpc>
              <a:buNone/>
            </a:pPr>
            <a:r>
              <a:rPr lang="en-US" sz="1500" b="1" dirty="0">
                <a:solidFill>
                  <a:srgbClr val="200020"/>
                </a:solidFill>
                <a:latin typeface="Manrope" pitchFamily="34" charset="0"/>
                <a:ea typeface="Manrope" pitchFamily="34" charset="-122"/>
                <a:cs typeface="Manrope" pitchFamily="34" charset="-120"/>
              </a:rPr>
              <a:t>Activen la licencia</a:t>
            </a:r>
            <a:endParaRPr lang="en-US" sz="1500" dirty="0"/>
          </a:p>
        </p:txBody>
      </p:sp>
      <p:sp>
        <p:nvSpPr>
          <p:cNvPr id="14" name="Shape 10"/>
          <p:cNvSpPr/>
          <p:nvPr/>
        </p:nvSpPr>
        <p:spPr>
          <a:xfrm>
            <a:off x="5090160" y="1905000"/>
            <a:ext cx="2011680" cy="3143250"/>
          </a:xfrm>
          <a:prstGeom prst="roundRect">
            <a:avLst>
              <a:gd name="adj" fmla="val 7576"/>
            </a:avLst>
          </a:prstGeom>
          <a:solidFill>
            <a:srgbClr val="FFFFFF"/>
          </a:solidFill>
          <a:ln/>
        </p:spPr>
      </p:sp>
      <p:sp>
        <p:nvSpPr>
          <p:cNvPr id="15" name="Text 11"/>
          <p:cNvSpPr txBox="1"/>
          <p:nvPr/>
        </p:nvSpPr>
        <p:spPr>
          <a:xfrm>
            <a:off x="5337810" y="2171700"/>
            <a:ext cx="1143000" cy="476250"/>
          </a:xfrm>
          <a:prstGeom prst="rect">
            <a:avLst/>
          </a:prstGeom>
          <a:noFill/>
          <a:ln/>
        </p:spPr>
        <p:txBody>
          <a:bodyPr wrap="square" lIns="0" tIns="0" rIns="0" bIns="0" rtlCol="0" anchor="t"/>
          <a:lstStyle/>
          <a:p>
            <a:pPr algn="l" indent="0" marL="0">
              <a:lnSpc>
                <a:spcPct val="100000"/>
              </a:lnSpc>
              <a:buNone/>
            </a:pPr>
            <a:r>
              <a:rPr lang="en-US" sz="3300" b="1" dirty="0">
                <a:solidFill>
                  <a:srgbClr val="DA0081"/>
                </a:solidFill>
                <a:latin typeface="Manrope" pitchFamily="34" charset="0"/>
                <a:ea typeface="Manrope" pitchFamily="34" charset="-122"/>
                <a:cs typeface="Manrope" pitchFamily="34" charset="-120"/>
              </a:rPr>
              <a:t>03</a:t>
            </a:r>
            <a:endParaRPr lang="en-US" sz="3300" dirty="0"/>
          </a:p>
        </p:txBody>
      </p:sp>
      <p:sp>
        <p:nvSpPr>
          <p:cNvPr id="16" name="Shape 12"/>
          <p:cNvSpPr/>
          <p:nvPr/>
        </p:nvSpPr>
        <p:spPr>
          <a:xfrm>
            <a:off x="5337810" y="2857500"/>
            <a:ext cx="495300" cy="495300"/>
          </a:xfrm>
          <a:prstGeom prst="roundRect">
            <a:avLst>
              <a:gd name="adj" fmla="val 26923"/>
            </a:avLst>
          </a:prstGeom>
          <a:solidFill>
            <a:srgbClr val="F1BFDA"/>
          </a:solidFill>
          <a:ln/>
        </p:spPr>
      </p:sp>
      <p:pic>
        <p:nvPicPr>
          <p:cNvPr id="17" name="Image 2" descr="preencoded.png">    </p:cNvPr>
          <p:cNvPicPr>
            <a:picLocks noChangeAspect="1"/>
          </p:cNvPicPr>
          <p:nvPr/>
        </p:nvPicPr>
        <p:blipFill>
          <a:blip r:embed="rId3"/>
          <a:stretch>
            <a:fillRect/>
          </a:stretch>
        </p:blipFill>
        <p:spPr>
          <a:xfrm>
            <a:off x="5461635" y="2981325"/>
            <a:ext cx="247650" cy="247650"/>
          </a:xfrm>
          <a:prstGeom prst="rect">
            <a:avLst/>
          </a:prstGeom>
        </p:spPr>
      </p:pic>
      <p:sp>
        <p:nvSpPr>
          <p:cNvPr id="18" name="Text 13"/>
          <p:cNvSpPr txBox="1"/>
          <p:nvPr/>
        </p:nvSpPr>
        <p:spPr>
          <a:xfrm>
            <a:off x="5337810" y="3562350"/>
            <a:ext cx="1592580" cy="857250"/>
          </a:xfrm>
          <a:prstGeom prst="rect">
            <a:avLst/>
          </a:prstGeom>
          <a:noFill/>
          <a:ln/>
        </p:spPr>
        <p:txBody>
          <a:bodyPr wrap="square" lIns="0" tIns="0" rIns="0" bIns="0" rtlCol="0" anchor="t"/>
          <a:lstStyle/>
          <a:p>
            <a:pPr algn="l" indent="0" marL="0">
              <a:lnSpc>
                <a:spcPct val="105000"/>
              </a:lnSpc>
              <a:buNone/>
            </a:pPr>
            <a:r>
              <a:rPr lang="en-US" sz="1500" b="1" dirty="0">
                <a:solidFill>
                  <a:srgbClr val="200020"/>
                </a:solidFill>
                <a:latin typeface="Manrope" pitchFamily="34" charset="0"/>
                <a:ea typeface="Manrope" pitchFamily="34" charset="-122"/>
                <a:cs typeface="Manrope" pitchFamily="34" charset="-120"/>
              </a:rPr>
              <a:t>Descarguen el repositorio</a:t>
            </a:r>
            <a:endParaRPr lang="en-US" sz="1500" dirty="0"/>
          </a:p>
        </p:txBody>
      </p:sp>
      <p:sp>
        <p:nvSpPr>
          <p:cNvPr id="19" name="Shape 14"/>
          <p:cNvSpPr/>
          <p:nvPr/>
        </p:nvSpPr>
        <p:spPr>
          <a:xfrm>
            <a:off x="7254240" y="1905000"/>
            <a:ext cx="2011680" cy="3143250"/>
          </a:xfrm>
          <a:prstGeom prst="roundRect">
            <a:avLst>
              <a:gd name="adj" fmla="val 7576"/>
            </a:avLst>
          </a:prstGeom>
          <a:solidFill>
            <a:srgbClr val="FFFFFF"/>
          </a:solidFill>
          <a:ln/>
        </p:spPr>
      </p:sp>
      <p:sp>
        <p:nvSpPr>
          <p:cNvPr id="20" name="Text 15"/>
          <p:cNvSpPr txBox="1"/>
          <p:nvPr/>
        </p:nvSpPr>
        <p:spPr>
          <a:xfrm>
            <a:off x="7501890" y="2171700"/>
            <a:ext cx="1143000" cy="476250"/>
          </a:xfrm>
          <a:prstGeom prst="rect">
            <a:avLst/>
          </a:prstGeom>
          <a:noFill/>
          <a:ln/>
        </p:spPr>
        <p:txBody>
          <a:bodyPr wrap="square" lIns="0" tIns="0" rIns="0" bIns="0" rtlCol="0" anchor="t"/>
          <a:lstStyle/>
          <a:p>
            <a:pPr algn="l" indent="0" marL="0">
              <a:lnSpc>
                <a:spcPct val="100000"/>
              </a:lnSpc>
              <a:buNone/>
            </a:pPr>
            <a:r>
              <a:rPr lang="en-US" sz="3300" b="1" dirty="0">
                <a:solidFill>
                  <a:srgbClr val="DA0081"/>
                </a:solidFill>
                <a:latin typeface="Manrope" pitchFamily="34" charset="0"/>
                <a:ea typeface="Manrope" pitchFamily="34" charset="-122"/>
                <a:cs typeface="Manrope" pitchFamily="34" charset="-120"/>
              </a:rPr>
              <a:t>04</a:t>
            </a:r>
            <a:endParaRPr lang="en-US" sz="3300" dirty="0"/>
          </a:p>
        </p:txBody>
      </p:sp>
      <p:sp>
        <p:nvSpPr>
          <p:cNvPr id="21" name="Shape 16"/>
          <p:cNvSpPr/>
          <p:nvPr/>
        </p:nvSpPr>
        <p:spPr>
          <a:xfrm>
            <a:off x="7501890" y="2857500"/>
            <a:ext cx="495300" cy="495300"/>
          </a:xfrm>
          <a:prstGeom prst="roundRect">
            <a:avLst>
              <a:gd name="adj" fmla="val 26923"/>
            </a:avLst>
          </a:prstGeom>
          <a:solidFill>
            <a:srgbClr val="F1BFDA"/>
          </a:solidFill>
          <a:ln/>
        </p:spPr>
      </p:sp>
      <p:pic>
        <p:nvPicPr>
          <p:cNvPr id="22" name="Image 3" descr="preencoded.png">    </p:cNvPr>
          <p:cNvPicPr>
            <a:picLocks noChangeAspect="1"/>
          </p:cNvPicPr>
          <p:nvPr/>
        </p:nvPicPr>
        <p:blipFill>
          <a:blip r:embed="rId4"/>
          <a:stretch>
            <a:fillRect/>
          </a:stretch>
        </p:blipFill>
        <p:spPr>
          <a:xfrm>
            <a:off x="7625715" y="2981325"/>
            <a:ext cx="247650" cy="247650"/>
          </a:xfrm>
          <a:prstGeom prst="rect">
            <a:avLst/>
          </a:prstGeom>
        </p:spPr>
      </p:pic>
      <p:sp>
        <p:nvSpPr>
          <p:cNvPr id="23" name="Text 17"/>
          <p:cNvSpPr txBox="1"/>
          <p:nvPr/>
        </p:nvSpPr>
        <p:spPr>
          <a:xfrm>
            <a:off x="7501890" y="3562350"/>
            <a:ext cx="1592580" cy="857250"/>
          </a:xfrm>
          <a:prstGeom prst="rect">
            <a:avLst/>
          </a:prstGeom>
          <a:noFill/>
          <a:ln/>
        </p:spPr>
        <p:txBody>
          <a:bodyPr wrap="square" lIns="0" tIns="0" rIns="0" bIns="0" rtlCol="0" anchor="t"/>
          <a:lstStyle/>
          <a:p>
            <a:pPr algn="l" indent="0" marL="0">
              <a:lnSpc>
                <a:spcPct val="105000"/>
              </a:lnSpc>
              <a:buNone/>
            </a:pPr>
            <a:r>
              <a:rPr lang="en-US" sz="1500" b="1" dirty="0">
                <a:solidFill>
                  <a:srgbClr val="200020"/>
                </a:solidFill>
                <a:latin typeface="Manrope" pitchFamily="34" charset="0"/>
                <a:ea typeface="Manrope" pitchFamily="34" charset="-122"/>
                <a:cs typeface="Manrope" pitchFamily="34" charset="-120"/>
              </a:rPr>
              <a:t>Ejecuten los pasos</a:t>
            </a:r>
            <a:endParaRPr lang="en-US" sz="1500" dirty="0"/>
          </a:p>
        </p:txBody>
      </p:sp>
      <p:sp>
        <p:nvSpPr>
          <p:cNvPr id="24" name="Shape 18"/>
          <p:cNvSpPr/>
          <p:nvPr/>
        </p:nvSpPr>
        <p:spPr>
          <a:xfrm>
            <a:off x="9418320" y="1905000"/>
            <a:ext cx="2011680" cy="3143250"/>
          </a:xfrm>
          <a:prstGeom prst="roundRect">
            <a:avLst>
              <a:gd name="adj" fmla="val 7576"/>
            </a:avLst>
          </a:prstGeom>
          <a:solidFill>
            <a:srgbClr val="DA0081"/>
          </a:solidFill>
          <a:ln/>
        </p:spPr>
      </p:sp>
      <p:sp>
        <p:nvSpPr>
          <p:cNvPr id="25" name="Text 19"/>
          <p:cNvSpPr txBox="1"/>
          <p:nvPr/>
        </p:nvSpPr>
        <p:spPr>
          <a:xfrm>
            <a:off x="9665970" y="2171700"/>
            <a:ext cx="1143000" cy="476250"/>
          </a:xfrm>
          <a:prstGeom prst="rect">
            <a:avLst/>
          </a:prstGeom>
          <a:noFill/>
          <a:ln/>
        </p:spPr>
        <p:txBody>
          <a:bodyPr wrap="square" lIns="0" tIns="0" rIns="0" bIns="0" rtlCol="0" anchor="t"/>
          <a:lstStyle/>
          <a:p>
            <a:pPr algn="l" indent="0" marL="0">
              <a:lnSpc>
                <a:spcPct val="100000"/>
              </a:lnSpc>
              <a:buNone/>
            </a:pPr>
            <a:r>
              <a:rPr lang="en-US" sz="3300" b="1" dirty="0">
                <a:solidFill>
                  <a:srgbClr val="FFFFFF"/>
                </a:solidFill>
                <a:latin typeface="Manrope" pitchFamily="34" charset="0"/>
                <a:ea typeface="Manrope" pitchFamily="34" charset="-122"/>
                <a:cs typeface="Manrope" pitchFamily="34" charset="-120"/>
              </a:rPr>
              <a:t>05</a:t>
            </a:r>
            <a:endParaRPr lang="en-US" sz="3300" dirty="0"/>
          </a:p>
        </p:txBody>
      </p:sp>
      <p:sp>
        <p:nvSpPr>
          <p:cNvPr id="26" name="Shape 20"/>
          <p:cNvSpPr/>
          <p:nvPr/>
        </p:nvSpPr>
        <p:spPr>
          <a:xfrm>
            <a:off x="9665970" y="2857500"/>
            <a:ext cx="495300" cy="495300"/>
          </a:xfrm>
          <a:prstGeom prst="roundRect">
            <a:avLst>
              <a:gd name="adj" fmla="val 26923"/>
            </a:avLst>
          </a:prstGeom>
          <a:solidFill>
            <a:srgbClr val="200020"/>
          </a:solidFill>
          <a:ln/>
        </p:spPr>
      </p:sp>
      <p:pic>
        <p:nvPicPr>
          <p:cNvPr id="27" name="Image 4" descr="preencoded.png">    </p:cNvPr>
          <p:cNvPicPr>
            <a:picLocks noChangeAspect="1"/>
          </p:cNvPicPr>
          <p:nvPr/>
        </p:nvPicPr>
        <p:blipFill>
          <a:blip r:embed="rId5"/>
          <a:stretch>
            <a:fillRect/>
          </a:stretch>
        </p:blipFill>
        <p:spPr>
          <a:xfrm>
            <a:off x="9789795" y="2981325"/>
            <a:ext cx="247650" cy="247650"/>
          </a:xfrm>
          <a:prstGeom prst="rect">
            <a:avLst/>
          </a:prstGeom>
        </p:spPr>
      </p:pic>
      <p:sp>
        <p:nvSpPr>
          <p:cNvPr id="28" name="Text 21"/>
          <p:cNvSpPr txBox="1"/>
          <p:nvPr/>
        </p:nvSpPr>
        <p:spPr>
          <a:xfrm>
            <a:off x="9665970" y="3562350"/>
            <a:ext cx="1592580" cy="857250"/>
          </a:xfrm>
          <a:prstGeom prst="rect">
            <a:avLst/>
          </a:prstGeom>
          <a:noFill/>
          <a:ln/>
        </p:spPr>
        <p:txBody>
          <a:bodyPr wrap="square" lIns="0" tIns="0" rIns="0" bIns="0" rtlCol="0" anchor="t"/>
          <a:lstStyle/>
          <a:p>
            <a:pPr algn="l" indent="0" marL="0">
              <a:lnSpc>
                <a:spcPct val="105000"/>
              </a:lnSpc>
              <a:buNone/>
            </a:pPr>
            <a:r>
              <a:rPr lang="en-US" sz="1500" b="1" dirty="0">
                <a:solidFill>
                  <a:srgbClr val="FFFFFF"/>
                </a:solidFill>
                <a:latin typeface="Manrope" pitchFamily="34" charset="0"/>
                <a:ea typeface="Manrope" pitchFamily="34" charset="-122"/>
                <a:cs typeface="Manrope" pitchFamily="34" charset="-120"/>
              </a:rPr>
              <a:t>Evidencien el resultado en su IDE</a:t>
            </a:r>
            <a:endParaRPr lang="en-US" sz="1500" dirty="0"/>
          </a:p>
        </p:txBody>
      </p:sp>
      <p:sp>
        <p:nvSpPr>
          <p:cNvPr id="29" name="Shape 22"/>
          <p:cNvSpPr/>
          <p:nvPr/>
        </p:nvSpPr>
        <p:spPr>
          <a:xfrm>
            <a:off x="762000" y="5562600"/>
            <a:ext cx="7620000" cy="95"/>
          </a:xfrm>
          <a:prstGeom prst="line">
            <a:avLst/>
          </a:prstGeom>
          <a:noFill/>
          <a:ln w="38100">
            <a:solidFill>
              <a:srgbClr val="E992BE"/>
            </a:solidFill>
            <a:prstDash val="solid"/>
          </a:ln>
        </p:spPr>
      </p:sp>
      <p:sp>
        <p:nvSpPr>
          <p:cNvPr id="30" name="Shape 23"/>
          <p:cNvSpPr/>
          <p:nvPr/>
        </p:nvSpPr>
        <p:spPr>
          <a:xfrm>
            <a:off x="8572500" y="5429250"/>
            <a:ext cx="2857500" cy="285750"/>
          </a:xfrm>
          <a:prstGeom prst="roundRect">
            <a:avLst>
              <a:gd name="adj" fmla="val 23333"/>
            </a:avLst>
          </a:prstGeom>
          <a:solidFill>
            <a:srgbClr val="200020"/>
          </a:solidFill>
          <a:ln/>
        </p:spPr>
      </p:sp>
      <p:sp>
        <p:nvSpPr>
          <p:cNvPr id="31" name="Text 24"/>
          <p:cNvSpPr txBox="1"/>
          <p:nvPr/>
        </p:nvSpPr>
        <p:spPr>
          <a:xfrm>
            <a:off x="8572500" y="5429250"/>
            <a:ext cx="2857500" cy="285750"/>
          </a:xfrm>
          <a:prstGeom prst="rect">
            <a:avLst/>
          </a:prstGeom>
          <a:noFill/>
          <a:ln/>
        </p:spPr>
        <p:txBody>
          <a:bodyPr wrap="square" lIns="0" tIns="0" rIns="0" bIns="0" rtlCol="0" anchor="ctr"/>
          <a:lstStyle/>
          <a:p>
            <a:pPr algn="ctr" indent="0" marL="0">
              <a:lnSpc>
                <a:spcPct val="100000"/>
              </a:lnSpc>
              <a:buNone/>
            </a:pPr>
            <a:r>
              <a:rPr lang="en-US" sz="980" b="1" dirty="0">
                <a:solidFill>
                  <a:srgbClr val="ECE7F5"/>
                </a:solidFill>
                <a:latin typeface="Manrope" pitchFamily="34" charset="0"/>
                <a:ea typeface="Manrope" pitchFamily="34" charset="-122"/>
                <a:cs typeface="Manrope" pitchFamily="34" charset="-120"/>
              </a:rPr>
              <a:t>Resultado: servicio migrado en tu IDE</a:t>
            </a:r>
            <a:endParaRPr lang="en-US" sz="980" dirty="0"/>
          </a:p>
        </p:txBody>
      </p:sp>
      <p:sp>
        <p:nvSpPr>
          <p:cNvPr id="25" name="Slide Number Placeholder 0"/>
          <p:cNvSpPr>
            <a:spLocks noGrp="1"/>
          </p:cNvSpPr>
          <p:nvPr>
            <p:ph type="sldNum" sz="quarter" idx="4294967295"/>
          </p:nvPr>
        </p:nvSpPr>
        <p:spPr>
          <a:xfrm>
            <a:off x="9525000" y="6477000"/>
            <a:ext cx="47625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5A4A6A"/>
                </a:solidFill>
                <a:latin typeface="Manrope"/>
                <a:ea typeface="Manrope"/>
                <a:cs typeface="Manrope"/>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762000" y="657225"/>
            <a:ext cx="95250" cy="95250"/>
          </a:xfrm>
          <a:prstGeom prst="roundRect">
            <a:avLst>
              <a:gd name="adj" fmla="val 20000"/>
            </a:avLst>
          </a:prstGeom>
          <a:solidFill>
            <a:srgbClr val="DA0081"/>
          </a:solidFill>
          <a:ln/>
        </p:spPr>
      </p:sp>
      <p:sp>
        <p:nvSpPr>
          <p:cNvPr id="3" name="Text 1"/>
          <p:cNvSpPr txBox="1"/>
          <p:nvPr/>
        </p:nvSpPr>
        <p:spPr>
          <a:xfrm>
            <a:off x="952500" y="609600"/>
            <a:ext cx="7620000" cy="190500"/>
          </a:xfrm>
          <a:prstGeom prst="rect">
            <a:avLst/>
          </a:prstGeom>
          <a:noFill/>
          <a:ln/>
        </p:spPr>
        <p:txBody>
          <a:bodyPr wrap="square" lIns="0" tIns="0" rIns="0" bIns="0" rtlCol="0" anchor="ctr"/>
          <a:lstStyle/>
          <a:p>
            <a:pPr algn="l" indent="0" marL="0">
              <a:lnSpc>
                <a:spcPct val="100000"/>
              </a:lnSpc>
              <a:buNone/>
            </a:pPr>
            <a:r>
              <a:rPr lang="en-US" sz="1130" b="1" spc="200" kern="0" dirty="0">
                <a:solidFill>
                  <a:srgbClr val="DA0081"/>
                </a:solidFill>
                <a:latin typeface="Manrope" pitchFamily="34" charset="0"/>
                <a:ea typeface="Manrope" pitchFamily="34" charset="-122"/>
                <a:cs typeface="Manrope" pitchFamily="34" charset="-120"/>
              </a:rPr>
              <a:t>07 · TRABAJO FUTURO</a:t>
            </a:r>
            <a:endParaRPr lang="en-US" sz="1130" dirty="0"/>
          </a:p>
        </p:txBody>
      </p:sp>
      <p:sp>
        <p:nvSpPr>
          <p:cNvPr id="4" name="Text 2"/>
          <p:cNvSpPr txBox="1"/>
          <p:nvPr/>
        </p:nvSpPr>
        <p:spPr>
          <a:xfrm>
            <a:off x="762000" y="876300"/>
            <a:ext cx="9525000" cy="1047750"/>
          </a:xfrm>
          <a:prstGeom prst="rect">
            <a:avLst/>
          </a:prstGeom>
          <a:noFill/>
          <a:ln/>
        </p:spPr>
        <p:txBody>
          <a:bodyPr wrap="square" lIns="0" tIns="0" rIns="0" bIns="0" rtlCol="0" anchor="t"/>
          <a:lstStyle/>
          <a:p>
            <a:pPr algn="l" indent="0" marL="0">
              <a:lnSpc>
                <a:spcPct val="95000"/>
              </a:lnSpc>
              <a:buNone/>
            </a:pPr>
            <a:r>
              <a:rPr lang="en-US" sz="3150" b="1" dirty="0">
                <a:solidFill>
                  <a:srgbClr val="200020"/>
                </a:solidFill>
                <a:latin typeface="Manrope" pitchFamily="34" charset="0"/>
                <a:ea typeface="Manrope" pitchFamily="34" charset="-122"/>
                <a:cs typeface="Manrope" pitchFamily="34" charset="-120"/>
              </a:rPr>
              <a:t>De la máquina del developer </a:t>
            </a:r>
            <a:pPr algn="l" indent="0" marL="0">
              <a:lnSpc>
                <a:spcPct val="95000"/>
              </a:lnSpc>
              <a:buNone/>
            </a:pPr>
            <a:r>
              <a:rPr lang="en-US" sz="3150" b="1" dirty="0">
                <a:solidFill>
                  <a:srgbClr val="DA0081"/>
                </a:solidFill>
                <a:latin typeface="Manrope" pitchFamily="34" charset="0"/>
                <a:ea typeface="Manrope" pitchFamily="34" charset="-122"/>
                <a:cs typeface="Manrope" pitchFamily="34" charset="-120"/>
              </a:rPr>
              <a:t>a la organización</a:t>
            </a:r>
            <a:endParaRPr lang="en-US" sz="3150" dirty="0"/>
          </a:p>
        </p:txBody>
      </p:sp>
      <p:sp>
        <p:nvSpPr>
          <p:cNvPr id="5" name="Shape 3"/>
          <p:cNvSpPr/>
          <p:nvPr/>
        </p:nvSpPr>
        <p:spPr>
          <a:xfrm>
            <a:off x="762000" y="1866900"/>
            <a:ext cx="3403600" cy="3905250"/>
          </a:xfrm>
          <a:prstGeom prst="roundRect">
            <a:avLst>
              <a:gd name="adj" fmla="val 4478"/>
            </a:avLst>
          </a:prstGeom>
          <a:solidFill>
            <a:srgbClr val="FFFFFF"/>
          </a:solidFill>
          <a:ln/>
        </p:spPr>
      </p:sp>
      <p:sp>
        <p:nvSpPr>
          <p:cNvPr id="6" name="Shape 4"/>
          <p:cNvSpPr/>
          <p:nvPr/>
        </p:nvSpPr>
        <p:spPr>
          <a:xfrm>
            <a:off x="1028700" y="2152650"/>
            <a:ext cx="495300" cy="495300"/>
          </a:xfrm>
          <a:prstGeom prst="roundRect">
            <a:avLst>
              <a:gd name="adj" fmla="val 26923"/>
            </a:avLst>
          </a:prstGeom>
          <a:solidFill>
            <a:srgbClr val="DA0081"/>
          </a:solidFill>
          <a:ln/>
        </p:spPr>
      </p:sp>
      <p:pic>
        <p:nvPicPr>
          <p:cNvPr id="7" name="Image 0" descr="preencoded.png">    </p:cNvPr>
          <p:cNvPicPr>
            <a:picLocks noChangeAspect="1"/>
          </p:cNvPicPr>
          <p:nvPr/>
        </p:nvPicPr>
        <p:blipFill>
          <a:blip r:embed="rId1"/>
          <a:stretch>
            <a:fillRect/>
          </a:stretch>
        </p:blipFill>
        <p:spPr>
          <a:xfrm>
            <a:off x="1152525" y="2276475"/>
            <a:ext cx="247650" cy="247650"/>
          </a:xfrm>
          <a:prstGeom prst="rect">
            <a:avLst/>
          </a:prstGeom>
        </p:spPr>
      </p:pic>
      <p:sp>
        <p:nvSpPr>
          <p:cNvPr id="8" name="Text 5"/>
          <p:cNvSpPr txBox="1"/>
          <p:nvPr/>
        </p:nvSpPr>
        <p:spPr>
          <a:xfrm>
            <a:off x="3441700" y="2152650"/>
            <a:ext cx="457200" cy="495300"/>
          </a:xfrm>
          <a:prstGeom prst="rect">
            <a:avLst/>
          </a:prstGeom>
          <a:noFill/>
          <a:ln/>
        </p:spPr>
        <p:txBody>
          <a:bodyPr wrap="square" lIns="0" tIns="0" rIns="0" bIns="0" rtlCol="0" anchor="ctr"/>
          <a:lstStyle/>
          <a:p>
            <a:pPr algn="r" indent="0" marL="0">
              <a:lnSpc>
                <a:spcPct val="100000"/>
              </a:lnSpc>
              <a:buNone/>
            </a:pPr>
            <a:r>
              <a:rPr lang="en-US" sz="1650" b="1" dirty="0">
                <a:solidFill>
                  <a:srgbClr val="DA0081"/>
                </a:solidFill>
                <a:latin typeface="Manrope" pitchFamily="34" charset="0"/>
                <a:ea typeface="Manrope" pitchFamily="34" charset="-122"/>
                <a:cs typeface="Manrope" pitchFamily="34" charset="-120"/>
              </a:rPr>
              <a:t>01</a:t>
            </a:r>
            <a:endParaRPr lang="en-US" sz="1650" dirty="0"/>
          </a:p>
        </p:txBody>
      </p:sp>
      <p:sp>
        <p:nvSpPr>
          <p:cNvPr id="9" name="Text 6"/>
          <p:cNvSpPr txBox="1"/>
          <p:nvPr/>
        </p:nvSpPr>
        <p:spPr>
          <a:xfrm>
            <a:off x="1028700" y="2800350"/>
            <a:ext cx="2870200" cy="571500"/>
          </a:xfrm>
          <a:prstGeom prst="rect">
            <a:avLst/>
          </a:prstGeom>
          <a:noFill/>
          <a:ln/>
        </p:spPr>
        <p:txBody>
          <a:bodyPr wrap="square" lIns="0" tIns="0" rIns="0" bIns="0" rtlCol="0" anchor="t"/>
          <a:lstStyle/>
          <a:p>
            <a:pPr algn="l" indent="0" marL="0">
              <a:lnSpc>
                <a:spcPct val="100000"/>
              </a:lnSpc>
              <a:buNone/>
            </a:pPr>
            <a:r>
              <a:rPr lang="en-US" sz="1500" b="1" dirty="0">
                <a:solidFill>
                  <a:srgbClr val="200020"/>
                </a:solidFill>
                <a:latin typeface="Manrope" pitchFamily="34" charset="0"/>
                <a:ea typeface="Manrope" pitchFamily="34" charset="-122"/>
                <a:cs typeface="Manrope" pitchFamily="34" charset="-120"/>
              </a:rPr>
              <a:t>¿Cómo centralizar el agente?</a:t>
            </a:r>
            <a:endParaRPr lang="en-US" sz="1500" dirty="0"/>
          </a:p>
        </p:txBody>
      </p:sp>
      <p:sp>
        <p:nvSpPr>
          <p:cNvPr id="10" name="Shape 7"/>
          <p:cNvSpPr/>
          <p:nvPr/>
        </p:nvSpPr>
        <p:spPr>
          <a:xfrm>
            <a:off x="1028700" y="3524250"/>
            <a:ext cx="952500" cy="400050"/>
          </a:xfrm>
          <a:prstGeom prst="roundRect">
            <a:avLst>
              <a:gd name="adj" fmla="val 23810"/>
            </a:avLst>
          </a:prstGeom>
          <a:solidFill>
            <a:srgbClr val="ECE7F5"/>
          </a:solidFill>
          <a:ln/>
        </p:spPr>
      </p:sp>
      <p:sp>
        <p:nvSpPr>
          <p:cNvPr id="11" name="Text 8"/>
          <p:cNvSpPr txBox="1"/>
          <p:nvPr/>
        </p:nvSpPr>
        <p:spPr>
          <a:xfrm>
            <a:off x="1028700" y="3524250"/>
            <a:ext cx="952500" cy="400050"/>
          </a:xfrm>
          <a:prstGeom prst="rect">
            <a:avLst/>
          </a:prstGeom>
          <a:noFill/>
          <a:ln/>
        </p:spPr>
        <p:txBody>
          <a:bodyPr wrap="square" lIns="0" tIns="0" rIns="0" bIns="0" rtlCol="0" anchor="ctr"/>
          <a:lstStyle/>
          <a:p>
            <a:pPr algn="ctr" indent="0" marL="0">
              <a:lnSpc>
                <a:spcPct val="100000"/>
              </a:lnSpc>
              <a:buNone/>
            </a:pPr>
            <a:r>
              <a:rPr lang="en-US" sz="1050" b="1" dirty="0">
                <a:solidFill>
                  <a:srgbClr val="200020"/>
                </a:solidFill>
                <a:latin typeface="Manrope" pitchFamily="34" charset="0"/>
                <a:ea typeface="Manrope" pitchFamily="34" charset="-122"/>
                <a:cs typeface="Manrope" pitchFamily="34" charset="-120"/>
              </a:rPr>
              <a:t>Equipo A</a:t>
            </a:r>
            <a:endParaRPr lang="en-US" sz="1050" dirty="0"/>
          </a:p>
        </p:txBody>
      </p:sp>
      <p:sp>
        <p:nvSpPr>
          <p:cNvPr id="12" name="Shape 9"/>
          <p:cNvSpPr/>
          <p:nvPr/>
        </p:nvSpPr>
        <p:spPr>
          <a:xfrm>
            <a:off x="1981200" y="3724275"/>
            <a:ext cx="514350" cy="590550"/>
          </a:xfrm>
          <a:prstGeom prst="line">
            <a:avLst/>
          </a:prstGeom>
          <a:noFill/>
          <a:ln w="31750">
            <a:solidFill>
              <a:srgbClr val="DA0081"/>
            </a:solidFill>
            <a:prstDash val="solid"/>
            <a:tailEnd type="triangle"/>
          </a:ln>
        </p:spPr>
      </p:sp>
      <p:sp>
        <p:nvSpPr>
          <p:cNvPr id="13" name="Shape 10"/>
          <p:cNvSpPr/>
          <p:nvPr/>
        </p:nvSpPr>
        <p:spPr>
          <a:xfrm>
            <a:off x="1028700" y="4114800"/>
            <a:ext cx="952500" cy="400050"/>
          </a:xfrm>
          <a:prstGeom prst="roundRect">
            <a:avLst>
              <a:gd name="adj" fmla="val 23810"/>
            </a:avLst>
          </a:prstGeom>
          <a:solidFill>
            <a:srgbClr val="ECE7F5"/>
          </a:solidFill>
          <a:ln/>
        </p:spPr>
      </p:sp>
      <p:sp>
        <p:nvSpPr>
          <p:cNvPr id="14" name="Text 11"/>
          <p:cNvSpPr txBox="1"/>
          <p:nvPr/>
        </p:nvSpPr>
        <p:spPr>
          <a:xfrm>
            <a:off x="1028700" y="4114800"/>
            <a:ext cx="952500" cy="400050"/>
          </a:xfrm>
          <a:prstGeom prst="rect">
            <a:avLst/>
          </a:prstGeom>
          <a:noFill/>
          <a:ln/>
        </p:spPr>
        <p:txBody>
          <a:bodyPr wrap="square" lIns="0" tIns="0" rIns="0" bIns="0" rtlCol="0" anchor="ctr"/>
          <a:lstStyle/>
          <a:p>
            <a:pPr algn="ctr" indent="0" marL="0">
              <a:lnSpc>
                <a:spcPct val="100000"/>
              </a:lnSpc>
              <a:buNone/>
            </a:pPr>
            <a:r>
              <a:rPr lang="en-US" sz="1050" b="1" dirty="0">
                <a:solidFill>
                  <a:srgbClr val="200020"/>
                </a:solidFill>
                <a:latin typeface="Manrope" pitchFamily="34" charset="0"/>
                <a:ea typeface="Manrope" pitchFamily="34" charset="-122"/>
                <a:cs typeface="Manrope" pitchFamily="34" charset="-120"/>
              </a:rPr>
              <a:t>Equipo B</a:t>
            </a:r>
            <a:endParaRPr lang="en-US" sz="1050" dirty="0"/>
          </a:p>
        </p:txBody>
      </p:sp>
      <p:sp>
        <p:nvSpPr>
          <p:cNvPr id="15" name="Shape 12"/>
          <p:cNvSpPr/>
          <p:nvPr/>
        </p:nvSpPr>
        <p:spPr>
          <a:xfrm>
            <a:off x="1981200" y="4314825"/>
            <a:ext cx="514350" cy="95"/>
          </a:xfrm>
          <a:prstGeom prst="line">
            <a:avLst/>
          </a:prstGeom>
          <a:noFill/>
          <a:ln w="31750">
            <a:solidFill>
              <a:srgbClr val="DA0081"/>
            </a:solidFill>
            <a:prstDash val="solid"/>
            <a:tailEnd type="triangle"/>
          </a:ln>
        </p:spPr>
      </p:sp>
      <p:sp>
        <p:nvSpPr>
          <p:cNvPr id="16" name="Shape 13"/>
          <p:cNvSpPr/>
          <p:nvPr/>
        </p:nvSpPr>
        <p:spPr>
          <a:xfrm>
            <a:off x="1028700" y="4705350"/>
            <a:ext cx="952500" cy="400050"/>
          </a:xfrm>
          <a:prstGeom prst="roundRect">
            <a:avLst>
              <a:gd name="adj" fmla="val 23810"/>
            </a:avLst>
          </a:prstGeom>
          <a:solidFill>
            <a:srgbClr val="ECE7F5"/>
          </a:solidFill>
          <a:ln/>
        </p:spPr>
      </p:sp>
      <p:sp>
        <p:nvSpPr>
          <p:cNvPr id="17" name="Text 14"/>
          <p:cNvSpPr txBox="1"/>
          <p:nvPr/>
        </p:nvSpPr>
        <p:spPr>
          <a:xfrm>
            <a:off x="1028700" y="4705350"/>
            <a:ext cx="952500" cy="400050"/>
          </a:xfrm>
          <a:prstGeom prst="rect">
            <a:avLst/>
          </a:prstGeom>
          <a:noFill/>
          <a:ln/>
        </p:spPr>
        <p:txBody>
          <a:bodyPr wrap="square" lIns="0" tIns="0" rIns="0" bIns="0" rtlCol="0" anchor="ctr"/>
          <a:lstStyle/>
          <a:p>
            <a:pPr algn="ctr" indent="0" marL="0">
              <a:lnSpc>
                <a:spcPct val="100000"/>
              </a:lnSpc>
              <a:buNone/>
            </a:pPr>
            <a:r>
              <a:rPr lang="en-US" sz="1050" b="1" dirty="0">
                <a:solidFill>
                  <a:srgbClr val="200020"/>
                </a:solidFill>
                <a:latin typeface="Manrope" pitchFamily="34" charset="0"/>
                <a:ea typeface="Manrope" pitchFamily="34" charset="-122"/>
                <a:cs typeface="Manrope" pitchFamily="34" charset="-120"/>
              </a:rPr>
              <a:t>Equipo C</a:t>
            </a:r>
            <a:endParaRPr lang="en-US" sz="1050" dirty="0"/>
          </a:p>
        </p:txBody>
      </p:sp>
      <p:sp>
        <p:nvSpPr>
          <p:cNvPr id="18" name="Shape 15"/>
          <p:cNvSpPr/>
          <p:nvPr/>
        </p:nvSpPr>
        <p:spPr>
          <a:xfrm flipV="1">
            <a:off x="1981200" y="4314825"/>
            <a:ext cx="514350" cy="590550"/>
          </a:xfrm>
          <a:prstGeom prst="line">
            <a:avLst/>
          </a:prstGeom>
          <a:noFill/>
          <a:ln w="31750">
            <a:solidFill>
              <a:srgbClr val="DA0081"/>
            </a:solidFill>
            <a:prstDash val="solid"/>
            <a:tailEnd type="triangle"/>
          </a:ln>
        </p:spPr>
      </p:sp>
      <p:sp>
        <p:nvSpPr>
          <p:cNvPr id="19" name="Shape 16"/>
          <p:cNvSpPr/>
          <p:nvPr/>
        </p:nvSpPr>
        <p:spPr>
          <a:xfrm>
            <a:off x="2533650" y="3886200"/>
            <a:ext cx="1371600" cy="857250"/>
          </a:xfrm>
          <a:prstGeom prst="roundRect">
            <a:avLst>
              <a:gd name="adj" fmla="val 22222"/>
            </a:avLst>
          </a:prstGeom>
          <a:solidFill>
            <a:srgbClr val="DA0081"/>
          </a:solidFill>
          <a:ln/>
        </p:spPr>
      </p:sp>
      <p:sp>
        <p:nvSpPr>
          <p:cNvPr id="20" name="Shape 17"/>
          <p:cNvSpPr/>
          <p:nvPr/>
        </p:nvSpPr>
        <p:spPr>
          <a:xfrm>
            <a:off x="3790950" y="3810000"/>
            <a:ext cx="133350" cy="133350"/>
          </a:xfrm>
          <a:prstGeom prst="roundRect">
            <a:avLst>
              <a:gd name="adj" fmla="val 21429"/>
            </a:avLst>
          </a:prstGeom>
          <a:solidFill>
            <a:srgbClr val="200020"/>
          </a:solidFill>
          <a:ln/>
        </p:spPr>
      </p:sp>
      <p:sp>
        <p:nvSpPr>
          <p:cNvPr id="21" name="Text 18"/>
          <p:cNvSpPr txBox="1"/>
          <p:nvPr/>
        </p:nvSpPr>
        <p:spPr>
          <a:xfrm>
            <a:off x="2533650" y="4019550"/>
            <a:ext cx="1371600" cy="247650"/>
          </a:xfrm>
          <a:prstGeom prst="rect">
            <a:avLst/>
          </a:prstGeom>
          <a:noFill/>
          <a:ln/>
        </p:spPr>
        <p:txBody>
          <a:bodyPr wrap="square" lIns="0" tIns="0" rIns="0" bIns="0" rtlCol="0" anchor="t"/>
          <a:lstStyle/>
          <a:p>
            <a:pPr algn="ctr" indent="0" marL="0">
              <a:lnSpc>
                <a:spcPct val="100000"/>
              </a:lnSpc>
              <a:buNone/>
            </a:pPr>
            <a:r>
              <a:rPr lang="en-US" sz="1200" b="1" dirty="0">
                <a:solidFill>
                  <a:srgbClr val="FFFFFF"/>
                </a:solidFill>
                <a:latin typeface="Manrope" pitchFamily="34" charset="0"/>
                <a:ea typeface="Manrope" pitchFamily="34" charset="-122"/>
                <a:cs typeface="Manrope" pitchFamily="34" charset="-120"/>
              </a:rPr>
              <a:t>Agente central</a:t>
            </a:r>
            <a:endParaRPr lang="en-US" sz="1200" dirty="0"/>
          </a:p>
        </p:txBody>
      </p:sp>
      <p:sp>
        <p:nvSpPr>
          <p:cNvPr id="22" name="Text 19"/>
          <p:cNvSpPr txBox="1"/>
          <p:nvPr/>
        </p:nvSpPr>
        <p:spPr>
          <a:xfrm>
            <a:off x="2533650" y="4286250"/>
            <a:ext cx="1371600" cy="342900"/>
          </a:xfrm>
          <a:prstGeom prst="rect">
            <a:avLst/>
          </a:prstGeom>
          <a:noFill/>
          <a:ln/>
        </p:spPr>
        <p:txBody>
          <a:bodyPr wrap="square" lIns="0" tIns="0" rIns="0" bIns="0" rtlCol="0" anchor="t"/>
          <a:lstStyle/>
          <a:p>
            <a:pPr algn="ctr" indent="0" marL="0">
              <a:lnSpc>
                <a:spcPct val="100000"/>
              </a:lnSpc>
              <a:buNone/>
            </a:pPr>
            <a:r>
              <a:rPr lang="en-US" sz="830" b="1" dirty="0">
                <a:solidFill>
                  <a:srgbClr val="FFFFFF"/>
                </a:solidFill>
                <a:latin typeface="Manrope" pitchFamily="34" charset="0"/>
                <a:ea typeface="Manrope" pitchFamily="34" charset="-122"/>
                <a:cs typeface="Manrope" pitchFamily="34" charset="-120"/>
              </a:rPr>
              <a:t>Skills · Prompts · MCPs</a:t>
            </a:r>
            <a:endParaRPr lang="en-US" sz="830" dirty="0"/>
          </a:p>
        </p:txBody>
      </p:sp>
      <p:sp>
        <p:nvSpPr>
          <p:cNvPr id="23" name="Text 20"/>
          <p:cNvSpPr txBox="1"/>
          <p:nvPr/>
        </p:nvSpPr>
        <p:spPr>
          <a:xfrm>
            <a:off x="1028700" y="5314950"/>
            <a:ext cx="2870200" cy="381000"/>
          </a:xfrm>
          <a:prstGeom prst="rect">
            <a:avLst/>
          </a:prstGeom>
          <a:noFill/>
          <a:ln/>
        </p:spPr>
        <p:txBody>
          <a:bodyPr wrap="square" lIns="0" tIns="0" rIns="0" bIns="0" rtlCol="0" anchor="t"/>
          <a:lstStyle/>
          <a:p>
            <a:pPr algn="l" indent="0" marL="0">
              <a:lnSpc>
                <a:spcPct val="100000"/>
              </a:lnSpc>
              <a:buNone/>
            </a:pPr>
            <a:r>
              <a:rPr lang="en-US" sz="1050" dirty="0">
                <a:solidFill>
                  <a:srgbClr val="5A4A6A"/>
                </a:solidFill>
                <a:latin typeface="Manrope" pitchFamily="34" charset="0"/>
                <a:ea typeface="Manrope" pitchFamily="34" charset="-122"/>
                <a:cs typeface="Manrope" pitchFamily="34" charset="-120"/>
              </a:rPr>
              <a:t>Un agente que todos los equipos puedan usar.</a:t>
            </a:r>
            <a:endParaRPr lang="en-US" sz="1050" dirty="0"/>
          </a:p>
        </p:txBody>
      </p:sp>
      <p:sp>
        <p:nvSpPr>
          <p:cNvPr id="24" name="Shape 21"/>
          <p:cNvSpPr/>
          <p:nvPr/>
        </p:nvSpPr>
        <p:spPr>
          <a:xfrm>
            <a:off x="4394200" y="1866900"/>
            <a:ext cx="3403600" cy="3905250"/>
          </a:xfrm>
          <a:prstGeom prst="roundRect">
            <a:avLst>
              <a:gd name="adj" fmla="val 4478"/>
            </a:avLst>
          </a:prstGeom>
          <a:solidFill>
            <a:srgbClr val="FFFFFF"/>
          </a:solidFill>
          <a:ln/>
        </p:spPr>
      </p:sp>
      <p:sp>
        <p:nvSpPr>
          <p:cNvPr id="25" name="Shape 22"/>
          <p:cNvSpPr/>
          <p:nvPr/>
        </p:nvSpPr>
        <p:spPr>
          <a:xfrm>
            <a:off x="4660900" y="2152650"/>
            <a:ext cx="495300" cy="495300"/>
          </a:xfrm>
          <a:prstGeom prst="roundRect">
            <a:avLst>
              <a:gd name="adj" fmla="val 26923"/>
            </a:avLst>
          </a:prstGeom>
          <a:solidFill>
            <a:srgbClr val="DA0081"/>
          </a:solidFill>
          <a:ln/>
        </p:spPr>
      </p:sp>
      <p:pic>
        <p:nvPicPr>
          <p:cNvPr id="26" name="Image 1" descr="preencoded.png">    </p:cNvPr>
          <p:cNvPicPr>
            <a:picLocks noChangeAspect="1"/>
          </p:cNvPicPr>
          <p:nvPr/>
        </p:nvPicPr>
        <p:blipFill>
          <a:blip r:embed="rId2"/>
          <a:stretch>
            <a:fillRect/>
          </a:stretch>
        </p:blipFill>
        <p:spPr>
          <a:xfrm>
            <a:off x="4784725" y="2276475"/>
            <a:ext cx="247650" cy="247650"/>
          </a:xfrm>
          <a:prstGeom prst="rect">
            <a:avLst/>
          </a:prstGeom>
        </p:spPr>
      </p:pic>
      <p:sp>
        <p:nvSpPr>
          <p:cNvPr id="27" name="Text 23"/>
          <p:cNvSpPr txBox="1"/>
          <p:nvPr/>
        </p:nvSpPr>
        <p:spPr>
          <a:xfrm>
            <a:off x="7073900" y="2152650"/>
            <a:ext cx="457200" cy="495300"/>
          </a:xfrm>
          <a:prstGeom prst="rect">
            <a:avLst/>
          </a:prstGeom>
          <a:noFill/>
          <a:ln/>
        </p:spPr>
        <p:txBody>
          <a:bodyPr wrap="square" lIns="0" tIns="0" rIns="0" bIns="0" rtlCol="0" anchor="ctr"/>
          <a:lstStyle/>
          <a:p>
            <a:pPr algn="r" indent="0" marL="0">
              <a:lnSpc>
                <a:spcPct val="100000"/>
              </a:lnSpc>
              <a:buNone/>
            </a:pPr>
            <a:r>
              <a:rPr lang="en-US" sz="1650" b="1" dirty="0">
                <a:solidFill>
                  <a:srgbClr val="DA0081"/>
                </a:solidFill>
                <a:latin typeface="Manrope" pitchFamily="34" charset="0"/>
                <a:ea typeface="Manrope" pitchFamily="34" charset="-122"/>
                <a:cs typeface="Manrope" pitchFamily="34" charset="-120"/>
              </a:rPr>
              <a:t>02</a:t>
            </a:r>
            <a:endParaRPr lang="en-US" sz="1650" dirty="0"/>
          </a:p>
        </p:txBody>
      </p:sp>
      <p:sp>
        <p:nvSpPr>
          <p:cNvPr id="28" name="Text 24"/>
          <p:cNvSpPr txBox="1"/>
          <p:nvPr/>
        </p:nvSpPr>
        <p:spPr>
          <a:xfrm>
            <a:off x="4660900" y="2800350"/>
            <a:ext cx="2870200" cy="571500"/>
          </a:xfrm>
          <a:prstGeom prst="rect">
            <a:avLst/>
          </a:prstGeom>
          <a:noFill/>
          <a:ln/>
        </p:spPr>
        <p:txBody>
          <a:bodyPr wrap="square" lIns="0" tIns="0" rIns="0" bIns="0" rtlCol="0" anchor="t"/>
          <a:lstStyle/>
          <a:p>
            <a:pPr algn="l" indent="0" marL="0">
              <a:lnSpc>
                <a:spcPct val="100000"/>
              </a:lnSpc>
              <a:buNone/>
            </a:pPr>
            <a:r>
              <a:rPr lang="en-US" sz="1500" b="1" dirty="0">
                <a:solidFill>
                  <a:srgbClr val="200020"/>
                </a:solidFill>
                <a:latin typeface="Manrope" pitchFamily="34" charset="0"/>
                <a:ea typeface="Manrope" pitchFamily="34" charset="-122"/>
                <a:cs typeface="Manrope" pitchFamily="34" charset="-120"/>
              </a:rPr>
              <a:t>¿Dónde almacenar el contexto?</a:t>
            </a:r>
            <a:endParaRPr lang="en-US" sz="1500" dirty="0"/>
          </a:p>
        </p:txBody>
      </p:sp>
      <p:sp>
        <p:nvSpPr>
          <p:cNvPr id="29" name="Shape 25"/>
          <p:cNvSpPr/>
          <p:nvPr/>
        </p:nvSpPr>
        <p:spPr>
          <a:xfrm>
            <a:off x="4775200" y="3733800"/>
            <a:ext cx="762000" cy="762000"/>
          </a:xfrm>
          <a:prstGeom prst="roundRect">
            <a:avLst>
              <a:gd name="adj" fmla="val 25000"/>
            </a:avLst>
          </a:prstGeom>
          <a:solidFill>
            <a:srgbClr val="F1BFDA"/>
          </a:solidFill>
          <a:ln/>
        </p:spPr>
      </p:sp>
      <p:pic>
        <p:nvPicPr>
          <p:cNvPr id="30" name="Image 2" descr="preencoded.png">    </p:cNvPr>
          <p:cNvPicPr>
            <a:picLocks noChangeAspect="1"/>
          </p:cNvPicPr>
          <p:nvPr/>
        </p:nvPicPr>
        <p:blipFill>
          <a:blip r:embed="rId3"/>
          <a:stretch>
            <a:fillRect/>
          </a:stretch>
        </p:blipFill>
        <p:spPr>
          <a:xfrm>
            <a:off x="4984750" y="3943350"/>
            <a:ext cx="342900" cy="342900"/>
          </a:xfrm>
          <a:prstGeom prst="rect">
            <a:avLst/>
          </a:prstGeom>
        </p:spPr>
      </p:pic>
      <p:sp>
        <p:nvSpPr>
          <p:cNvPr id="31" name="Shape 26"/>
          <p:cNvSpPr/>
          <p:nvPr/>
        </p:nvSpPr>
        <p:spPr>
          <a:xfrm>
            <a:off x="5651500" y="4114800"/>
            <a:ext cx="876300" cy="95"/>
          </a:xfrm>
          <a:prstGeom prst="line">
            <a:avLst/>
          </a:prstGeom>
          <a:noFill/>
          <a:ln w="38100">
            <a:solidFill>
              <a:srgbClr val="DA0081"/>
            </a:solidFill>
            <a:prstDash val="dash"/>
            <a:tailEnd type="triangle"/>
          </a:ln>
        </p:spPr>
      </p:sp>
      <p:sp>
        <p:nvSpPr>
          <p:cNvPr id="32" name="Shape 27"/>
          <p:cNvSpPr/>
          <p:nvPr/>
        </p:nvSpPr>
        <p:spPr>
          <a:xfrm>
            <a:off x="6654800" y="3733800"/>
            <a:ext cx="762000" cy="762000"/>
          </a:xfrm>
          <a:prstGeom prst="roundRect">
            <a:avLst>
              <a:gd name="adj" fmla="val 25000"/>
            </a:avLst>
          </a:prstGeom>
          <a:solidFill>
            <a:srgbClr val="DA0081"/>
          </a:solidFill>
          <a:ln/>
        </p:spPr>
      </p:sp>
      <p:pic>
        <p:nvPicPr>
          <p:cNvPr id="33" name="Image 3" descr="preencoded.png">    </p:cNvPr>
          <p:cNvPicPr>
            <a:picLocks noChangeAspect="1"/>
          </p:cNvPicPr>
          <p:nvPr/>
        </p:nvPicPr>
        <p:blipFill>
          <a:blip r:embed="rId4"/>
          <a:stretch>
            <a:fillRect/>
          </a:stretch>
        </p:blipFill>
        <p:spPr>
          <a:xfrm>
            <a:off x="6864350" y="3943350"/>
            <a:ext cx="342900" cy="342900"/>
          </a:xfrm>
          <a:prstGeom prst="rect">
            <a:avLst/>
          </a:prstGeom>
        </p:spPr>
      </p:pic>
      <p:sp>
        <p:nvSpPr>
          <p:cNvPr id="34" name="Text 28"/>
          <p:cNvSpPr txBox="1"/>
          <p:nvPr/>
        </p:nvSpPr>
        <p:spPr>
          <a:xfrm>
            <a:off x="4489450" y="4591050"/>
            <a:ext cx="1333500" cy="419100"/>
          </a:xfrm>
          <a:prstGeom prst="rect">
            <a:avLst/>
          </a:prstGeom>
          <a:noFill/>
          <a:ln/>
        </p:spPr>
        <p:txBody>
          <a:bodyPr wrap="square" lIns="0" tIns="0" rIns="0" bIns="0" rtlCol="0" anchor="t"/>
          <a:lstStyle/>
          <a:p>
            <a:pPr algn="ctr" indent="0" marL="0">
              <a:lnSpc>
                <a:spcPct val="100000"/>
              </a:lnSpc>
              <a:buNone/>
            </a:pPr>
            <a:r>
              <a:rPr lang="en-US" sz="1050" b="1" dirty="0">
                <a:solidFill>
                  <a:srgbClr val="200020"/>
                </a:solidFill>
                <a:latin typeface="Manrope" pitchFamily="34" charset="0"/>
                <a:ea typeface="Manrope" pitchFamily="34" charset="-122"/>
                <a:cs typeface="Manrope" pitchFamily="34" charset="-120"/>
              </a:rPr>
              <a:t>Hoy:</a:t>
            </a:r>
            <a:endParaRPr lang="en-US" sz="1050" dirty="0"/>
          </a:p>
          <a:p>
            <a:pPr algn="ctr" indent="0" marL="0">
              <a:lnSpc>
                <a:spcPct val="100000"/>
              </a:lnSpc>
              <a:buNone/>
            </a:pPr>
            <a:r>
              <a:rPr lang="en-US" sz="1050" b="1" dirty="0">
                <a:solidFill>
                  <a:srgbClr val="200020"/>
                </a:solidFill>
                <a:latin typeface="Manrope" pitchFamily="34" charset="0"/>
                <a:ea typeface="Manrope" pitchFamily="34" charset="-122"/>
                <a:cs typeface="Manrope" pitchFamily="34" charset="-120"/>
              </a:rPr>
              <a:t>máquina del dev</a:t>
            </a:r>
            <a:endParaRPr lang="en-US" sz="1050" dirty="0"/>
          </a:p>
        </p:txBody>
      </p:sp>
      <p:sp>
        <p:nvSpPr>
          <p:cNvPr id="35" name="Text 29"/>
          <p:cNvSpPr txBox="1"/>
          <p:nvPr/>
        </p:nvSpPr>
        <p:spPr>
          <a:xfrm>
            <a:off x="6273800" y="4591050"/>
            <a:ext cx="1524000" cy="419100"/>
          </a:xfrm>
          <a:prstGeom prst="rect">
            <a:avLst/>
          </a:prstGeom>
          <a:noFill/>
          <a:ln/>
        </p:spPr>
        <p:txBody>
          <a:bodyPr wrap="square" lIns="0" tIns="0" rIns="0" bIns="0" rtlCol="0" anchor="t"/>
          <a:lstStyle/>
          <a:p>
            <a:pPr algn="ctr" indent="0" marL="0">
              <a:lnSpc>
                <a:spcPct val="100000"/>
              </a:lnSpc>
              <a:buNone/>
            </a:pPr>
            <a:r>
              <a:rPr lang="en-US" sz="1050" b="1" dirty="0">
                <a:solidFill>
                  <a:srgbClr val="200020"/>
                </a:solidFill>
                <a:latin typeface="Manrope" pitchFamily="34" charset="0"/>
                <a:ea typeface="Manrope" pitchFamily="34" charset="-122"/>
                <a:cs typeface="Manrope" pitchFamily="34" charset="-120"/>
              </a:rPr>
              <a:t>Mañana:</a:t>
            </a:r>
            <a:endParaRPr lang="en-US" sz="1050" dirty="0"/>
          </a:p>
          <a:p>
            <a:pPr algn="ctr" indent="0" marL="0">
              <a:lnSpc>
                <a:spcPct val="100000"/>
              </a:lnSpc>
              <a:buNone/>
            </a:pPr>
            <a:r>
              <a:rPr lang="en-US" sz="1050" b="1" dirty="0">
                <a:solidFill>
                  <a:srgbClr val="200020"/>
                </a:solidFill>
                <a:latin typeface="Manrope" pitchFamily="34" charset="0"/>
                <a:ea typeface="Manrope" pitchFamily="34" charset="-122"/>
                <a:cs typeface="Manrope" pitchFamily="34" charset="-120"/>
              </a:rPr>
              <a:t>contexto compartido</a:t>
            </a:r>
            <a:endParaRPr lang="en-US" sz="1050" dirty="0"/>
          </a:p>
        </p:txBody>
      </p:sp>
      <p:sp>
        <p:nvSpPr>
          <p:cNvPr id="36" name="Text 30"/>
          <p:cNvSpPr txBox="1"/>
          <p:nvPr/>
        </p:nvSpPr>
        <p:spPr>
          <a:xfrm>
            <a:off x="4660900" y="5162550"/>
            <a:ext cx="2870200" cy="533400"/>
          </a:xfrm>
          <a:prstGeom prst="rect">
            <a:avLst/>
          </a:prstGeom>
          <a:noFill/>
          <a:ln/>
        </p:spPr>
        <p:txBody>
          <a:bodyPr wrap="square" lIns="0" tIns="0" rIns="0" bIns="0" rtlCol="0" anchor="t"/>
          <a:lstStyle/>
          <a:p>
            <a:pPr algn="l" indent="0" marL="0">
              <a:lnSpc>
                <a:spcPct val="100000"/>
              </a:lnSpc>
              <a:buNone/>
            </a:pPr>
            <a:r>
              <a:rPr lang="en-US" sz="1050" dirty="0">
                <a:solidFill>
                  <a:srgbClr val="5A4A6A"/>
                </a:solidFill>
                <a:latin typeface="Manrope" pitchFamily="34" charset="0"/>
                <a:ea typeface="Manrope" pitchFamily="34" charset="-122"/>
                <a:cs typeface="Manrope" pitchFamily="34" charset="-120"/>
              </a:rPr>
              <a:t>El contexto que se acumula al migrar debe almacenarse y reutilizarse.</a:t>
            </a:r>
            <a:endParaRPr lang="en-US" sz="1050" dirty="0"/>
          </a:p>
        </p:txBody>
      </p:sp>
      <p:sp>
        <p:nvSpPr>
          <p:cNvPr id="37" name="Shape 31"/>
          <p:cNvSpPr/>
          <p:nvPr/>
        </p:nvSpPr>
        <p:spPr>
          <a:xfrm>
            <a:off x="8026400" y="1866900"/>
            <a:ext cx="3403600" cy="3905250"/>
          </a:xfrm>
          <a:prstGeom prst="roundRect">
            <a:avLst>
              <a:gd name="adj" fmla="val 4478"/>
            </a:avLst>
          </a:prstGeom>
          <a:solidFill>
            <a:srgbClr val="200020"/>
          </a:solidFill>
          <a:ln/>
        </p:spPr>
      </p:sp>
      <p:sp>
        <p:nvSpPr>
          <p:cNvPr id="38" name="Shape 32"/>
          <p:cNvSpPr/>
          <p:nvPr/>
        </p:nvSpPr>
        <p:spPr>
          <a:xfrm>
            <a:off x="8293100" y="2152650"/>
            <a:ext cx="495300" cy="495300"/>
          </a:xfrm>
          <a:prstGeom prst="roundRect">
            <a:avLst>
              <a:gd name="adj" fmla="val 26923"/>
            </a:avLst>
          </a:prstGeom>
          <a:solidFill>
            <a:srgbClr val="DA0081"/>
          </a:solidFill>
          <a:ln/>
        </p:spPr>
      </p:sp>
      <p:pic>
        <p:nvPicPr>
          <p:cNvPr id="39" name="Image 4" descr="preencoded.png">    </p:cNvPr>
          <p:cNvPicPr>
            <a:picLocks noChangeAspect="1"/>
          </p:cNvPicPr>
          <p:nvPr/>
        </p:nvPicPr>
        <p:blipFill>
          <a:blip r:embed="rId5"/>
          <a:stretch>
            <a:fillRect/>
          </a:stretch>
        </p:blipFill>
        <p:spPr>
          <a:xfrm>
            <a:off x="8416925" y="2276475"/>
            <a:ext cx="247650" cy="247650"/>
          </a:xfrm>
          <a:prstGeom prst="rect">
            <a:avLst/>
          </a:prstGeom>
        </p:spPr>
      </p:pic>
      <p:sp>
        <p:nvSpPr>
          <p:cNvPr id="40" name="Text 33"/>
          <p:cNvSpPr txBox="1"/>
          <p:nvPr/>
        </p:nvSpPr>
        <p:spPr>
          <a:xfrm>
            <a:off x="10706100" y="2152650"/>
            <a:ext cx="457200" cy="495300"/>
          </a:xfrm>
          <a:prstGeom prst="rect">
            <a:avLst/>
          </a:prstGeom>
          <a:noFill/>
          <a:ln/>
        </p:spPr>
        <p:txBody>
          <a:bodyPr wrap="square" lIns="0" tIns="0" rIns="0" bIns="0" rtlCol="0" anchor="ctr"/>
          <a:lstStyle/>
          <a:p>
            <a:pPr algn="r" indent="0" marL="0">
              <a:lnSpc>
                <a:spcPct val="100000"/>
              </a:lnSpc>
              <a:buNone/>
            </a:pPr>
            <a:r>
              <a:rPr lang="en-US" sz="1650" b="1" dirty="0">
                <a:solidFill>
                  <a:srgbClr val="DA0081"/>
                </a:solidFill>
                <a:latin typeface="Manrope" pitchFamily="34" charset="0"/>
                <a:ea typeface="Manrope" pitchFamily="34" charset="-122"/>
                <a:cs typeface="Manrope" pitchFamily="34" charset="-120"/>
              </a:rPr>
              <a:t>03</a:t>
            </a:r>
            <a:endParaRPr lang="en-US" sz="1650" dirty="0"/>
          </a:p>
        </p:txBody>
      </p:sp>
      <p:sp>
        <p:nvSpPr>
          <p:cNvPr id="41" name="Text 34"/>
          <p:cNvSpPr txBox="1"/>
          <p:nvPr/>
        </p:nvSpPr>
        <p:spPr>
          <a:xfrm>
            <a:off x="8293100" y="2800350"/>
            <a:ext cx="2870200" cy="571500"/>
          </a:xfrm>
          <a:prstGeom prst="rect">
            <a:avLst/>
          </a:prstGeom>
          <a:noFill/>
          <a:ln/>
        </p:spPr>
        <p:txBody>
          <a:bodyPr wrap="square" lIns="0" tIns="0" rIns="0" bIns="0" rtlCol="0" anchor="t"/>
          <a:lstStyle/>
          <a:p>
            <a:pPr algn="l" indent="0" marL="0">
              <a:lnSpc>
                <a:spcPct val="100000"/>
              </a:lnSpc>
              <a:buNone/>
            </a:pPr>
            <a:r>
              <a:rPr lang="en-US" sz="1500" b="1" dirty="0">
                <a:solidFill>
                  <a:srgbClr val="ECE7F5"/>
                </a:solidFill>
                <a:latin typeface="Manrope" pitchFamily="34" charset="0"/>
                <a:ea typeface="Manrope" pitchFamily="34" charset="-122"/>
                <a:cs typeface="Manrope" pitchFamily="34" charset="-120"/>
              </a:rPr>
              <a:t>Kiro Workflows</a:t>
            </a:r>
            <a:endParaRPr lang="en-US" sz="1500" dirty="0"/>
          </a:p>
        </p:txBody>
      </p:sp>
      <p:pic>
        <p:nvPicPr>
          <p:cNvPr id="42" name="Image 5" descr="/home/claude/pptx/kiro.png">    </p:cNvPr>
          <p:cNvPicPr>
            <a:picLocks noChangeAspect="1"/>
          </p:cNvPicPr>
          <p:nvPr/>
        </p:nvPicPr>
        <p:blipFill>
          <a:blip r:embed="rId6"/>
          <a:stretch>
            <a:fillRect/>
          </a:stretch>
        </p:blipFill>
        <p:spPr>
          <a:xfrm>
            <a:off x="9156700" y="3638550"/>
            <a:ext cx="1143000" cy="1143000"/>
          </a:xfrm>
          <a:prstGeom prst="rect">
            <a:avLst/>
          </a:prstGeom>
        </p:spPr>
      </p:pic>
      <p:sp>
        <p:nvSpPr>
          <p:cNvPr id="43" name="Text 35"/>
          <p:cNvSpPr txBox="1"/>
          <p:nvPr/>
        </p:nvSpPr>
        <p:spPr>
          <a:xfrm>
            <a:off x="8293100" y="5162550"/>
            <a:ext cx="2870200" cy="533400"/>
          </a:xfrm>
          <a:prstGeom prst="rect">
            <a:avLst/>
          </a:prstGeom>
          <a:noFill/>
          <a:ln/>
        </p:spPr>
        <p:txBody>
          <a:bodyPr wrap="square" lIns="0" tIns="0" rIns="0" bIns="0" rtlCol="0" anchor="t"/>
          <a:lstStyle/>
          <a:p>
            <a:pPr algn="l" indent="0" marL="0">
              <a:lnSpc>
                <a:spcPct val="100000"/>
              </a:lnSpc>
              <a:buNone/>
            </a:pPr>
            <a:r>
              <a:rPr lang="en-US" sz="1050" dirty="0">
                <a:solidFill>
                  <a:srgbClr val="C8BDD8"/>
                </a:solidFill>
                <a:latin typeface="Manrope" pitchFamily="34" charset="0"/>
                <a:ea typeface="Manrope" pitchFamily="34" charset="-122"/>
                <a:cs typeface="Manrope" pitchFamily="34" charset="-120"/>
              </a:rPr>
              <a:t>Explorar Kiro Workflows como siguiente paso del proceso de migración.</a:t>
            </a:r>
            <a:endParaRPr lang="en-US" sz="1050" dirty="0"/>
          </a:p>
        </p:txBody>
      </p:sp>
      <p:sp>
        <p:nvSpPr>
          <p:cNvPr id="25" name="Slide Number Placeholder 0"/>
          <p:cNvSpPr>
            <a:spLocks noGrp="1"/>
          </p:cNvSpPr>
          <p:nvPr>
            <p:ph type="sldNum" sz="quarter" idx="4294967295"/>
          </p:nvPr>
        </p:nvSpPr>
        <p:spPr>
          <a:xfrm>
            <a:off x="9525000" y="6477000"/>
            <a:ext cx="476250" cy="190500"/>
          </a:xfrm>
          <a:prstGeom prst="rect">
            <a:avLst/>
          </a:prstGeom>
          <a:extLst>
            <a:ext uri="{C572A759-6A51-4108-AA02-DFA0A04FC94B}">
              <ma14:wrappingTextBoxFlag xmlns:ma14="http://schemas.microsoft.com/office/mac/drawingml/2011/main" val="0"/>
            </a:ext>
          </a:extLst>
        </p:spPr>
        <p:txBody>
          <a:bodyPr/>
          <a:lstStyle>
            <a:lvl1pPr>
              <a:defRPr sz="1000">
                <a:solidFill>
                  <a:srgbClr val="5A4A6A"/>
                </a:solidFill>
                <a:latin typeface="Manrope"/>
                <a:ea typeface="Manrope"/>
                <a:cs typeface="Manrope"/>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rot="-720000">
            <a:off x="-1905000" y="3810000"/>
            <a:ext cx="5905500" cy="5905500"/>
          </a:xfrm>
          <a:prstGeom prst="roundRect">
            <a:avLst>
              <a:gd name="adj" fmla="val 7742"/>
            </a:avLst>
          </a:prstGeom>
          <a:solidFill>
            <a:srgbClr val="DA0081"/>
          </a:solidFill>
          <a:ln/>
        </p:spPr>
      </p:sp>
      <p:sp>
        <p:nvSpPr>
          <p:cNvPr id="3" name="Shape 1"/>
          <p:cNvSpPr/>
          <p:nvPr/>
        </p:nvSpPr>
        <p:spPr>
          <a:xfrm>
            <a:off x="3810000" y="1905000"/>
            <a:ext cx="152400" cy="152400"/>
          </a:xfrm>
          <a:prstGeom prst="roundRect">
            <a:avLst>
              <a:gd name="adj" fmla="val 18750"/>
            </a:avLst>
          </a:prstGeom>
          <a:solidFill>
            <a:srgbClr val="DA0081"/>
          </a:solidFill>
          <a:ln/>
        </p:spPr>
      </p:sp>
      <p:pic>
        <p:nvPicPr>
          <p:cNvPr id="4" name="Image 0" descr="/root/.claude/skills/synced/76daff7b-2852-4bf5-abbb-0d9c93f45fa5_597a03ac-e39d-4fd3-bda0-a661187d730b/nequi-brand/assets/logo-guanabana.png">    </p:cNvPr>
          <p:cNvPicPr>
            <a:picLocks noChangeAspect="1"/>
          </p:cNvPicPr>
          <p:nvPr/>
        </p:nvPicPr>
        <p:blipFill>
          <a:blip r:embed="rId1"/>
          <a:stretch>
            <a:fillRect/>
          </a:stretch>
        </p:blipFill>
        <p:spPr>
          <a:xfrm>
            <a:off x="10512578" y="533400"/>
            <a:ext cx="917422" cy="323850"/>
          </a:xfrm>
          <a:prstGeom prst="rect">
            <a:avLst/>
          </a:prstGeom>
        </p:spPr>
      </p:pic>
      <p:sp>
        <p:nvSpPr>
          <p:cNvPr id="5" name="Text 2"/>
          <p:cNvSpPr txBox="1"/>
          <p:nvPr/>
        </p:nvSpPr>
        <p:spPr>
          <a:xfrm>
            <a:off x="5715000" y="1428750"/>
            <a:ext cx="5715000" cy="190500"/>
          </a:xfrm>
          <a:prstGeom prst="rect">
            <a:avLst/>
          </a:prstGeom>
          <a:noFill/>
          <a:ln/>
        </p:spPr>
        <p:txBody>
          <a:bodyPr wrap="square" lIns="0" tIns="0" rIns="0" bIns="0" rtlCol="0" anchor="ctr"/>
          <a:lstStyle/>
          <a:p>
            <a:pPr algn="r" indent="0" marL="0">
              <a:lnSpc>
                <a:spcPct val="100000"/>
              </a:lnSpc>
              <a:buNone/>
            </a:pPr>
            <a:r>
              <a:rPr lang="en-US" sz="1130" b="1" spc="200" kern="0" dirty="0">
                <a:solidFill>
                  <a:srgbClr val="DA0081"/>
                </a:solidFill>
                <a:latin typeface="Manrope" pitchFamily="34" charset="0"/>
                <a:ea typeface="Manrope" pitchFamily="34" charset="-122"/>
                <a:cs typeface="Manrope" pitchFamily="34" charset="-120"/>
              </a:rPr>
              <a:t>CIERRE  ■</a:t>
            </a:r>
            <a:endParaRPr lang="en-US" sz="1130" dirty="0"/>
          </a:p>
        </p:txBody>
      </p:sp>
      <p:sp>
        <p:nvSpPr>
          <p:cNvPr id="6" name="Text 3"/>
          <p:cNvSpPr txBox="1"/>
          <p:nvPr/>
        </p:nvSpPr>
        <p:spPr>
          <a:xfrm>
            <a:off x="4762500" y="1695450"/>
            <a:ext cx="6667500" cy="1143000"/>
          </a:xfrm>
          <a:prstGeom prst="rect">
            <a:avLst/>
          </a:prstGeom>
          <a:noFill/>
          <a:ln/>
        </p:spPr>
        <p:txBody>
          <a:bodyPr wrap="square" lIns="0" tIns="0" rIns="0" bIns="0" rtlCol="0" anchor="t"/>
          <a:lstStyle/>
          <a:p>
            <a:pPr algn="r" indent="0" marL="0">
              <a:lnSpc>
                <a:spcPct val="100000"/>
              </a:lnSpc>
              <a:buNone/>
            </a:pPr>
            <a:r>
              <a:rPr lang="en-US" sz="6600" b="1" dirty="0">
                <a:solidFill>
                  <a:srgbClr val="ECE7F5"/>
                </a:solidFill>
                <a:latin typeface="Manrope" pitchFamily="34" charset="0"/>
                <a:ea typeface="Manrope" pitchFamily="34" charset="-122"/>
                <a:cs typeface="Manrope" pitchFamily="34" charset="-120"/>
              </a:rPr>
              <a:t>¡Gracias!</a:t>
            </a:r>
            <a:endParaRPr lang="en-US" sz="6600" dirty="0"/>
          </a:p>
        </p:txBody>
      </p:sp>
      <p:sp>
        <p:nvSpPr>
          <p:cNvPr id="7" name="Text 4"/>
          <p:cNvSpPr txBox="1"/>
          <p:nvPr/>
        </p:nvSpPr>
        <p:spPr>
          <a:xfrm>
            <a:off x="5715000" y="2895600"/>
            <a:ext cx="5715000" cy="342900"/>
          </a:xfrm>
          <a:prstGeom prst="rect">
            <a:avLst/>
          </a:prstGeom>
          <a:noFill/>
          <a:ln/>
        </p:spPr>
        <p:txBody>
          <a:bodyPr wrap="square" lIns="0" tIns="0" rIns="0" bIns="0" rtlCol="0" anchor="t"/>
          <a:lstStyle/>
          <a:p>
            <a:pPr algn="r" indent="0" marL="0">
              <a:lnSpc>
                <a:spcPct val="100000"/>
              </a:lnSpc>
              <a:buNone/>
            </a:pPr>
            <a:r>
              <a:rPr lang="en-US" sz="1950" dirty="0">
                <a:solidFill>
                  <a:srgbClr val="C8BDD8"/>
                </a:solidFill>
                <a:latin typeface="Manrope" pitchFamily="34" charset="0"/>
                <a:ea typeface="Manrope" pitchFamily="34" charset="-122"/>
                <a:cs typeface="Manrope" pitchFamily="34" charset="-120"/>
              </a:rPr>
              <a:t>¿Preguntas?</a:t>
            </a:r>
            <a:endParaRPr lang="en-US" sz="1950" dirty="0"/>
          </a:p>
        </p:txBody>
      </p:sp>
      <p:sp>
        <p:nvSpPr>
          <p:cNvPr id="8" name="Text 5"/>
          <p:cNvSpPr txBox="1"/>
          <p:nvPr/>
        </p:nvSpPr>
        <p:spPr>
          <a:xfrm>
            <a:off x="4762500" y="3448050"/>
            <a:ext cx="6667500" cy="228600"/>
          </a:xfrm>
          <a:prstGeom prst="rect">
            <a:avLst/>
          </a:prstGeom>
          <a:noFill/>
          <a:ln/>
        </p:spPr>
        <p:txBody>
          <a:bodyPr wrap="square" lIns="0" tIns="0" rIns="0" bIns="0" rtlCol="0" anchor="t"/>
          <a:lstStyle/>
          <a:p>
            <a:pPr algn="r" indent="0" marL="0">
              <a:lnSpc>
                <a:spcPct val="100000"/>
              </a:lnSpc>
              <a:buNone/>
            </a:pPr>
            <a:r>
              <a:rPr lang="en-US" sz="1200" dirty="0">
                <a:solidFill>
                  <a:srgbClr val="C8BDD8"/>
                </a:solidFill>
                <a:latin typeface="Manrope" pitchFamily="34" charset="0"/>
                <a:ea typeface="Manrope" pitchFamily="34" charset="-122"/>
                <a:cs typeface="Manrope" pitchFamily="34" charset="-120"/>
              </a:rPr>
              <a:t>Osmond Pomare · Cristhian Castillo · Platform Engineering</a:t>
            </a:r>
            <a:endParaRPr lang="en-US" sz="1200" dirty="0"/>
          </a:p>
        </p:txBody>
      </p:sp>
      <p:sp>
        <p:nvSpPr>
          <p:cNvPr id="9" name="Shape 6"/>
          <p:cNvSpPr/>
          <p:nvPr/>
        </p:nvSpPr>
        <p:spPr>
          <a:xfrm>
            <a:off x="8153400" y="4076700"/>
            <a:ext cx="1524000" cy="2057400"/>
          </a:xfrm>
          <a:prstGeom prst="roundRect">
            <a:avLst>
              <a:gd name="adj" fmla="val 10000"/>
            </a:avLst>
          </a:prstGeom>
          <a:solidFill>
            <a:srgbClr val="FFFFFF"/>
          </a:solidFill>
          <a:ln/>
        </p:spPr>
      </p:sp>
      <p:pic>
        <p:nvPicPr>
          <p:cNvPr id="10" name="Image 1" descr="/home/claude/pptx/qr_osmond.png">
            <a:hlinkClick r:id="rId3" tooltip="LinkedIn · Osmond Pomare"/>
          </p:cNvPr>
          <p:cNvPicPr>
            <a:picLocks noChangeAspect="1"/>
          </p:cNvPicPr>
          <p:nvPr/>
        </p:nvPicPr>
        <p:blipFill>
          <a:blip r:embed="rId2"/>
          <a:stretch>
            <a:fillRect/>
          </a:stretch>
        </p:blipFill>
        <p:spPr>
          <a:xfrm>
            <a:off x="8286750" y="4210050"/>
            <a:ext cx="1257300" cy="1257300"/>
          </a:xfrm>
          <a:prstGeom prst="rect">
            <a:avLst/>
          </a:prstGeom>
        </p:spPr>
      </p:pic>
      <p:sp>
        <p:nvSpPr>
          <p:cNvPr id="11" name="Text 7"/>
          <p:cNvSpPr txBox="1"/>
          <p:nvPr/>
        </p:nvSpPr>
        <p:spPr>
          <a:xfrm>
            <a:off x="8153400" y="5543550"/>
            <a:ext cx="1524000" cy="228600"/>
          </a:xfrm>
          <a:prstGeom prst="rect">
            <a:avLst/>
          </a:prstGeom>
          <a:noFill/>
          <a:ln/>
        </p:spPr>
        <p:txBody>
          <a:bodyPr wrap="square" lIns="0" tIns="0" rIns="0" bIns="0" rtlCol="0" anchor="ctr"/>
          <a:lstStyle/>
          <a:p>
            <a:pPr algn="ctr" indent="0" marL="0">
              <a:lnSpc>
                <a:spcPct val="100000"/>
              </a:lnSpc>
              <a:buNone/>
            </a:pPr>
            <a:r>
              <a:rPr lang="en-US" sz="1050" b="1" dirty="0">
                <a:solidFill>
                  <a:srgbClr val="200020"/>
                </a:solidFill>
                <a:latin typeface="Manrope" pitchFamily="34" charset="0"/>
                <a:ea typeface="Manrope" pitchFamily="34" charset="-122"/>
                <a:cs typeface="Manrope" pitchFamily="34" charset="-120"/>
              </a:rPr>
              <a:t>Osmond Pomare</a:t>
            </a:r>
            <a:endParaRPr lang="en-US" sz="1050" dirty="0"/>
          </a:p>
        </p:txBody>
      </p:sp>
      <p:sp>
        <p:nvSpPr>
          <p:cNvPr id="12" name="Text 8"/>
          <p:cNvSpPr txBox="1"/>
          <p:nvPr/>
        </p:nvSpPr>
        <p:spPr>
          <a:xfrm>
            <a:off x="8153400" y="5772150"/>
            <a:ext cx="1524000" cy="209550"/>
          </a:xfrm>
          <a:prstGeom prst="rect">
            <a:avLst/>
          </a:prstGeom>
          <a:noFill/>
          <a:ln/>
        </p:spPr>
        <p:txBody>
          <a:bodyPr wrap="square" lIns="0" tIns="0" rIns="0" bIns="0" rtlCol="0" anchor="ctr"/>
          <a:lstStyle/>
          <a:p>
            <a:pPr algn="ctr" indent="0" marL="0">
              <a:lnSpc>
                <a:spcPct val="100000"/>
              </a:lnSpc>
              <a:buNone/>
            </a:pPr>
            <a:r>
              <a:rPr lang="en-US" sz="980" b="1" dirty="0">
                <a:solidFill>
                  <a:srgbClr val="DA0081"/>
                </a:solidFill>
                <a:latin typeface="Manrope" pitchFamily="34" charset="0"/>
                <a:ea typeface="Manrope" pitchFamily="34" charset="-122"/>
                <a:cs typeface="Manrope" pitchFamily="34" charset="-120"/>
              </a:rPr>
              <a:t>LinkedIn</a:t>
            </a:r>
            <a:endParaRPr lang="en-US" sz="980" dirty="0"/>
          </a:p>
        </p:txBody>
      </p:sp>
      <p:sp>
        <p:nvSpPr>
          <p:cNvPr id="13" name="Shape 9"/>
          <p:cNvSpPr/>
          <p:nvPr/>
        </p:nvSpPr>
        <p:spPr>
          <a:xfrm>
            <a:off x="9906000" y="4076700"/>
            <a:ext cx="1524000" cy="2057400"/>
          </a:xfrm>
          <a:prstGeom prst="roundRect">
            <a:avLst>
              <a:gd name="adj" fmla="val 10000"/>
            </a:avLst>
          </a:prstGeom>
          <a:solidFill>
            <a:srgbClr val="FFFFFF"/>
          </a:solidFill>
          <a:ln/>
        </p:spPr>
      </p:sp>
      <p:pic>
        <p:nvPicPr>
          <p:cNvPr id="14" name="Image 2" descr="/home/claude/pptx/qr.png">
            <a:hlinkClick r:id="rId5" tooltip="LinkedIn · Cristhian Castillo"/>
          </p:cNvPr>
          <p:cNvPicPr>
            <a:picLocks noChangeAspect="1"/>
          </p:cNvPicPr>
          <p:nvPr/>
        </p:nvPicPr>
        <p:blipFill>
          <a:blip r:embed="rId4"/>
          <a:stretch>
            <a:fillRect/>
          </a:stretch>
        </p:blipFill>
        <p:spPr>
          <a:xfrm>
            <a:off x="10039350" y="4210050"/>
            <a:ext cx="1257300" cy="1257300"/>
          </a:xfrm>
          <a:prstGeom prst="rect">
            <a:avLst/>
          </a:prstGeom>
        </p:spPr>
      </p:pic>
      <p:sp>
        <p:nvSpPr>
          <p:cNvPr id="15" name="Text 10"/>
          <p:cNvSpPr txBox="1"/>
          <p:nvPr/>
        </p:nvSpPr>
        <p:spPr>
          <a:xfrm>
            <a:off x="9906000" y="5543550"/>
            <a:ext cx="1524000" cy="228600"/>
          </a:xfrm>
          <a:prstGeom prst="rect">
            <a:avLst/>
          </a:prstGeom>
          <a:noFill/>
          <a:ln/>
        </p:spPr>
        <p:txBody>
          <a:bodyPr wrap="square" lIns="0" tIns="0" rIns="0" bIns="0" rtlCol="0" anchor="ctr"/>
          <a:lstStyle/>
          <a:p>
            <a:pPr algn="ctr" indent="0" marL="0">
              <a:lnSpc>
                <a:spcPct val="100000"/>
              </a:lnSpc>
              <a:buNone/>
            </a:pPr>
            <a:r>
              <a:rPr lang="en-US" sz="1050" b="1" dirty="0">
                <a:solidFill>
                  <a:srgbClr val="200020"/>
                </a:solidFill>
                <a:latin typeface="Manrope" pitchFamily="34" charset="0"/>
                <a:ea typeface="Manrope" pitchFamily="34" charset="-122"/>
                <a:cs typeface="Manrope" pitchFamily="34" charset="-120"/>
              </a:rPr>
              <a:t>Cristhian Castillo</a:t>
            </a:r>
            <a:endParaRPr lang="en-US" sz="1050" dirty="0"/>
          </a:p>
        </p:txBody>
      </p:sp>
      <p:sp>
        <p:nvSpPr>
          <p:cNvPr id="16" name="Text 11"/>
          <p:cNvSpPr txBox="1"/>
          <p:nvPr/>
        </p:nvSpPr>
        <p:spPr>
          <a:xfrm>
            <a:off x="9906000" y="5772150"/>
            <a:ext cx="1524000" cy="209550"/>
          </a:xfrm>
          <a:prstGeom prst="rect">
            <a:avLst/>
          </a:prstGeom>
          <a:noFill/>
          <a:ln/>
        </p:spPr>
        <p:txBody>
          <a:bodyPr wrap="square" lIns="0" tIns="0" rIns="0" bIns="0" rtlCol="0" anchor="ctr"/>
          <a:lstStyle/>
          <a:p>
            <a:pPr algn="ctr" indent="0" marL="0">
              <a:lnSpc>
                <a:spcPct val="100000"/>
              </a:lnSpc>
              <a:buNone/>
            </a:pPr>
            <a:r>
              <a:rPr lang="en-US" sz="980" b="1" dirty="0">
                <a:solidFill>
                  <a:srgbClr val="DA0081"/>
                </a:solidFill>
                <a:latin typeface="Manrope" pitchFamily="34" charset="0"/>
                <a:ea typeface="Manrope" pitchFamily="34" charset="-122"/>
                <a:cs typeface="Manrope" pitchFamily="34" charset="-120"/>
              </a:rPr>
              <a:t>LinkedIn</a:t>
            </a:r>
            <a:endParaRPr lang="en-US" sz="980" dirty="0"/>
          </a:p>
        </p:txBody>
      </p:sp>
      <p:sp>
        <p:nvSpPr>
          <p:cNvPr id="17" name="Text 12"/>
          <p:cNvSpPr txBox="1"/>
          <p:nvPr/>
        </p:nvSpPr>
        <p:spPr>
          <a:xfrm>
            <a:off x="4114800" y="4762500"/>
            <a:ext cx="3810000" cy="285750"/>
          </a:xfrm>
          <a:prstGeom prst="rect">
            <a:avLst/>
          </a:prstGeom>
          <a:noFill/>
          <a:ln/>
        </p:spPr>
        <p:txBody>
          <a:bodyPr wrap="square" lIns="0" tIns="0" rIns="0" bIns="0" rtlCol="0" anchor="t"/>
          <a:lstStyle/>
          <a:p>
            <a:pPr algn="r" indent="0" marL="0">
              <a:lnSpc>
                <a:spcPct val="100000"/>
              </a:lnSpc>
              <a:buNone/>
            </a:pPr>
            <a:r>
              <a:rPr lang="en-US" sz="1650" b="1" dirty="0">
                <a:solidFill>
                  <a:srgbClr val="ECE7F5"/>
                </a:solidFill>
                <a:latin typeface="Manrope" pitchFamily="34" charset="0"/>
                <a:ea typeface="Manrope" pitchFamily="34" charset="-122"/>
                <a:cs typeface="Manrope" pitchFamily="34" charset="-120"/>
              </a:rPr>
              <a:t>Conectemos en LinkedIn</a:t>
            </a:r>
            <a:endParaRPr lang="en-US" sz="1650" dirty="0"/>
          </a:p>
        </p:txBody>
      </p:sp>
      <p:sp>
        <p:nvSpPr>
          <p:cNvPr id="18" name="Text 13"/>
          <p:cNvSpPr txBox="1"/>
          <p:nvPr/>
        </p:nvSpPr>
        <p:spPr>
          <a:xfrm>
            <a:off x="4114800" y="5143500"/>
            <a:ext cx="3810000" cy="228600"/>
          </a:xfrm>
          <a:prstGeom prst="rect">
            <a:avLst/>
          </a:prstGeom>
          <a:noFill/>
          <a:ln/>
        </p:spPr>
        <p:txBody>
          <a:bodyPr wrap="square" lIns="0" tIns="0" rIns="0" bIns="0" rtlCol="0" anchor="t"/>
          <a:lstStyle/>
          <a:p>
            <a:pPr algn="r" indent="0" marL="0">
              <a:lnSpc>
                <a:spcPct val="100000"/>
              </a:lnSpc>
              <a:buNone/>
            </a:pPr>
            <a:r>
              <a:rPr lang="en-US" sz="1200" b="1" dirty="0">
                <a:solidFill>
                  <a:srgbClr val="DA0081"/>
                </a:solidFill>
                <a:latin typeface="Manrope" pitchFamily="34" charset="0"/>
                <a:ea typeface="Manrope" pitchFamily="34" charset="-122"/>
                <a:cs typeface="Manrope" pitchFamily="34" charset="-120"/>
              </a:rPr>
              <a:t>Escanea el código →</a:t>
            </a:r>
            <a:endParaRPr lang="en-US" sz="1200" dirty="0"/>
          </a:p>
        </p:txBody>
      </p:sp>
      <p:sp>
        <p:nvSpPr>
          <p:cNvPr id="19" name="Text 14"/>
          <p:cNvSpPr txBox="1"/>
          <p:nvPr/>
        </p:nvSpPr>
        <p:spPr>
          <a:xfrm>
            <a:off x="10096500" y="6477000"/>
            <a:ext cx="1333500" cy="190500"/>
          </a:xfrm>
          <a:prstGeom prst="rect">
            <a:avLst/>
          </a:prstGeom>
          <a:noFill/>
          <a:ln/>
        </p:spPr>
        <p:txBody>
          <a:bodyPr wrap="square" lIns="0" tIns="0" rIns="0" bIns="0" rtlCol="0" anchor="t"/>
          <a:lstStyle/>
          <a:p>
            <a:pPr algn="r" indent="0" marL="0">
              <a:lnSpc>
                <a:spcPct val="100000"/>
              </a:lnSpc>
              <a:buNone/>
            </a:pPr>
            <a:r>
              <a:rPr lang="en-US" sz="980" dirty="0">
                <a:solidFill>
                  <a:srgbClr val="DA0081"/>
                </a:solidFill>
                <a:latin typeface="Manrope" pitchFamily="34" charset="0"/>
                <a:ea typeface="Manrope" pitchFamily="34" charset="-122"/>
                <a:cs typeface="Manrope" pitchFamily="34" charset="-120"/>
              </a:rPr>
              <a:t>#ATuRitmo</a:t>
            </a:r>
            <a:endParaRPr lang="en-US" sz="980" dirty="0"/>
          </a:p>
        </p:txBody>
      </p:sp>
    </p:spTree>
  </p:cSld>
  <p:clrMapOvr>
    <a:masterClrMapping/>
  </p:clrMapOvr>
</p:sld>
</file>

<file path=ppt/theme/theme1.xml><?xml version="1.0" encoding="utf-8"?>
<a:theme xmlns:a="http://schemas.openxmlformats.org/drawingml/2006/main" name="Nequi">
  <a:themeElements>
    <a:clrScheme name="Nequi">
      <a:dk1>
        <a:srgbClr val="200020"/>
      </a:dk1>
      <a:lt1>
        <a:srgbClr val="FFFFFF"/>
      </a:lt1>
      <a:dk2>
        <a:srgbClr val="3A0A3A"/>
      </a:dk2>
      <a:lt2>
        <a:srgbClr val="ECE7F5"/>
      </a:lt2>
      <a:accent1>
        <a:srgbClr val="DA0081"/>
      </a:accent1>
      <a:accent2>
        <a:srgbClr val="E366A7"/>
      </a:accent2>
      <a:accent3>
        <a:srgbClr val="E992BE"/>
      </a:accent3>
      <a:accent4>
        <a:srgbClr val="F1BFDA"/>
      </a:accent4>
      <a:accent5>
        <a:srgbClr val="5A9EFB"/>
      </a:accent5>
      <a:accent6>
        <a:srgbClr val="DC410F"/>
      </a:accent6>
      <a:hlink>
        <a:srgbClr val="DA0081"/>
      </a:hlink>
      <a:folHlink>
        <a:srgbClr val="E366A7"/>
      </a:folHlink>
    </a:clrScheme>
    <a:fontScheme name="Nequi">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nrop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Nequi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Migración de servicios legacy con agentes Kiro de AWS</dc:title>
  <dc:subject>PptxGenJS Presentation</dc:subject>
  <dc:creator>Osmond Pomare · Cristhian Castillo</dc:creator>
  <cp:lastModifiedBy>Osmond Pomare · Cristhian Castillo</cp:lastModifiedBy>
  <cp:revision>1</cp:revision>
  <dcterms:created xsi:type="dcterms:W3CDTF">2026-10-10T16:27:24Z</dcterms:created>
  <dcterms:modified xsi:type="dcterms:W3CDTF">2026-10-10T16:27:24Z</dcterms:modified>
</cp:coreProperties>
</file>